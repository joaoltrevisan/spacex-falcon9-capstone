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08e16059c14744" /><Relationship Type="http://schemas.openxmlformats.org/officeDocument/2006/relationships/extended-properties" Target="/docProps/app.xml" Id="R3ededc9afb0e47b0" /><Relationship Type="http://schemas.openxmlformats.org/officeDocument/2006/relationships/officeDocument" Target="/ppt/presentation.xml" Id="Raea5342ab5cb4b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16f06bab23486f"/>
  </p:sldMasterIdLst>
  <p:notesMasterIdLst>
    <p:notesMasterId xmlns:r="http://schemas.openxmlformats.org/officeDocument/2006/relationships" r:id="R3d6d20cb193f4ced"/>
  </p:notesMasterIdLst>
  <p:sldIdLst>
    <p:sldId xmlns:r="http://schemas.openxmlformats.org/officeDocument/2006/relationships" id="256" r:id="R7e04d4b178994d42"/>
    <p:sldId xmlns:r="http://schemas.openxmlformats.org/officeDocument/2006/relationships" id="257" r:id="Rcfd36ff0df484fbe"/>
    <p:sldId xmlns:r="http://schemas.openxmlformats.org/officeDocument/2006/relationships" id="258" r:id="Rfaac6f110cd04e63"/>
    <p:sldId xmlns:r="http://schemas.openxmlformats.org/officeDocument/2006/relationships" id="259" r:id="Ra8e1a2865b654e9b"/>
    <p:sldId xmlns:r="http://schemas.openxmlformats.org/officeDocument/2006/relationships" id="260" r:id="R9ddb0fa53cce4274"/>
    <p:sldId xmlns:r="http://schemas.openxmlformats.org/officeDocument/2006/relationships" id="261" r:id="R4372d62f6a494cbc"/>
    <p:sldId xmlns:r="http://schemas.openxmlformats.org/officeDocument/2006/relationships" id="262" r:id="Rfa34cf468ff04c9e"/>
    <p:sldId xmlns:r="http://schemas.openxmlformats.org/officeDocument/2006/relationships" id="263" r:id="Re2af3b46887744c2"/>
    <p:sldId xmlns:r="http://schemas.openxmlformats.org/officeDocument/2006/relationships" id="264" r:id="Ra6cef910961e4ab0"/>
    <p:sldId xmlns:r="http://schemas.openxmlformats.org/officeDocument/2006/relationships" id="265" r:id="R2b361b12d61e4011"/>
    <p:sldId xmlns:r="http://schemas.openxmlformats.org/officeDocument/2006/relationships" id="266" r:id="Rff1c07fac8da4d5c"/>
    <p:sldId xmlns:r="http://schemas.openxmlformats.org/officeDocument/2006/relationships" id="267" r:id="R85029ca161c24536"/>
    <p:sldId xmlns:r="http://schemas.openxmlformats.org/officeDocument/2006/relationships" id="268" r:id="R4b85e369354e41f0"/>
    <p:sldId xmlns:r="http://schemas.openxmlformats.org/officeDocument/2006/relationships" id="269" r:id="R889773d205c045ed"/>
    <p:sldId xmlns:r="http://schemas.openxmlformats.org/officeDocument/2006/relationships" id="270" r:id="R70ec4876adae4ee9"/>
    <p:sldId xmlns:r="http://schemas.openxmlformats.org/officeDocument/2006/relationships" id="271" r:id="R370284f53e29420d"/>
    <p:sldId xmlns:r="http://schemas.openxmlformats.org/officeDocument/2006/relationships" id="272" r:id="Rfff7dc2f21f24256"/>
    <p:sldId xmlns:r="http://schemas.openxmlformats.org/officeDocument/2006/relationships" id="273" r:id="Rbcf80cf3584e4033"/>
    <p:sldId xmlns:r="http://schemas.openxmlformats.org/officeDocument/2006/relationships" id="274" r:id="Rebadba4cad9944a8"/>
    <p:sldId xmlns:r="http://schemas.openxmlformats.org/officeDocument/2006/relationships" id="275" r:id="Rfa91fae6e3b848f9"/>
    <p:sldId xmlns:r="http://schemas.openxmlformats.org/officeDocument/2006/relationships" id="276" r:id="R46e3ef3ea3d84dd9"/>
    <p:sldId xmlns:r="http://schemas.openxmlformats.org/officeDocument/2006/relationships" id="277" r:id="Rf3d45fbc12f448b3"/>
    <p:sldId xmlns:r="http://schemas.openxmlformats.org/officeDocument/2006/relationships" id="278" r:id="Rf46b04ff6c0b45f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9a64f890a14283" /><Relationship Type="http://schemas.openxmlformats.org/officeDocument/2006/relationships/slideMaster" Target="/ppt/slideMasters/slideMaster1.xml" Id="Rd016f06bab23486f" /><Relationship Type="http://schemas.openxmlformats.org/officeDocument/2006/relationships/notesMaster" Target="/ppt/notesMasters/notesMaster1.xml" Id="R3d6d20cb193f4ced" /><Relationship Type="http://schemas.openxmlformats.org/officeDocument/2006/relationships/presProps" Target="/ppt/presProps.xml" Id="Rf84411e94adf439a" /><Relationship Type="http://schemas.openxmlformats.org/officeDocument/2006/relationships/tableStyles" Target="/ppt/tableStyles.xml" Id="R508558c94ea24e68" /><Relationship Type="http://schemas.openxmlformats.org/officeDocument/2006/relationships/slide" Target="/ppt/slides/slide1.xml" Id="R7e04d4b178994d42" /><Relationship Type="http://schemas.openxmlformats.org/officeDocument/2006/relationships/slide" Target="/ppt/slides/slide2.xml" Id="Rcfd36ff0df484fbe" /><Relationship Type="http://schemas.openxmlformats.org/officeDocument/2006/relationships/slide" Target="/ppt/slides/slide3.xml" Id="Rfaac6f110cd04e63" /><Relationship Type="http://schemas.openxmlformats.org/officeDocument/2006/relationships/slide" Target="/ppt/slides/slide4.xml" Id="Ra8e1a2865b654e9b" /><Relationship Type="http://schemas.openxmlformats.org/officeDocument/2006/relationships/slide" Target="/ppt/slides/slide5.xml" Id="R9ddb0fa53cce4274" /><Relationship Type="http://schemas.openxmlformats.org/officeDocument/2006/relationships/slide" Target="/ppt/slides/slide6.xml" Id="R4372d62f6a494cbc" /><Relationship Type="http://schemas.openxmlformats.org/officeDocument/2006/relationships/slide" Target="/ppt/slides/slide7.xml" Id="Rfa34cf468ff04c9e" /><Relationship Type="http://schemas.openxmlformats.org/officeDocument/2006/relationships/slide" Target="/ppt/slides/slide8.xml" Id="Re2af3b46887744c2" /><Relationship Type="http://schemas.openxmlformats.org/officeDocument/2006/relationships/slide" Target="/ppt/slides/slide9.xml" Id="Ra6cef910961e4ab0" /><Relationship Type="http://schemas.openxmlformats.org/officeDocument/2006/relationships/slide" Target="/ppt/slides/slide10.xml" Id="R2b361b12d61e4011" /><Relationship Type="http://schemas.openxmlformats.org/officeDocument/2006/relationships/slide" Target="/ppt/slides/slide11.xml" Id="Rff1c07fac8da4d5c" /><Relationship Type="http://schemas.openxmlformats.org/officeDocument/2006/relationships/slide" Target="/ppt/slides/slide12.xml" Id="R85029ca161c24536" /><Relationship Type="http://schemas.openxmlformats.org/officeDocument/2006/relationships/slide" Target="/ppt/slides/slide13.xml" Id="R4b85e369354e41f0" /><Relationship Type="http://schemas.openxmlformats.org/officeDocument/2006/relationships/slide" Target="/ppt/slides/slide14.xml" Id="R889773d205c045ed" /><Relationship Type="http://schemas.openxmlformats.org/officeDocument/2006/relationships/slide" Target="/ppt/slides/slide15.xml" Id="R70ec4876adae4ee9" /><Relationship Type="http://schemas.openxmlformats.org/officeDocument/2006/relationships/slide" Target="/ppt/slides/slide16.xml" Id="R370284f53e29420d" /><Relationship Type="http://schemas.openxmlformats.org/officeDocument/2006/relationships/slide" Target="/ppt/slides/slide17.xml" Id="Rfff7dc2f21f24256" /><Relationship Type="http://schemas.openxmlformats.org/officeDocument/2006/relationships/slide" Target="/ppt/slides/slide18.xml" Id="Rbcf80cf3584e4033" /><Relationship Type="http://schemas.openxmlformats.org/officeDocument/2006/relationships/slide" Target="/ppt/slides/slide19.xml" Id="Rebadba4cad9944a8" /><Relationship Type="http://schemas.openxmlformats.org/officeDocument/2006/relationships/slide" Target="/ppt/slides/slide20.xml" Id="Rfa91fae6e3b848f9" /><Relationship Type="http://schemas.openxmlformats.org/officeDocument/2006/relationships/slide" Target="/ppt/slides/slide21.xml" Id="R46e3ef3ea3d84dd9" /><Relationship Type="http://schemas.openxmlformats.org/officeDocument/2006/relationships/slide" Target="/ppt/slides/slide22.xml" Id="Rf3d45fbc12f448b3" /><Relationship Type="http://schemas.openxmlformats.org/officeDocument/2006/relationships/slide" Target="/ppt/slides/slide23.xml" Id="Rf46b04ff6c0b45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f1274e182c49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411ced42544f71" /><Relationship Type="http://schemas.openxmlformats.org/officeDocument/2006/relationships/notesMaster" Target="/ppt/notesMasters/notesMaster1.xml" Id="R8c45db3fc5ca4e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36c984df914a14" /><Relationship Type="http://schemas.openxmlformats.org/officeDocument/2006/relationships/notesMaster" Target="/ppt/notesMasters/notesMaster1.xml" Id="R52eff6c64d9e4c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8f731002574056" /><Relationship Type="http://schemas.openxmlformats.org/officeDocument/2006/relationships/notesMaster" Target="/ppt/notesMasters/notesMaster1.xml" Id="R8a03ba3a954745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24714f0039466f" /><Relationship Type="http://schemas.openxmlformats.org/officeDocument/2006/relationships/notesMaster" Target="/ppt/notesMasters/notesMaster1.xml" Id="Rf8c9a0e5cdb846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318fc1fb3049ed" /><Relationship Type="http://schemas.openxmlformats.org/officeDocument/2006/relationships/notesMaster" Target="/ppt/notesMasters/notesMaster1.xml" Id="Rc1688613c9c84f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35e6ba3167e4e5c" /><Relationship Type="http://schemas.openxmlformats.org/officeDocument/2006/relationships/notesMaster" Target="/ppt/notesMasters/notesMaster1.xml" Id="Reee29494fd5f4e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de292ca4d83498d" /><Relationship Type="http://schemas.openxmlformats.org/officeDocument/2006/relationships/notesMaster" Target="/ppt/notesMasters/notesMaster1.xml" Id="Rf7bafeb27ba44b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53fdd022a34053" /><Relationship Type="http://schemas.openxmlformats.org/officeDocument/2006/relationships/notesMaster" Target="/ppt/notesMasters/notesMaster1.xml" Id="Rd78db7ee8b164b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3d57160a1848db" /><Relationship Type="http://schemas.openxmlformats.org/officeDocument/2006/relationships/notesMaster" Target="/ppt/notesMasters/notesMaster1.xml" Id="Rb92a6a6a870944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25a7f3c2814b27" /><Relationship Type="http://schemas.openxmlformats.org/officeDocument/2006/relationships/notesMaster" Target="/ppt/notesMasters/notesMaster1.xml" Id="Rbdddb7bd0d4949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80b6c1bab34a6a" /><Relationship Type="http://schemas.openxmlformats.org/officeDocument/2006/relationships/notesMaster" Target="/ppt/notesMasters/notesMaster1.xml" Id="R6f81b5cde82f44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e411e55de74642" /><Relationship Type="http://schemas.openxmlformats.org/officeDocument/2006/relationships/notesMaster" Target="/ppt/notesMasters/notesMaster1.xml" Id="R804d7edf38df4c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60e7fb483fa4090" /><Relationship Type="http://schemas.openxmlformats.org/officeDocument/2006/relationships/notesMaster" Target="/ppt/notesMasters/notesMaster1.xml" Id="R9447539b9e3143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2623c5b5fec4a25" /><Relationship Type="http://schemas.openxmlformats.org/officeDocument/2006/relationships/notesMaster" Target="/ppt/notesMasters/notesMaster1.xml" Id="Re3523a53529b44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dc641848cc54247" /><Relationship Type="http://schemas.openxmlformats.org/officeDocument/2006/relationships/notesMaster" Target="/ppt/notesMasters/notesMaster1.xml" Id="R67276c83b60b42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6c7e2ee5ae1404c" /><Relationship Type="http://schemas.openxmlformats.org/officeDocument/2006/relationships/notesMaster" Target="/ppt/notesMasters/notesMaster1.xml" Id="R075635a3a468433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0e4bc81e4f9459a" /><Relationship Type="http://schemas.openxmlformats.org/officeDocument/2006/relationships/notesMaster" Target="/ppt/notesMasters/notesMaster1.xml" Id="R6ea7f92c050a487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d607f9dd9c74b67" /><Relationship Type="http://schemas.openxmlformats.org/officeDocument/2006/relationships/notesMaster" Target="/ppt/notesMasters/notesMaster1.xml" Id="Refe5caefeb9346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e21fc2b4cba4366" /><Relationship Type="http://schemas.openxmlformats.org/officeDocument/2006/relationships/notesMaster" Target="/ppt/notesMasters/notesMaster1.xml" Id="R32332be5772b477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73748755fbd4e7c" /><Relationship Type="http://schemas.openxmlformats.org/officeDocument/2006/relationships/notesMaster" Target="/ppt/notesMasters/notesMaster1.xml" Id="R7220051f67a54fa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18eba4a4f0c4d99" /><Relationship Type="http://schemas.openxmlformats.org/officeDocument/2006/relationships/notesMaster" Target="/ppt/notesMasters/notesMaster1.xml" Id="R3c9b06a366fa4a4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89021a394f94604" /><Relationship Type="http://schemas.openxmlformats.org/officeDocument/2006/relationships/notesMaster" Target="/ppt/notesMasters/notesMaster1.xml" Id="R33a4923e1949477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782390caeb04d87" /><Relationship Type="http://schemas.openxmlformats.org/officeDocument/2006/relationships/notesMaster" Target="/ppt/notesMasters/notesMaster1.xml" Id="R3d8cb84d61664a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Course project on the SpaceX Falcon 9 first-stage landing-success problem. Data sources and methods are documented in the repository README and SOURCES.md.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Results from the verified 90-row course dataset and outputs/analysis_results.json. The test set contains 18 records; model metrics are unstable at this sample size.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Course scenario describes the Falcon 9 first-stage recovery problem. The labeled modeling sample is the official IBM course data, dataset_part_2.csv plus the provided encoded feature matrix.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source: IBM Skills Network archived API response at data/raw/API_call_spacex_api.json. Reproduction script: src/collect_api.py. The script reads the archived course response first and downloads it from the course URL if absent.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src/scrape_wikipedia.py; archived HTML: data/raw/wikipedia_falcon_launch_history_2020.html; output: data/raw/wikipedia_launch_history.csv.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is implemented in make_dataset() in src/analyze_model.py. The supplied dataset_part_3.csv contains features only; Class is retrieved from the matching IBM dataset_part_2.csv after flight-number and category-alignment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Methods and implementation are in notebooks/04_EDA_and_Feature_Engineering.ipynb, notebooks/05_SQL_EDA_and_Folium_Map.ipynb, notebooks/06_Plotly_Dash_Dashboard.ipynb, outputs/sql/capstone_queries.sql, outputs/launch_sites_folium.html, and src/dash_app.py. The GitHub URL is in the slide footer.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configuration and split are documented in src/analyze_model.py and outputs/analysis_results.json.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from the completed EDA notebook. Success rate is the mean of Class within each year. Small per-year counts make the early and late estimates noisy.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from notebooks/04_EDA_and_Feature_Engineering.ipynb. The outcome colors follow Class: 0=failure, 1=success.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from the completed EDA notebook. Means by class are reported separately on the SQL results slide. The pattern is observational.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Figures from the completed EDA notebook. Orbit-specific denominators are shown in the SQL output files; the smallest groups have only one launch.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eda_cell_33.png is the course EDA bar chart of landing success rate by orbit. Related scatter plots and annual trends are on adjacent EDA slides.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SQL statements are in outputs/sql/capstone_queries.sql. The corresponding result tables are outputs/sql/site_success.csv, orbit_success.csv and payload_by_success.csv.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Calculated from outputs/sql/site_success.csv and verified course model dataset. Counts inferred from the 90 labeled rows: 22 launches/17 successes at KSC, 13/10 at VAFB, 55/33 at CCAFS.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Orbit counts/rates and mean payload by class from outputs/analysis_results.json and outputs/sql/*.csv. The 100% groups with one launch are especially uncertain.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Query: SELECT CAST(strftime('%Y', Date) AS INTEGER) AS year, COUNT(*) AS launches, SUM(Class) AS successful_launches, ROUND(AVG(Class), 3) AS success_rate FROM launches GROUP BY year ORDER BY year. The chart and table are generated from the same 90-row labeled course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Interactive map output created by src/build_folium_map.py. Pairwise distances use the haversine great-circle calculation on the site coordinates in the course dataset. Florida sites are approximately 5.6 km apart; VAFB is approximately 3,720 km from KSC LC 39A.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src/dash_app.py and notebooks/06_Plotly_Dash_Dashboard.ipynb. The project test client verified the route and callback.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metrics use the 18-record stratified holdout except CV accuracy, which is averaged over five stratified folds of the 72-row training partition. Values from outputs/analysis_results.json.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Confusion matrix rows are actual classes and columns are predicted classes. Counts and model settings from outputs/analysis_results.json.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payload observation is computed from the 90-row labeled sample: 6,765.2 kg mean among successes and 4,784.6 kg among failures. This is an exploratory association, not a causal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reflects the actual repository status at creation time. Supporting notebooks and scripts are in the accompanying project bundle; sources are documented in SOURCES.md.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6b31aa415546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0675cefa0748f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130a925614e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1d7559230e4de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35f8f2817f485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2b04807c7f4d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771F49-F01D-4063-B5A3-349740AFE9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7A39FBE-CFB5-4929-8BC6-F52B8C20E9B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E6E22F1-EFAE-42A4-94AA-19255A9F2B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9CFA62-D96B-473A-99CD-2285B1B0ED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92DB3A8-49B9-4672-A578-797073C5C6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3F7B401-0AE8-45A7-989F-8AE84358AD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CEF0CD-2127-450C-8B3C-1DD5F756F9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841135-3E64-4C56-A2CB-939D9928A3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E59DE8-F530-4368-B6D0-B86EC7856C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D1FD72-BD16-4388-9957-4B37483BF9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a9f39b489d4420" /><Relationship Type="http://schemas.openxmlformats.org/officeDocument/2006/relationships/slideLayout" Target="/ppt/slideLayouts/slideLayout1.xml" Id="R90de5a1f445c4112" /><Relationship Type="http://schemas.openxmlformats.org/officeDocument/2006/relationships/slideLayout" Target="/ppt/slideLayouts/slideLayout2.xml" Id="Re27c3406049343dd" /><Relationship Type="http://schemas.openxmlformats.org/officeDocument/2006/relationships/slideLayout" Target="/ppt/slideLayouts/slideLayout3.xml" Id="R707580c9b1494bb7" /><Relationship Type="http://schemas.openxmlformats.org/officeDocument/2006/relationships/slideLayout" Target="/ppt/slideLayouts/slideLayout4.xml" Id="Rc922a45d920946f3" /><Relationship Type="http://schemas.openxmlformats.org/officeDocument/2006/relationships/slideLayout" Target="/ppt/slideLayouts/slideLayout5.xml" Id="Rbfc532db04cb463d" /><Relationship Type="http://schemas.openxmlformats.org/officeDocument/2006/relationships/slideLayout" Target="/ppt/slideLayouts/slideLayout6.xml" Id="R46f7c0e330e545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de5a1f445c4112"/>
    <p:sldLayoutId xmlns:r="http://schemas.openxmlformats.org/officeDocument/2006/relationships" id="2147483650" r:id="Re27c3406049343dd"/>
    <p:sldLayoutId xmlns:r="http://schemas.openxmlformats.org/officeDocument/2006/relationships" id="2147483651" r:id="R707580c9b1494bb7"/>
    <p:sldLayoutId xmlns:r="http://schemas.openxmlformats.org/officeDocument/2006/relationships" id="2147483652" r:id="Rc922a45d920946f3"/>
    <p:sldLayoutId xmlns:r="http://schemas.openxmlformats.org/officeDocument/2006/relationships" id="2147483653" r:id="Rbfc532db04cb463d"/>
    <p:sldLayoutId xmlns:r="http://schemas.openxmlformats.org/officeDocument/2006/relationships" id="2147483654" r:id="R46f7c0e330e545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ad67da396c477e" /><Relationship Type="http://schemas.openxmlformats.org/officeDocument/2006/relationships/notesSlide" Target="/ppt/notesSlides/notesSlide1.xml" Id="R5ba294031c5e47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2bff23c81a41b9" /><Relationship Type="http://schemas.openxmlformats.org/officeDocument/2006/relationships/notesSlide" Target="/ppt/notesSlides/notesSlide2.xml" Id="R99b9480823694c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1b5b71e7a34774" /><Relationship Type="http://schemas.openxmlformats.org/officeDocument/2006/relationships/notesSlide" Target="/ppt/notesSlides/notesSlide3.xml" Id="R66eec0765e3140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2aa348fad349dc" /><Relationship Type="http://schemas.openxmlformats.org/officeDocument/2006/relationships/notesSlide" Target="/ppt/notesSlides/notesSlide4.xml" Id="R7ccab403fac945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5c3bf7a20044bb" /><Relationship Type="http://schemas.openxmlformats.org/officeDocument/2006/relationships/notesSlide" Target="/ppt/notesSlides/notesSlide5.xml" Id="Rbd0cea9289d542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964fbb63124b16" /><Relationship Type="http://schemas.openxmlformats.org/officeDocument/2006/relationships/notesSlide" Target="/ppt/notesSlides/notesSlide6.xml" Id="R1e7e7d84c4f840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2fd1a3afcf4ba6" /><Relationship Type="http://schemas.openxmlformats.org/officeDocument/2006/relationships/notesSlide" Target="/ppt/notesSlides/notesSlide7.xml" Id="R283c22ed67db45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735af47c3c409f" /><Relationship Type="http://schemas.openxmlformats.org/officeDocument/2006/relationships/notesSlide" Target="/ppt/notesSlides/notesSlide8.xml" Id="Ra0042803083940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67223d02f74876" /><Relationship Type="http://schemas.openxmlformats.org/officeDocument/2006/relationships/image" Target="/ppt/media/image.png" Id="R6a93dba682494e07" /><Relationship Type="http://schemas.openxmlformats.org/officeDocument/2006/relationships/notesSlide" Target="/ppt/notesSlides/notesSlide9.xml" Id="Rd9f94e2885b74a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66138ec23f4c5b" /><Relationship Type="http://schemas.openxmlformats.org/officeDocument/2006/relationships/image" Target="/ppt/media/image2.png" Id="R858a35ff73bd41aa" /><Relationship Type="http://schemas.openxmlformats.org/officeDocument/2006/relationships/notesSlide" Target="/ppt/notesSlides/notesSlide10.xml" Id="R3c6a1b486b334b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4c3e982fe0489d" /><Relationship Type="http://schemas.openxmlformats.org/officeDocument/2006/relationships/image" Target="/ppt/media/image3.png" Id="R12e00e3db8be4696" /><Relationship Type="http://schemas.openxmlformats.org/officeDocument/2006/relationships/notesSlide" Target="/ppt/notesSlides/notesSlide11.xml" Id="Rd5220eddc37b44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a8b81a47be4a36" /><Relationship Type="http://schemas.openxmlformats.org/officeDocument/2006/relationships/image" Target="/ppt/media/image4.png" Id="R2c4d96d1b6ec4c85" /><Relationship Type="http://schemas.openxmlformats.org/officeDocument/2006/relationships/image" Target="/ppt/media/image5.png" Id="Rd04c2b2c4bca4065" /><Relationship Type="http://schemas.openxmlformats.org/officeDocument/2006/relationships/notesSlide" Target="/ppt/notesSlides/notesSlide12.xml" Id="R7ab3bbb60f7444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3ef8c1a3e14fb0" /><Relationship Type="http://schemas.openxmlformats.org/officeDocument/2006/relationships/image" Target="/ppt/media/image6.png" Id="Rabca9f060f2a4130" /><Relationship Type="http://schemas.openxmlformats.org/officeDocument/2006/relationships/notesSlide" Target="/ppt/notesSlides/notesSlide13.xml" Id="Ra1fd178d463d41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14fb07d8504f10" /><Relationship Type="http://schemas.openxmlformats.org/officeDocument/2006/relationships/notesSlide" Target="/ppt/notesSlides/notesSlide14.xml" Id="Ra5112b09fdc243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63f6737c1442f2" /><Relationship Type="http://schemas.openxmlformats.org/officeDocument/2006/relationships/notesSlide" Target="/ppt/notesSlides/notesSlide15.xml" Id="R8095b4f0c56e4a0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0314497a2e4cfb" /><Relationship Type="http://schemas.openxmlformats.org/officeDocument/2006/relationships/notesSlide" Target="/ppt/notesSlides/notesSlide16.xml" Id="R6b2f4885317d4a9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83bcb8fb9646e7" /><Relationship Type="http://schemas.openxmlformats.org/officeDocument/2006/relationships/image" Target="/ppt/media/image7.png" Id="R572de9b5c64d42d6" /><Relationship Type="http://schemas.openxmlformats.org/officeDocument/2006/relationships/notesSlide" Target="/ppt/notesSlides/notesSlide17.xml" Id="R8bc1b1b3175f4bd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0f3100579e41b6" /><Relationship Type="http://schemas.openxmlformats.org/officeDocument/2006/relationships/notesSlide" Target="/ppt/notesSlides/notesSlide18.xml" Id="Rf105d0ad398248f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ea177d87f640b1" /><Relationship Type="http://schemas.openxmlformats.org/officeDocument/2006/relationships/notesSlide" Target="/ppt/notesSlides/notesSlide19.xml" Id="Rcb52a7f60c2d4f7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98b711d3544995" /><Relationship Type="http://schemas.openxmlformats.org/officeDocument/2006/relationships/notesSlide" Target="/ppt/notesSlides/notesSlide20.xml" Id="R263935b408de42d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f63ae3d8494120" /><Relationship Type="http://schemas.openxmlformats.org/officeDocument/2006/relationships/notesSlide" Target="/ppt/notesSlides/notesSlide21.xml" Id="Racf0aa35130c4d8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e4f30bfe614a7b" /><Relationship Type="http://schemas.openxmlformats.org/officeDocument/2006/relationships/notesSlide" Target="/ppt/notesSlides/notesSlide22.xml" Id="R5515658281c446d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d6641d2385421c" /><Relationship Type="http://schemas.openxmlformats.org/officeDocument/2006/relationships/notesSlide" Target="/ppt/notesSlides/notesSlide23.xml" Id="R08385aeff7514b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5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A1A04-F923-46FF-BFC9-A6F56A34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853D9-A239-4C93-B0CD-B4926E7B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77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46B5C8"/>
                </a:solidFill>
              </a:defRPr>
            </a:defPPr>
            <a:lvl1pPr algn="l">
              <a:defRPr sz="1125" b="1">
                <a:solidFill>
                  <a:srgbClr val="46B5C8"/>
                </a:solidFill>
              </a:defRPr>
            </a:lvl1pPr>
            <a:lvl2pPr algn="l">
              <a:defRPr sz="1125" b="1">
                <a:solidFill>
                  <a:srgbClr val="46B5C8"/>
                </a:solidFill>
              </a:defRPr>
            </a:lvl2pPr>
            <a:lvl3pPr algn="l">
              <a:defRPr sz="1125" b="1">
                <a:solidFill>
                  <a:srgbClr val="46B5C8"/>
                </a:solidFill>
              </a:defRPr>
            </a:lvl3pPr>
            <a:lvl4pPr algn="l">
              <a:defRPr sz="1125" b="1">
                <a:solidFill>
                  <a:srgbClr val="46B5C8"/>
                </a:solidFill>
              </a:defRPr>
            </a:lvl4pPr>
            <a:lvl5pPr algn="l">
              <a:defRPr sz="1125" b="1">
                <a:solidFill>
                  <a:srgbClr val="46B5C8"/>
                </a:solidFill>
              </a:defRPr>
            </a:lvl5pPr>
            <a:lvl6pPr algn="l">
              <a:defRPr sz="1125" b="1">
                <a:solidFill>
                  <a:srgbClr val="46B5C8"/>
                </a:solidFill>
              </a:defRPr>
            </a:lvl6pPr>
            <a:lvl7pPr algn="l">
              <a:defRPr sz="1125" b="1">
                <a:solidFill>
                  <a:srgbClr val="46B5C8"/>
                </a:solidFill>
              </a:defRPr>
            </a:lvl7pPr>
            <a:lvl8pPr algn="l">
              <a:defRPr sz="1125" b="1">
                <a:solidFill>
                  <a:srgbClr val="46B5C8"/>
                </a:solidFill>
              </a:defRPr>
            </a:lvl8pPr>
            <a:lvl9pPr algn="l">
              <a:defRPr sz="1125" b="1">
                <a:solidFill>
                  <a:srgbClr val="46B5C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46B5C8"/>
                </a:solidFill>
              </a:defRPr>
            </a:pPr>
            <a:r>
              <a:rPr sz="1125" b="1">
                <a:solidFill>
                  <a:srgbClr val="46B5C8"/>
                </a:solidFill>
              </a:rPr>
              <a:t>APPLIED DATA SCIENCE 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EC367-B643-439D-ACAB-53FC0434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</a:defRPr>
            </a:defPPr>
            <a:lvl1pPr algn="l">
              <a:defRPr sz="3450" b="1">
                <a:solidFill>
                  <a:srgbClr val="FFFFFF"/>
                </a:solidFill>
              </a:defRPr>
            </a:lvl1pPr>
            <a:lvl2pPr algn="l">
              <a:defRPr sz="3450" b="1">
                <a:solidFill>
                  <a:srgbClr val="FFFFFF"/>
                </a:solidFill>
              </a:defRPr>
            </a:lvl2pPr>
            <a:lvl3pPr algn="l">
              <a:defRPr sz="3450" b="1">
                <a:solidFill>
                  <a:srgbClr val="FFFFFF"/>
                </a:solidFill>
              </a:defRPr>
            </a:lvl3pPr>
            <a:lvl4pPr algn="l">
              <a:defRPr sz="3450" b="1">
                <a:solidFill>
                  <a:srgbClr val="FFFFFF"/>
                </a:solidFill>
              </a:defRPr>
            </a:lvl4pPr>
            <a:lvl5pPr algn="l">
              <a:defRPr sz="3450" b="1">
                <a:solidFill>
                  <a:srgbClr val="FFFFFF"/>
                </a:solidFill>
              </a:defRPr>
            </a:lvl5pPr>
            <a:lvl6pPr algn="l">
              <a:defRPr sz="3450" b="1">
                <a:solidFill>
                  <a:srgbClr val="FFFFFF"/>
                </a:solidFill>
              </a:defRPr>
            </a:lvl6pPr>
            <a:lvl7pPr algn="l">
              <a:defRPr sz="3450" b="1">
                <a:solidFill>
                  <a:srgbClr val="FFFFFF"/>
                </a:solidFill>
              </a:defRPr>
            </a:lvl7pPr>
            <a:lvl8pPr algn="l">
              <a:defRPr sz="3450" b="1">
                <a:solidFill>
                  <a:srgbClr val="FFFFFF"/>
                </a:solidFill>
              </a:defRPr>
            </a:lvl8pPr>
            <a:lvl9pPr algn="l"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03000"/>
              </a:lnSpc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Predicting Falcon 9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first-stage landing success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58904-2865-4457-8898-7B38E8E7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D7E7F1"/>
                </a:solidFill>
              </a:defRPr>
            </a:defPPr>
            <a:lvl1pPr algn="l">
              <a:defRPr sz="1725" b="0">
                <a:solidFill>
                  <a:srgbClr val="D7E7F1"/>
                </a:solidFill>
              </a:defRPr>
            </a:lvl1pPr>
            <a:lvl2pPr algn="l">
              <a:defRPr sz="1725" b="0">
                <a:solidFill>
                  <a:srgbClr val="D7E7F1"/>
                </a:solidFill>
              </a:defRPr>
            </a:lvl2pPr>
            <a:lvl3pPr algn="l">
              <a:defRPr sz="1725" b="0">
                <a:solidFill>
                  <a:srgbClr val="D7E7F1"/>
                </a:solidFill>
              </a:defRPr>
            </a:lvl3pPr>
            <a:lvl4pPr algn="l">
              <a:defRPr sz="1725" b="0">
                <a:solidFill>
                  <a:srgbClr val="D7E7F1"/>
                </a:solidFill>
              </a:defRPr>
            </a:lvl4pPr>
            <a:lvl5pPr algn="l">
              <a:defRPr sz="1725" b="0">
                <a:solidFill>
                  <a:srgbClr val="D7E7F1"/>
                </a:solidFill>
              </a:defRPr>
            </a:lvl5pPr>
            <a:lvl6pPr algn="l">
              <a:defRPr sz="1725" b="0">
                <a:solidFill>
                  <a:srgbClr val="D7E7F1"/>
                </a:solidFill>
              </a:defRPr>
            </a:lvl6pPr>
            <a:lvl7pPr algn="l">
              <a:defRPr sz="1725" b="0">
                <a:solidFill>
                  <a:srgbClr val="D7E7F1"/>
                </a:solidFill>
              </a:defRPr>
            </a:lvl7pPr>
            <a:lvl8pPr algn="l">
              <a:defRPr sz="1725" b="0">
                <a:solidFill>
                  <a:srgbClr val="D7E7F1"/>
                </a:solidFill>
              </a:defRPr>
            </a:lvl8pPr>
            <a:lvl9pPr algn="l">
              <a:defRPr sz="1725" b="0">
                <a:solidFill>
                  <a:srgbClr val="D7E7F1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D7E7F1"/>
                </a:solidFill>
              </a:defRPr>
            </a:pPr>
            <a:r>
              <a:rPr sz="1725" b="0">
                <a:solidFill>
                  <a:srgbClr val="D7E7F1"/>
                </a:solidFill>
              </a:rPr>
              <a:t>An end-to-end analysis of SpaceX launch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966E1-224D-40F3-85A7-4EBC1D59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733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5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5933F-5ABB-40E9-B7A8-67A2FAE2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6717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D7E7F1"/>
                </a:solidFill>
              </a:defRPr>
            </a:defPPr>
            <a:lvl1pPr algn="l">
              <a:defRPr sz="1350" b="0">
                <a:solidFill>
                  <a:srgbClr val="D7E7F1"/>
                </a:solidFill>
              </a:defRPr>
            </a:lvl1pPr>
            <a:lvl2pPr algn="l">
              <a:defRPr sz="1350" b="0">
                <a:solidFill>
                  <a:srgbClr val="D7E7F1"/>
                </a:solidFill>
              </a:defRPr>
            </a:lvl2pPr>
            <a:lvl3pPr algn="l">
              <a:defRPr sz="1350" b="0">
                <a:solidFill>
                  <a:srgbClr val="D7E7F1"/>
                </a:solidFill>
              </a:defRPr>
            </a:lvl3pPr>
            <a:lvl4pPr algn="l">
              <a:defRPr sz="1350" b="0">
                <a:solidFill>
                  <a:srgbClr val="D7E7F1"/>
                </a:solidFill>
              </a:defRPr>
            </a:lvl4pPr>
            <a:lvl5pPr algn="l">
              <a:defRPr sz="1350" b="0">
                <a:solidFill>
                  <a:srgbClr val="D7E7F1"/>
                </a:solidFill>
              </a:defRPr>
            </a:lvl5pPr>
            <a:lvl6pPr algn="l">
              <a:defRPr sz="1350" b="0">
                <a:solidFill>
                  <a:srgbClr val="D7E7F1"/>
                </a:solidFill>
              </a:defRPr>
            </a:lvl6pPr>
            <a:lvl7pPr algn="l">
              <a:defRPr sz="1350" b="0">
                <a:solidFill>
                  <a:srgbClr val="D7E7F1"/>
                </a:solidFill>
              </a:defRPr>
            </a:lvl7pPr>
            <a:lvl8pPr algn="l">
              <a:defRPr sz="1350" b="0">
                <a:solidFill>
                  <a:srgbClr val="D7E7F1"/>
                </a:solidFill>
              </a:defRPr>
            </a:lvl8pPr>
            <a:lvl9pPr algn="l">
              <a:defRPr sz="1350" b="0">
                <a:solidFill>
                  <a:srgbClr val="D7E7F1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D7E7F1"/>
                </a:solidFill>
              </a:defRPr>
            </a:pPr>
            <a:r>
              <a:rPr sz="1350" b="0">
                <a:solidFill>
                  <a:srgbClr val="D7E7F1"/>
                </a:solidFill>
              </a:rPr>
              <a:t>IBM Skills Network course dataset  |  90 labeled launches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B7424-7A61-4190-B3ED-D7FF110A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IBM Applied Data Science Capstone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A2A3A-9E1D-460C-BF62-B879975A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91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AFC6D6"/>
                </a:solidFill>
              </a:defRPr>
            </a:defPPr>
            <a:lvl1pPr algn="l">
              <a:defRPr sz="1050" b="0">
                <a:solidFill>
                  <a:srgbClr val="AFC6D6"/>
                </a:solidFill>
              </a:defRPr>
            </a:lvl1pPr>
            <a:lvl2pPr algn="l">
              <a:defRPr sz="1050" b="0">
                <a:solidFill>
                  <a:srgbClr val="AFC6D6"/>
                </a:solidFill>
              </a:defRPr>
            </a:lvl2pPr>
            <a:lvl3pPr algn="l">
              <a:defRPr sz="1050" b="0">
                <a:solidFill>
                  <a:srgbClr val="AFC6D6"/>
                </a:solidFill>
              </a:defRPr>
            </a:lvl3pPr>
            <a:lvl4pPr algn="l">
              <a:defRPr sz="1050" b="0">
                <a:solidFill>
                  <a:srgbClr val="AFC6D6"/>
                </a:solidFill>
              </a:defRPr>
            </a:lvl4pPr>
            <a:lvl5pPr algn="l">
              <a:defRPr sz="1050" b="0">
                <a:solidFill>
                  <a:srgbClr val="AFC6D6"/>
                </a:solidFill>
              </a:defRPr>
            </a:lvl5pPr>
            <a:lvl6pPr algn="l">
              <a:defRPr sz="1050" b="0">
                <a:solidFill>
                  <a:srgbClr val="AFC6D6"/>
                </a:solidFill>
              </a:defRPr>
            </a:lvl6pPr>
            <a:lvl7pPr algn="l">
              <a:defRPr sz="1050" b="0">
                <a:solidFill>
                  <a:srgbClr val="AFC6D6"/>
                </a:solidFill>
              </a:defRPr>
            </a:lvl7pPr>
            <a:lvl8pPr algn="l">
              <a:defRPr sz="1050" b="0">
                <a:solidFill>
                  <a:srgbClr val="AFC6D6"/>
                </a:solidFill>
              </a:defRPr>
            </a:lvl8pPr>
            <a:lvl9pPr algn="l">
              <a:defRPr sz="1050" b="0">
                <a:solidFill>
                  <a:srgbClr val="AFC6D6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AFC6D6"/>
                </a:solidFill>
              </a:defRPr>
            </a:pPr>
            <a:r>
              <a:rPr sz="1050" b="0">
                <a:solidFill>
                  <a:srgbClr val="AFC6D6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9909617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B61410-7348-4EB8-8673-30E3370F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0991F-34EC-4D3B-8914-EA018F59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7A8"/>
                </a:solidFill>
              </a:defRPr>
            </a:defPPr>
            <a:lvl1pPr algn="l">
              <a:defRPr sz="975" b="1">
                <a:solidFill>
                  <a:srgbClr val="1677A8"/>
                </a:solidFill>
              </a:defRPr>
            </a:lvl1pPr>
            <a:lvl2pPr algn="l">
              <a:defRPr sz="975" b="1">
                <a:solidFill>
                  <a:srgbClr val="1677A8"/>
                </a:solidFill>
              </a:defRPr>
            </a:lvl2pPr>
            <a:lvl3pPr algn="l">
              <a:defRPr sz="975" b="1">
                <a:solidFill>
                  <a:srgbClr val="1677A8"/>
                </a:solidFill>
              </a:defRPr>
            </a:lvl3pPr>
            <a:lvl4pPr algn="l">
              <a:defRPr sz="975" b="1">
                <a:solidFill>
                  <a:srgbClr val="1677A8"/>
                </a:solidFill>
              </a:defRPr>
            </a:lvl4pPr>
            <a:lvl5pPr algn="l">
              <a:defRPr sz="975" b="1">
                <a:solidFill>
                  <a:srgbClr val="1677A8"/>
                </a:solidFill>
              </a:defRPr>
            </a:lvl5pPr>
            <a:lvl6pPr algn="l">
              <a:defRPr sz="975" b="1">
                <a:solidFill>
                  <a:srgbClr val="1677A8"/>
                </a:solidFill>
              </a:defRPr>
            </a:lvl6pPr>
            <a:lvl7pPr algn="l">
              <a:defRPr sz="975" b="1">
                <a:solidFill>
                  <a:srgbClr val="1677A8"/>
                </a:solidFill>
              </a:defRPr>
            </a:lvl7pPr>
            <a:lvl8pPr algn="l">
              <a:defRPr sz="975" b="1">
                <a:solidFill>
                  <a:srgbClr val="1677A8"/>
                </a:solidFill>
              </a:defRPr>
            </a:lvl8pPr>
            <a:lvl9pPr algn="l">
              <a:defRPr sz="9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77A8"/>
                </a:solidFill>
              </a:defRPr>
            </a:pPr>
            <a:r>
              <a:rPr sz="975" b="1">
                <a:solidFill>
                  <a:srgbClr val="1677A8"/>
                </a:solidFill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D51FCF-7E80-456A-92F1-C6D32B4B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Executive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33270-411F-4F42-A6D7-8CBECD87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6FCF1-D2B2-4FDD-B262-09C6E295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677A8"/>
                </a:solidFill>
              </a:defRPr>
            </a:defPPr>
            <a:lvl1pPr algn="l">
              <a:defRPr sz="750" b="1">
                <a:solidFill>
                  <a:srgbClr val="1677A8"/>
                </a:solidFill>
              </a:defRPr>
            </a:lvl1pPr>
            <a:lvl2pPr algn="l">
              <a:defRPr sz="750" b="1">
                <a:solidFill>
                  <a:srgbClr val="1677A8"/>
                </a:solidFill>
              </a:defRPr>
            </a:lvl2pPr>
            <a:lvl3pPr algn="l">
              <a:defRPr sz="750" b="1">
                <a:solidFill>
                  <a:srgbClr val="1677A8"/>
                </a:solidFill>
              </a:defRPr>
            </a:lvl3pPr>
            <a:lvl4pPr algn="l">
              <a:defRPr sz="750" b="1">
                <a:solidFill>
                  <a:srgbClr val="1677A8"/>
                </a:solidFill>
              </a:defRPr>
            </a:lvl4pPr>
            <a:lvl5pPr algn="l">
              <a:defRPr sz="750" b="1">
                <a:solidFill>
                  <a:srgbClr val="1677A8"/>
                </a:solidFill>
              </a:defRPr>
            </a:lvl5pPr>
            <a:lvl6pPr algn="l">
              <a:defRPr sz="750" b="1">
                <a:solidFill>
                  <a:srgbClr val="1677A8"/>
                </a:solidFill>
              </a:defRPr>
            </a:lvl6pPr>
            <a:lvl7pPr algn="l">
              <a:defRPr sz="750" b="1">
                <a:solidFill>
                  <a:srgbClr val="1677A8"/>
                </a:solidFill>
              </a:defRPr>
            </a:lvl7pPr>
            <a:lvl8pPr algn="l">
              <a:defRPr sz="750" b="1">
                <a:solidFill>
                  <a:srgbClr val="1677A8"/>
                </a:solidFill>
              </a:defRPr>
            </a:lvl8pPr>
            <a:lvl9pPr algn="l">
              <a:defRPr sz="7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77A8"/>
                </a:solidFill>
              </a:defRPr>
            </a:pPr>
            <a:r>
              <a:rPr sz="750" b="1">
                <a:solidFill>
                  <a:srgbClr val="1677A8"/>
                </a:solidFill>
              </a:rPr>
              <a:t>GitHub: github.com/joaoltrevisan/spacex-falcon9-capstone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30CF9A-F712-4361-8300-BE4C6534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86A7B"/>
                </a:solidFill>
              </a:defRPr>
            </a:defPPr>
            <a:lvl1pPr algn="r">
              <a:defRPr sz="900" b="1">
                <a:solidFill>
                  <a:srgbClr val="586A7B"/>
                </a:solidFill>
              </a:defRPr>
            </a:lvl1pPr>
            <a:lvl2pPr algn="r">
              <a:defRPr sz="900" b="1">
                <a:solidFill>
                  <a:srgbClr val="586A7B"/>
                </a:solidFill>
              </a:defRPr>
            </a:lvl2pPr>
            <a:lvl3pPr algn="r">
              <a:defRPr sz="900" b="1">
                <a:solidFill>
                  <a:srgbClr val="586A7B"/>
                </a:solidFill>
              </a:defRPr>
            </a:lvl3pPr>
            <a:lvl4pPr algn="r">
              <a:defRPr sz="900" b="1">
                <a:solidFill>
                  <a:srgbClr val="586A7B"/>
                </a:solidFill>
              </a:defRPr>
            </a:lvl4pPr>
            <a:lvl5pPr algn="r">
              <a:defRPr sz="900" b="1">
                <a:solidFill>
                  <a:srgbClr val="586A7B"/>
                </a:solidFill>
              </a:defRPr>
            </a:lvl5pPr>
            <a:lvl6pPr algn="r">
              <a:defRPr sz="900" b="1">
                <a:solidFill>
                  <a:srgbClr val="586A7B"/>
                </a:solidFill>
              </a:defRPr>
            </a:lvl6pPr>
            <a:lvl7pPr algn="r">
              <a:defRPr sz="900" b="1">
                <a:solidFill>
                  <a:srgbClr val="586A7B"/>
                </a:solidFill>
              </a:defRPr>
            </a:lvl7pPr>
            <a:lvl8pPr algn="r">
              <a:defRPr sz="900" b="1">
                <a:solidFill>
                  <a:srgbClr val="586A7B"/>
                </a:solidFill>
              </a:defRPr>
            </a:lvl8pPr>
            <a:lvl9pPr algn="r">
              <a:defRPr sz="900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586A7B"/>
                </a:solidFill>
              </a:defRPr>
            </a:pPr>
            <a:r>
              <a:rPr sz="900" b="1">
                <a:solidFill>
                  <a:srgbClr val="586A7B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7D57A0-3E87-40AB-A48B-A9EB8AF2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382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15263A"/>
                </a:solidFill>
              </a:defRPr>
            </a:defPPr>
            <a:lvl1pPr algn="l">
              <a:defRPr sz="1725" b="0">
                <a:solidFill>
                  <a:srgbClr val="15263A"/>
                </a:solidFill>
              </a:defRPr>
            </a:lvl1pPr>
            <a:lvl2pPr algn="l">
              <a:defRPr sz="1725" b="0">
                <a:solidFill>
                  <a:srgbClr val="15263A"/>
                </a:solidFill>
              </a:defRPr>
            </a:lvl2pPr>
            <a:lvl3pPr algn="l">
              <a:defRPr sz="1725" b="0">
                <a:solidFill>
                  <a:srgbClr val="15263A"/>
                </a:solidFill>
              </a:defRPr>
            </a:lvl3pPr>
            <a:lvl4pPr algn="l">
              <a:defRPr sz="1725" b="0">
                <a:solidFill>
                  <a:srgbClr val="15263A"/>
                </a:solidFill>
              </a:defRPr>
            </a:lvl4pPr>
            <a:lvl5pPr algn="l">
              <a:defRPr sz="1725" b="0">
                <a:solidFill>
                  <a:srgbClr val="15263A"/>
                </a:solidFill>
              </a:defRPr>
            </a:lvl5pPr>
            <a:lvl6pPr algn="l">
              <a:defRPr sz="1725" b="0">
                <a:solidFill>
                  <a:srgbClr val="15263A"/>
                </a:solidFill>
              </a:defRPr>
            </a:lvl6pPr>
            <a:lvl7pPr algn="l">
              <a:defRPr sz="1725" b="0">
                <a:solidFill>
                  <a:srgbClr val="15263A"/>
                </a:solidFill>
              </a:defRPr>
            </a:lvl7pPr>
            <a:lvl8pPr algn="l">
              <a:defRPr sz="1725" b="0">
                <a:solidFill>
                  <a:srgbClr val="15263A"/>
                </a:solidFill>
              </a:defRPr>
            </a:lvl8pPr>
            <a:lvl9pPr algn="l">
              <a:defRPr sz="1725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5263A"/>
                </a:solidFill>
              </a:defRPr>
            </a:pPr>
            <a:r>
              <a:rPr sz="1725" b="0">
                <a:solidFill>
                  <a:srgbClr val="15263A"/>
                </a:solidFill>
              </a:rPr>
              <a:t>The course sample supports a reproducible comparison of four classifiers. Landing outcomes vary across sites and mission profiles, while the small labeled sample limits how strongly any pattern can generalize.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28D51-5C7F-48FF-88E1-92EA4EFC6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91BBC-2DE2-4118-84D5-2DFBFD22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80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677A8"/>
                </a:solidFill>
              </a:defRPr>
            </a:defPPr>
            <a:lvl1pPr algn="l">
              <a:defRPr sz="2550" b="1">
                <a:solidFill>
                  <a:srgbClr val="1677A8"/>
                </a:solidFill>
              </a:defRPr>
            </a:lvl1pPr>
            <a:lvl2pPr algn="l">
              <a:defRPr sz="2550" b="1">
                <a:solidFill>
                  <a:srgbClr val="1677A8"/>
                </a:solidFill>
              </a:defRPr>
            </a:lvl2pPr>
            <a:lvl3pPr algn="l">
              <a:defRPr sz="2550" b="1">
                <a:solidFill>
                  <a:srgbClr val="1677A8"/>
                </a:solidFill>
              </a:defRPr>
            </a:lvl3pPr>
            <a:lvl4pPr algn="l">
              <a:defRPr sz="2550" b="1">
                <a:solidFill>
                  <a:srgbClr val="1677A8"/>
                </a:solidFill>
              </a:defRPr>
            </a:lvl4pPr>
            <a:lvl5pPr algn="l">
              <a:defRPr sz="2550" b="1">
                <a:solidFill>
                  <a:srgbClr val="1677A8"/>
                </a:solidFill>
              </a:defRPr>
            </a:lvl5pPr>
            <a:lvl6pPr algn="l">
              <a:defRPr sz="2550" b="1">
                <a:solidFill>
                  <a:srgbClr val="1677A8"/>
                </a:solidFill>
              </a:defRPr>
            </a:lvl6pPr>
            <a:lvl7pPr algn="l">
              <a:defRPr sz="2550" b="1">
                <a:solidFill>
                  <a:srgbClr val="1677A8"/>
                </a:solidFill>
              </a:defRPr>
            </a:lvl7pPr>
            <a:lvl8pPr algn="l">
              <a:defRPr sz="2550" b="1">
                <a:solidFill>
                  <a:srgbClr val="1677A8"/>
                </a:solidFill>
              </a:defRPr>
            </a:lvl8pPr>
            <a:lvl9pPr algn="l">
              <a:defRPr sz="25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77A8"/>
                </a:solidFill>
              </a:defRPr>
            </a:pPr>
            <a:r>
              <a:rPr sz="2550" b="1">
                <a:solidFill>
                  <a:srgbClr val="1677A8"/>
                </a:solidFill>
              </a:rPr>
              <a:t>90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F29BB-9C20-45EC-81D5-07F4FB45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575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586A7B"/>
                </a:solidFill>
              </a:defRPr>
            </a:defPPr>
            <a:lvl1pPr algn="l">
              <a:defRPr sz="1125" b="0">
                <a:solidFill>
                  <a:srgbClr val="586A7B"/>
                </a:solidFill>
              </a:defRPr>
            </a:lvl1pPr>
            <a:lvl2pPr algn="l">
              <a:defRPr sz="1125" b="0">
                <a:solidFill>
                  <a:srgbClr val="586A7B"/>
                </a:solidFill>
              </a:defRPr>
            </a:lvl2pPr>
            <a:lvl3pPr algn="l">
              <a:defRPr sz="1125" b="0">
                <a:solidFill>
                  <a:srgbClr val="586A7B"/>
                </a:solidFill>
              </a:defRPr>
            </a:lvl3pPr>
            <a:lvl4pPr algn="l">
              <a:defRPr sz="1125" b="0">
                <a:solidFill>
                  <a:srgbClr val="586A7B"/>
                </a:solidFill>
              </a:defRPr>
            </a:lvl4pPr>
            <a:lvl5pPr algn="l">
              <a:defRPr sz="1125" b="0">
                <a:solidFill>
                  <a:srgbClr val="586A7B"/>
                </a:solidFill>
              </a:defRPr>
            </a:lvl5pPr>
            <a:lvl6pPr algn="l">
              <a:defRPr sz="1125" b="0">
                <a:solidFill>
                  <a:srgbClr val="586A7B"/>
                </a:solidFill>
              </a:defRPr>
            </a:lvl6pPr>
            <a:lvl7pPr algn="l">
              <a:defRPr sz="1125" b="0">
                <a:solidFill>
                  <a:srgbClr val="586A7B"/>
                </a:solidFill>
              </a:defRPr>
            </a:lvl7pPr>
            <a:lvl8pPr algn="l">
              <a:defRPr sz="1125" b="0">
                <a:solidFill>
                  <a:srgbClr val="586A7B"/>
                </a:solidFill>
              </a:defRPr>
            </a:lvl8pPr>
            <a:lvl9pPr algn="l">
              <a:defRPr sz="1125" b="0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86A7B"/>
                </a:solidFill>
              </a:defRPr>
            </a:pPr>
            <a:r>
              <a:rPr sz="1125" b="0">
                <a:solidFill>
                  <a:srgbClr val="586A7B"/>
                </a:solidFill>
              </a:rPr>
              <a:t>labeled launches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ACCF76-9CBA-481D-9798-6A0B26CB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4795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80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308C72-2A9C-4175-916C-E34D9425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47950"/>
            <a:ext cx="180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2B806E"/>
                </a:solidFill>
              </a:defRPr>
            </a:defPPr>
            <a:lvl1pPr algn="l">
              <a:defRPr sz="2550" b="1">
                <a:solidFill>
                  <a:srgbClr val="2B806E"/>
                </a:solidFill>
              </a:defRPr>
            </a:lvl1pPr>
            <a:lvl2pPr algn="l">
              <a:defRPr sz="2550" b="1">
                <a:solidFill>
                  <a:srgbClr val="2B806E"/>
                </a:solidFill>
              </a:defRPr>
            </a:lvl2pPr>
            <a:lvl3pPr algn="l">
              <a:defRPr sz="2550" b="1">
                <a:solidFill>
                  <a:srgbClr val="2B806E"/>
                </a:solidFill>
              </a:defRPr>
            </a:lvl3pPr>
            <a:lvl4pPr algn="l">
              <a:defRPr sz="2550" b="1">
                <a:solidFill>
                  <a:srgbClr val="2B806E"/>
                </a:solidFill>
              </a:defRPr>
            </a:lvl4pPr>
            <a:lvl5pPr algn="l">
              <a:defRPr sz="2550" b="1">
                <a:solidFill>
                  <a:srgbClr val="2B806E"/>
                </a:solidFill>
              </a:defRPr>
            </a:lvl5pPr>
            <a:lvl6pPr algn="l">
              <a:defRPr sz="2550" b="1">
                <a:solidFill>
                  <a:srgbClr val="2B806E"/>
                </a:solidFill>
              </a:defRPr>
            </a:lvl6pPr>
            <a:lvl7pPr algn="l">
              <a:defRPr sz="2550" b="1">
                <a:solidFill>
                  <a:srgbClr val="2B806E"/>
                </a:solidFill>
              </a:defRPr>
            </a:lvl7pPr>
            <a:lvl8pPr algn="l">
              <a:defRPr sz="2550" b="1">
                <a:solidFill>
                  <a:srgbClr val="2B806E"/>
                </a:solidFill>
              </a:defRPr>
            </a:lvl8pPr>
            <a:lvl9pPr algn="l">
              <a:defRPr sz="2550" b="1">
                <a:solidFill>
                  <a:srgbClr val="2B806E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2B806E"/>
                </a:solidFill>
              </a:defRPr>
            </a:pPr>
            <a:r>
              <a:rPr sz="2550" b="1">
                <a:solidFill>
                  <a:srgbClr val="2B806E"/>
                </a:solidFill>
              </a:rPr>
              <a:t>60 / 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6CD0F-E550-4417-B66A-1845EC6D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575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586A7B"/>
                </a:solidFill>
              </a:defRPr>
            </a:defPPr>
            <a:lvl1pPr algn="l">
              <a:defRPr sz="1125" b="0">
                <a:solidFill>
                  <a:srgbClr val="586A7B"/>
                </a:solidFill>
              </a:defRPr>
            </a:lvl1pPr>
            <a:lvl2pPr algn="l">
              <a:defRPr sz="1125" b="0">
                <a:solidFill>
                  <a:srgbClr val="586A7B"/>
                </a:solidFill>
              </a:defRPr>
            </a:lvl2pPr>
            <a:lvl3pPr algn="l">
              <a:defRPr sz="1125" b="0">
                <a:solidFill>
                  <a:srgbClr val="586A7B"/>
                </a:solidFill>
              </a:defRPr>
            </a:lvl3pPr>
            <a:lvl4pPr algn="l">
              <a:defRPr sz="1125" b="0">
                <a:solidFill>
                  <a:srgbClr val="586A7B"/>
                </a:solidFill>
              </a:defRPr>
            </a:lvl4pPr>
            <a:lvl5pPr algn="l">
              <a:defRPr sz="1125" b="0">
                <a:solidFill>
                  <a:srgbClr val="586A7B"/>
                </a:solidFill>
              </a:defRPr>
            </a:lvl5pPr>
            <a:lvl6pPr algn="l">
              <a:defRPr sz="1125" b="0">
                <a:solidFill>
                  <a:srgbClr val="586A7B"/>
                </a:solidFill>
              </a:defRPr>
            </a:lvl6pPr>
            <a:lvl7pPr algn="l">
              <a:defRPr sz="1125" b="0">
                <a:solidFill>
                  <a:srgbClr val="586A7B"/>
                </a:solidFill>
              </a:defRPr>
            </a:lvl7pPr>
            <a:lvl8pPr algn="l">
              <a:defRPr sz="1125" b="0">
                <a:solidFill>
                  <a:srgbClr val="586A7B"/>
                </a:solidFill>
              </a:defRPr>
            </a:lvl8pPr>
            <a:lvl9pPr algn="l">
              <a:defRPr sz="1125" b="0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86A7B"/>
                </a:solidFill>
              </a:defRPr>
            </a:pPr>
            <a:r>
              <a:rPr sz="1125" b="0">
                <a:solidFill>
                  <a:srgbClr val="586A7B"/>
                </a:solidFill>
              </a:rPr>
              <a:t>successful / failed landings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A35C7-0421-4571-9B6E-1EE22BCDD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4795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162BE-2D83-48E9-B8C2-4A6FE8BD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47950"/>
            <a:ext cx="180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36B3F"/>
                </a:solidFill>
              </a:defRPr>
            </a:defPPr>
            <a:lvl1pPr algn="l">
              <a:defRPr sz="2550" b="1">
                <a:solidFill>
                  <a:srgbClr val="F36B3F"/>
                </a:solidFill>
              </a:defRPr>
            </a:lvl1pPr>
            <a:lvl2pPr algn="l">
              <a:defRPr sz="2550" b="1">
                <a:solidFill>
                  <a:srgbClr val="F36B3F"/>
                </a:solidFill>
              </a:defRPr>
            </a:lvl2pPr>
            <a:lvl3pPr algn="l">
              <a:defRPr sz="2550" b="1">
                <a:solidFill>
                  <a:srgbClr val="F36B3F"/>
                </a:solidFill>
              </a:defRPr>
            </a:lvl3pPr>
            <a:lvl4pPr algn="l">
              <a:defRPr sz="2550" b="1">
                <a:solidFill>
                  <a:srgbClr val="F36B3F"/>
                </a:solidFill>
              </a:defRPr>
            </a:lvl4pPr>
            <a:lvl5pPr algn="l">
              <a:defRPr sz="2550" b="1">
                <a:solidFill>
                  <a:srgbClr val="F36B3F"/>
                </a:solidFill>
              </a:defRPr>
            </a:lvl5pPr>
            <a:lvl6pPr algn="l">
              <a:defRPr sz="2550" b="1">
                <a:solidFill>
                  <a:srgbClr val="F36B3F"/>
                </a:solidFill>
              </a:defRPr>
            </a:lvl6pPr>
            <a:lvl7pPr algn="l">
              <a:defRPr sz="2550" b="1">
                <a:solidFill>
                  <a:srgbClr val="F36B3F"/>
                </a:solidFill>
              </a:defRPr>
            </a:lvl7pPr>
            <a:lvl8pPr algn="l">
              <a:defRPr sz="2550" b="1">
                <a:solidFill>
                  <a:srgbClr val="F36B3F"/>
                </a:solidFill>
              </a:defRPr>
            </a:lvl8pPr>
            <a:lvl9pPr algn="l">
              <a:defRPr sz="2550" b="1">
                <a:solidFill>
                  <a:srgbClr val="F36B3F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F36B3F"/>
                </a:solidFill>
              </a:defRPr>
            </a:pPr>
            <a:r>
              <a:rPr sz="2550" b="1">
                <a:solidFill>
                  <a:srgbClr val="F36B3F"/>
                </a:solidFill>
              </a:rPr>
              <a:t>83.3%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182E83-E3C0-42D6-BFD9-04F4154C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0575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586A7B"/>
                </a:solidFill>
              </a:defRPr>
            </a:defPPr>
            <a:lvl1pPr algn="l">
              <a:defRPr sz="1125" b="0">
                <a:solidFill>
                  <a:srgbClr val="586A7B"/>
                </a:solidFill>
              </a:defRPr>
            </a:lvl1pPr>
            <a:lvl2pPr algn="l">
              <a:defRPr sz="1125" b="0">
                <a:solidFill>
                  <a:srgbClr val="586A7B"/>
                </a:solidFill>
              </a:defRPr>
            </a:lvl2pPr>
            <a:lvl3pPr algn="l">
              <a:defRPr sz="1125" b="0">
                <a:solidFill>
                  <a:srgbClr val="586A7B"/>
                </a:solidFill>
              </a:defRPr>
            </a:lvl3pPr>
            <a:lvl4pPr algn="l">
              <a:defRPr sz="1125" b="0">
                <a:solidFill>
                  <a:srgbClr val="586A7B"/>
                </a:solidFill>
              </a:defRPr>
            </a:lvl4pPr>
            <a:lvl5pPr algn="l">
              <a:defRPr sz="1125" b="0">
                <a:solidFill>
                  <a:srgbClr val="586A7B"/>
                </a:solidFill>
              </a:defRPr>
            </a:lvl5pPr>
            <a:lvl6pPr algn="l">
              <a:defRPr sz="1125" b="0">
                <a:solidFill>
                  <a:srgbClr val="586A7B"/>
                </a:solidFill>
              </a:defRPr>
            </a:lvl6pPr>
            <a:lvl7pPr algn="l">
              <a:defRPr sz="1125" b="0">
                <a:solidFill>
                  <a:srgbClr val="586A7B"/>
                </a:solidFill>
              </a:defRPr>
            </a:lvl7pPr>
            <a:lvl8pPr algn="l">
              <a:defRPr sz="1125" b="0">
                <a:solidFill>
                  <a:srgbClr val="586A7B"/>
                </a:solidFill>
              </a:defRPr>
            </a:lvl8pPr>
            <a:lvl9pPr algn="l">
              <a:defRPr sz="1125" b="0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86A7B"/>
                </a:solidFill>
              </a:defRPr>
            </a:pPr>
            <a:r>
              <a:rPr sz="1125" b="0">
                <a:solidFill>
                  <a:srgbClr val="586A7B"/>
                </a:solidFill>
              </a:rPr>
              <a:t>best holdout accuracy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E1CA0-B4DB-495E-884E-75BD2696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38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99620-ACF7-4CD6-AE03-E3EC983E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47950"/>
            <a:ext cx="1809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677A8"/>
                </a:solidFill>
              </a:defRPr>
            </a:defPPr>
            <a:lvl1pPr algn="l">
              <a:defRPr sz="2550" b="1">
                <a:solidFill>
                  <a:srgbClr val="1677A8"/>
                </a:solidFill>
              </a:defRPr>
            </a:lvl1pPr>
            <a:lvl2pPr algn="l">
              <a:defRPr sz="2550" b="1">
                <a:solidFill>
                  <a:srgbClr val="1677A8"/>
                </a:solidFill>
              </a:defRPr>
            </a:lvl2pPr>
            <a:lvl3pPr algn="l">
              <a:defRPr sz="2550" b="1">
                <a:solidFill>
                  <a:srgbClr val="1677A8"/>
                </a:solidFill>
              </a:defRPr>
            </a:lvl3pPr>
            <a:lvl4pPr algn="l">
              <a:defRPr sz="2550" b="1">
                <a:solidFill>
                  <a:srgbClr val="1677A8"/>
                </a:solidFill>
              </a:defRPr>
            </a:lvl4pPr>
            <a:lvl5pPr algn="l">
              <a:defRPr sz="2550" b="1">
                <a:solidFill>
                  <a:srgbClr val="1677A8"/>
                </a:solidFill>
              </a:defRPr>
            </a:lvl5pPr>
            <a:lvl6pPr algn="l">
              <a:defRPr sz="2550" b="1">
                <a:solidFill>
                  <a:srgbClr val="1677A8"/>
                </a:solidFill>
              </a:defRPr>
            </a:lvl6pPr>
            <a:lvl7pPr algn="l">
              <a:defRPr sz="2550" b="1">
                <a:solidFill>
                  <a:srgbClr val="1677A8"/>
                </a:solidFill>
              </a:defRPr>
            </a:lvl7pPr>
            <a:lvl8pPr algn="l">
              <a:defRPr sz="2550" b="1">
                <a:solidFill>
                  <a:srgbClr val="1677A8"/>
                </a:solidFill>
              </a:defRPr>
            </a:lvl8pPr>
            <a:lvl9pPr algn="l">
              <a:defRPr sz="25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677A8"/>
                </a:solidFill>
              </a:defRPr>
            </a:pPr>
            <a:r>
              <a:rPr sz="2550" b="1">
                <a:solidFill>
                  <a:srgbClr val="1677A8"/>
                </a:solidFill>
              </a:rPr>
              <a:t>88.0%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617830-CAC4-47BA-8206-809161AF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575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586A7B"/>
                </a:solidFill>
              </a:defRPr>
            </a:defPPr>
            <a:lvl1pPr algn="l">
              <a:defRPr sz="1125" b="0">
                <a:solidFill>
                  <a:srgbClr val="586A7B"/>
                </a:solidFill>
              </a:defRPr>
            </a:lvl1pPr>
            <a:lvl2pPr algn="l">
              <a:defRPr sz="1125" b="0">
                <a:solidFill>
                  <a:srgbClr val="586A7B"/>
                </a:solidFill>
              </a:defRPr>
            </a:lvl2pPr>
            <a:lvl3pPr algn="l">
              <a:defRPr sz="1125" b="0">
                <a:solidFill>
                  <a:srgbClr val="586A7B"/>
                </a:solidFill>
              </a:defRPr>
            </a:lvl3pPr>
            <a:lvl4pPr algn="l">
              <a:defRPr sz="1125" b="0">
                <a:solidFill>
                  <a:srgbClr val="586A7B"/>
                </a:solidFill>
              </a:defRPr>
            </a:lvl4pPr>
            <a:lvl5pPr algn="l">
              <a:defRPr sz="1125" b="0">
                <a:solidFill>
                  <a:srgbClr val="586A7B"/>
                </a:solidFill>
              </a:defRPr>
            </a:lvl5pPr>
            <a:lvl6pPr algn="l">
              <a:defRPr sz="1125" b="0">
                <a:solidFill>
                  <a:srgbClr val="586A7B"/>
                </a:solidFill>
              </a:defRPr>
            </a:lvl6pPr>
            <a:lvl7pPr algn="l">
              <a:defRPr sz="1125" b="0">
                <a:solidFill>
                  <a:srgbClr val="586A7B"/>
                </a:solidFill>
              </a:defRPr>
            </a:lvl7pPr>
            <a:lvl8pPr algn="l">
              <a:defRPr sz="1125" b="0">
                <a:solidFill>
                  <a:srgbClr val="586A7B"/>
                </a:solidFill>
              </a:defRPr>
            </a:lvl8pPr>
            <a:lvl9pPr algn="l">
              <a:defRPr sz="1125" b="0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86A7B"/>
                </a:solidFill>
              </a:defRPr>
            </a:pPr>
            <a:r>
              <a:rPr sz="1125" b="0">
                <a:solidFill>
                  <a:srgbClr val="586A7B"/>
                </a:solidFill>
              </a:rPr>
              <a:t>best holdout F1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5A4C49-6CA4-413D-92ED-02F414DF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C8253C-42A8-44B3-B4D0-0516C4B3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677A8"/>
                </a:solidFill>
              </a:defRPr>
            </a:defPPr>
            <a:lvl1pPr algn="l">
              <a:defRPr sz="1275" b="1">
                <a:solidFill>
                  <a:srgbClr val="1677A8"/>
                </a:solidFill>
              </a:defRPr>
            </a:lvl1pPr>
            <a:lvl2pPr algn="l">
              <a:defRPr sz="1275" b="1">
                <a:solidFill>
                  <a:srgbClr val="1677A8"/>
                </a:solidFill>
              </a:defRPr>
            </a:lvl2pPr>
            <a:lvl3pPr algn="l">
              <a:defRPr sz="1275" b="1">
                <a:solidFill>
                  <a:srgbClr val="1677A8"/>
                </a:solidFill>
              </a:defRPr>
            </a:lvl3pPr>
            <a:lvl4pPr algn="l">
              <a:defRPr sz="1275" b="1">
                <a:solidFill>
                  <a:srgbClr val="1677A8"/>
                </a:solidFill>
              </a:defRPr>
            </a:lvl4pPr>
            <a:lvl5pPr algn="l">
              <a:defRPr sz="1275" b="1">
                <a:solidFill>
                  <a:srgbClr val="1677A8"/>
                </a:solidFill>
              </a:defRPr>
            </a:lvl5pPr>
            <a:lvl6pPr algn="l">
              <a:defRPr sz="1275" b="1">
                <a:solidFill>
                  <a:srgbClr val="1677A8"/>
                </a:solidFill>
              </a:defRPr>
            </a:lvl6pPr>
            <a:lvl7pPr algn="l">
              <a:defRPr sz="1275" b="1">
                <a:solidFill>
                  <a:srgbClr val="1677A8"/>
                </a:solidFill>
              </a:defRPr>
            </a:lvl7pPr>
            <a:lvl8pPr algn="l">
              <a:defRPr sz="1275" b="1">
                <a:solidFill>
                  <a:srgbClr val="1677A8"/>
                </a:solidFill>
              </a:defRPr>
            </a:lvl8pPr>
            <a:lvl9pPr algn="l">
              <a:defRPr sz="12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677A8"/>
                </a:solidFill>
              </a:defRPr>
            </a:pPr>
            <a:r>
              <a:rPr sz="1275" b="1">
                <a:solidFill>
                  <a:srgbClr val="1677A8"/>
                </a:solidFill>
              </a:rPr>
              <a:t>Decision-useful takeaway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6F3B5-7738-4FE7-B261-AC1DB6CC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15263A"/>
                </a:solidFill>
              </a:defRPr>
            </a:defPPr>
            <a:lvl1pPr algn="l">
              <a:defRPr sz="1650" b="0">
                <a:solidFill>
                  <a:srgbClr val="15263A"/>
                </a:solidFill>
              </a:defRPr>
            </a:lvl1pPr>
            <a:lvl2pPr algn="l">
              <a:defRPr sz="1650" b="0">
                <a:solidFill>
                  <a:srgbClr val="15263A"/>
                </a:solidFill>
              </a:defRPr>
            </a:lvl2pPr>
            <a:lvl3pPr algn="l">
              <a:defRPr sz="1650" b="0">
                <a:solidFill>
                  <a:srgbClr val="15263A"/>
                </a:solidFill>
              </a:defRPr>
            </a:lvl3pPr>
            <a:lvl4pPr algn="l">
              <a:defRPr sz="1650" b="0">
                <a:solidFill>
                  <a:srgbClr val="15263A"/>
                </a:solidFill>
              </a:defRPr>
            </a:lvl4pPr>
            <a:lvl5pPr algn="l">
              <a:defRPr sz="1650" b="0">
                <a:solidFill>
                  <a:srgbClr val="15263A"/>
                </a:solidFill>
              </a:defRPr>
            </a:lvl5pPr>
            <a:lvl6pPr algn="l">
              <a:defRPr sz="1650" b="0">
                <a:solidFill>
                  <a:srgbClr val="15263A"/>
                </a:solidFill>
              </a:defRPr>
            </a:lvl6pPr>
            <a:lvl7pPr algn="l">
              <a:defRPr sz="1650" b="0">
                <a:solidFill>
                  <a:srgbClr val="15263A"/>
                </a:solidFill>
              </a:defRPr>
            </a:lvl7pPr>
            <a:lvl8pPr algn="l">
              <a:defRPr sz="1650" b="0">
                <a:solidFill>
                  <a:srgbClr val="15263A"/>
                </a:solidFill>
              </a:defRPr>
            </a:lvl8pPr>
            <a:lvl9pPr algn="l">
              <a:defRPr sz="165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5263A"/>
                </a:solidFill>
              </a:defRPr>
            </a:pPr>
            <a:r>
              <a:rPr sz="1650" b="0">
                <a:solidFill>
                  <a:srgbClr val="15263A"/>
                </a:solidFill>
              </a:rPr>
              <a:t>A decision tree ranked first in cross-validation and achieved 15 correct classifications out of 18 holdout launches. Treat this as a course-scale result, not an operational forecast.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7C2F77-1A84-4E4B-97F0-477A9DAF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09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86A7B"/>
                </a:solidFill>
              </a:defRPr>
            </a:defPPr>
            <a:lvl1pPr algn="l">
              <a:defRPr sz="1200" b="0">
                <a:solidFill>
                  <a:srgbClr val="586A7B"/>
                </a:solidFill>
              </a:defRPr>
            </a:lvl1pPr>
            <a:lvl2pPr algn="l">
              <a:defRPr sz="1200" b="0">
                <a:solidFill>
                  <a:srgbClr val="586A7B"/>
                </a:solidFill>
              </a:defRPr>
            </a:lvl2pPr>
            <a:lvl3pPr algn="l">
              <a:defRPr sz="1200" b="0">
                <a:solidFill>
                  <a:srgbClr val="586A7B"/>
                </a:solidFill>
              </a:defRPr>
            </a:lvl3pPr>
            <a:lvl4pPr algn="l">
              <a:defRPr sz="1200" b="0">
                <a:solidFill>
                  <a:srgbClr val="586A7B"/>
                </a:solidFill>
              </a:defRPr>
            </a:lvl4pPr>
            <a:lvl5pPr algn="l">
              <a:defRPr sz="1200" b="0">
                <a:solidFill>
                  <a:srgbClr val="586A7B"/>
                </a:solidFill>
              </a:defRPr>
            </a:lvl5pPr>
            <a:lvl6pPr algn="l">
              <a:defRPr sz="1200" b="0">
                <a:solidFill>
                  <a:srgbClr val="586A7B"/>
                </a:solidFill>
              </a:defRPr>
            </a:lvl6pPr>
            <a:lvl7pPr algn="l">
              <a:defRPr sz="1200" b="0">
                <a:solidFill>
                  <a:srgbClr val="586A7B"/>
                </a:solidFill>
              </a:defRPr>
            </a:lvl7pPr>
            <a:lvl8pPr algn="l">
              <a:defRPr sz="1200" b="0">
                <a:solidFill>
                  <a:srgbClr val="586A7B"/>
                </a:solidFill>
              </a:defRPr>
            </a:lvl8pPr>
            <a:lvl9pPr algn="l">
              <a:defRPr sz="1200" b="0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86A7B"/>
                </a:solidFill>
              </a:defRPr>
            </a:pPr>
            <a:r>
              <a:rPr sz="1200" b="0">
                <a:solidFill>
                  <a:srgbClr val="586A7B"/>
                </a:solidFill>
              </a:rPr>
              <a:t>The analysis combines API collection, historical scraping, SQL and visual EDA, Folium, Dash, and supervised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8398386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BE491-FE13-4203-9BB1-004C2570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A9242-3739-4F73-8C64-025E2C81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7A8"/>
                </a:solidFill>
              </a:defRPr>
            </a:defPPr>
            <a:lvl1pPr algn="l">
              <a:defRPr sz="975" b="1">
                <a:solidFill>
                  <a:srgbClr val="1677A8"/>
                </a:solidFill>
              </a:defRPr>
            </a:lvl1pPr>
            <a:lvl2pPr algn="l">
              <a:defRPr sz="975" b="1">
                <a:solidFill>
                  <a:srgbClr val="1677A8"/>
                </a:solidFill>
              </a:defRPr>
            </a:lvl2pPr>
            <a:lvl3pPr algn="l">
              <a:defRPr sz="975" b="1">
                <a:solidFill>
                  <a:srgbClr val="1677A8"/>
                </a:solidFill>
              </a:defRPr>
            </a:lvl3pPr>
            <a:lvl4pPr algn="l">
              <a:defRPr sz="975" b="1">
                <a:solidFill>
                  <a:srgbClr val="1677A8"/>
                </a:solidFill>
              </a:defRPr>
            </a:lvl4pPr>
            <a:lvl5pPr algn="l">
              <a:defRPr sz="975" b="1">
                <a:solidFill>
                  <a:srgbClr val="1677A8"/>
                </a:solidFill>
              </a:defRPr>
            </a:lvl5pPr>
            <a:lvl6pPr algn="l">
              <a:defRPr sz="975" b="1">
                <a:solidFill>
                  <a:srgbClr val="1677A8"/>
                </a:solidFill>
              </a:defRPr>
            </a:lvl6pPr>
            <a:lvl7pPr algn="l">
              <a:defRPr sz="975" b="1">
                <a:solidFill>
                  <a:srgbClr val="1677A8"/>
                </a:solidFill>
              </a:defRPr>
            </a:lvl7pPr>
            <a:lvl8pPr algn="l">
              <a:defRPr sz="975" b="1">
                <a:solidFill>
                  <a:srgbClr val="1677A8"/>
                </a:solidFill>
              </a:defRPr>
            </a:lvl8pPr>
            <a:lvl9pPr algn="l">
              <a:defRPr sz="9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77A8"/>
                </a:solidFill>
              </a:defRPr>
            </a:pPr>
            <a:r>
              <a:rPr sz="975" b="1">
                <a:solidFill>
                  <a:srgbClr val="1677A8"/>
                </a:solidFill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4161E-6A7E-4177-802A-9567F70A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Problem and project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11821-F9D2-4D6A-B3E0-4F7854F6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5CE85-BFDE-4FEC-AA83-2CC1039E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677A8"/>
                </a:solidFill>
              </a:defRPr>
            </a:defPPr>
            <a:lvl1pPr algn="l">
              <a:defRPr sz="750" b="1">
                <a:solidFill>
                  <a:srgbClr val="1677A8"/>
                </a:solidFill>
              </a:defRPr>
            </a:lvl1pPr>
            <a:lvl2pPr algn="l">
              <a:defRPr sz="750" b="1">
                <a:solidFill>
                  <a:srgbClr val="1677A8"/>
                </a:solidFill>
              </a:defRPr>
            </a:lvl2pPr>
            <a:lvl3pPr algn="l">
              <a:defRPr sz="750" b="1">
                <a:solidFill>
                  <a:srgbClr val="1677A8"/>
                </a:solidFill>
              </a:defRPr>
            </a:lvl3pPr>
            <a:lvl4pPr algn="l">
              <a:defRPr sz="750" b="1">
                <a:solidFill>
                  <a:srgbClr val="1677A8"/>
                </a:solidFill>
              </a:defRPr>
            </a:lvl4pPr>
            <a:lvl5pPr algn="l">
              <a:defRPr sz="750" b="1">
                <a:solidFill>
                  <a:srgbClr val="1677A8"/>
                </a:solidFill>
              </a:defRPr>
            </a:lvl5pPr>
            <a:lvl6pPr algn="l">
              <a:defRPr sz="750" b="1">
                <a:solidFill>
                  <a:srgbClr val="1677A8"/>
                </a:solidFill>
              </a:defRPr>
            </a:lvl6pPr>
            <a:lvl7pPr algn="l">
              <a:defRPr sz="750" b="1">
                <a:solidFill>
                  <a:srgbClr val="1677A8"/>
                </a:solidFill>
              </a:defRPr>
            </a:lvl7pPr>
            <a:lvl8pPr algn="l">
              <a:defRPr sz="750" b="1">
                <a:solidFill>
                  <a:srgbClr val="1677A8"/>
                </a:solidFill>
              </a:defRPr>
            </a:lvl8pPr>
            <a:lvl9pPr algn="l">
              <a:defRPr sz="7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77A8"/>
                </a:solidFill>
              </a:defRPr>
            </a:pPr>
            <a:r>
              <a:rPr sz="750" b="1">
                <a:solidFill>
                  <a:srgbClr val="1677A8"/>
                </a:solidFill>
              </a:rPr>
              <a:t>GitHub: github.com/joaoltrevisan/spacex-falcon9-capstone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BE62F-0C0B-4203-853F-277D3F0F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86A7B"/>
                </a:solidFill>
              </a:defRPr>
            </a:defPPr>
            <a:lvl1pPr algn="r">
              <a:defRPr sz="900" b="1">
                <a:solidFill>
                  <a:srgbClr val="586A7B"/>
                </a:solidFill>
              </a:defRPr>
            </a:lvl1pPr>
            <a:lvl2pPr algn="r">
              <a:defRPr sz="900" b="1">
                <a:solidFill>
                  <a:srgbClr val="586A7B"/>
                </a:solidFill>
              </a:defRPr>
            </a:lvl2pPr>
            <a:lvl3pPr algn="r">
              <a:defRPr sz="900" b="1">
                <a:solidFill>
                  <a:srgbClr val="586A7B"/>
                </a:solidFill>
              </a:defRPr>
            </a:lvl3pPr>
            <a:lvl4pPr algn="r">
              <a:defRPr sz="900" b="1">
                <a:solidFill>
                  <a:srgbClr val="586A7B"/>
                </a:solidFill>
              </a:defRPr>
            </a:lvl4pPr>
            <a:lvl5pPr algn="r">
              <a:defRPr sz="900" b="1">
                <a:solidFill>
                  <a:srgbClr val="586A7B"/>
                </a:solidFill>
              </a:defRPr>
            </a:lvl5pPr>
            <a:lvl6pPr algn="r">
              <a:defRPr sz="900" b="1">
                <a:solidFill>
                  <a:srgbClr val="586A7B"/>
                </a:solidFill>
              </a:defRPr>
            </a:lvl6pPr>
            <a:lvl7pPr algn="r">
              <a:defRPr sz="900" b="1">
                <a:solidFill>
                  <a:srgbClr val="586A7B"/>
                </a:solidFill>
              </a:defRPr>
            </a:lvl7pPr>
            <a:lvl8pPr algn="r">
              <a:defRPr sz="900" b="1">
                <a:solidFill>
                  <a:srgbClr val="586A7B"/>
                </a:solidFill>
              </a:defRPr>
            </a:lvl8pPr>
            <a:lvl9pPr algn="r">
              <a:defRPr sz="900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586A7B"/>
                </a:solidFill>
              </a:defRPr>
            </a:pPr>
            <a:r>
              <a:rPr sz="900" b="1">
                <a:solidFill>
                  <a:srgbClr val="586A7B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77914-26ED-4643-9BC6-E8C9108A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>
                <a:solidFill>
                  <a:srgbClr val="15263A"/>
                </a:solidFill>
              </a:defRPr>
            </a:defPPr>
            <a:lvl1pPr algn="l">
              <a:defRPr sz="1725" b="0">
                <a:solidFill>
                  <a:srgbClr val="15263A"/>
                </a:solidFill>
              </a:defRPr>
            </a:lvl1pPr>
            <a:lvl2pPr algn="l">
              <a:defRPr sz="1725" b="0">
                <a:solidFill>
                  <a:srgbClr val="15263A"/>
                </a:solidFill>
              </a:defRPr>
            </a:lvl2pPr>
            <a:lvl3pPr algn="l">
              <a:defRPr sz="1725" b="0">
                <a:solidFill>
                  <a:srgbClr val="15263A"/>
                </a:solidFill>
              </a:defRPr>
            </a:lvl3pPr>
            <a:lvl4pPr algn="l">
              <a:defRPr sz="1725" b="0">
                <a:solidFill>
                  <a:srgbClr val="15263A"/>
                </a:solidFill>
              </a:defRPr>
            </a:lvl4pPr>
            <a:lvl5pPr algn="l">
              <a:defRPr sz="1725" b="0">
                <a:solidFill>
                  <a:srgbClr val="15263A"/>
                </a:solidFill>
              </a:defRPr>
            </a:lvl5pPr>
            <a:lvl6pPr algn="l">
              <a:defRPr sz="1725" b="0">
                <a:solidFill>
                  <a:srgbClr val="15263A"/>
                </a:solidFill>
              </a:defRPr>
            </a:lvl6pPr>
            <a:lvl7pPr algn="l">
              <a:defRPr sz="1725" b="0">
                <a:solidFill>
                  <a:srgbClr val="15263A"/>
                </a:solidFill>
              </a:defRPr>
            </a:lvl7pPr>
            <a:lvl8pPr algn="l">
              <a:defRPr sz="1725" b="0">
                <a:solidFill>
                  <a:srgbClr val="15263A"/>
                </a:solidFill>
              </a:defRPr>
            </a:lvl8pPr>
            <a:lvl9pPr algn="l">
              <a:defRPr sz="1725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15263A"/>
                </a:solidFill>
              </a:defRPr>
            </a:pPr>
            <a:r>
              <a:rPr sz="1725" b="0">
                <a:solidFill>
                  <a:srgbClr val="15263A"/>
                </a:solidFill>
              </a:rPr>
              <a:t>SpaceX advertises Falcon 9 launches at a substantially lower cost when it can recover and reuse the first stage. The analysis asks which mission and vehicle attributes are associated with a successful landing in the course dataset.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D6063-467E-489D-AB0B-E0F7B072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677A8"/>
                </a:solidFill>
              </a:defRPr>
            </a:defPPr>
            <a:lvl1pPr algn="l">
              <a:defRPr sz="1050" b="1">
                <a:solidFill>
                  <a:srgbClr val="1677A8"/>
                </a:solidFill>
              </a:defRPr>
            </a:lvl1pPr>
            <a:lvl2pPr algn="l">
              <a:defRPr sz="1050" b="1">
                <a:solidFill>
                  <a:srgbClr val="1677A8"/>
                </a:solidFill>
              </a:defRPr>
            </a:lvl2pPr>
            <a:lvl3pPr algn="l">
              <a:defRPr sz="1050" b="1">
                <a:solidFill>
                  <a:srgbClr val="1677A8"/>
                </a:solidFill>
              </a:defRPr>
            </a:lvl3pPr>
            <a:lvl4pPr algn="l">
              <a:defRPr sz="1050" b="1">
                <a:solidFill>
                  <a:srgbClr val="1677A8"/>
                </a:solidFill>
              </a:defRPr>
            </a:lvl4pPr>
            <a:lvl5pPr algn="l">
              <a:defRPr sz="1050" b="1">
                <a:solidFill>
                  <a:srgbClr val="1677A8"/>
                </a:solidFill>
              </a:defRPr>
            </a:lvl5pPr>
            <a:lvl6pPr algn="l">
              <a:defRPr sz="1050" b="1">
                <a:solidFill>
                  <a:srgbClr val="1677A8"/>
                </a:solidFill>
              </a:defRPr>
            </a:lvl6pPr>
            <a:lvl7pPr algn="l">
              <a:defRPr sz="1050" b="1">
                <a:solidFill>
                  <a:srgbClr val="1677A8"/>
                </a:solidFill>
              </a:defRPr>
            </a:lvl7pPr>
            <a:lvl8pPr algn="l">
              <a:defRPr sz="1050" b="1">
                <a:solidFill>
                  <a:srgbClr val="1677A8"/>
                </a:solidFill>
              </a:defRPr>
            </a:lvl8pPr>
            <a:lvl9pPr algn="l">
              <a:defRPr sz="10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677A8"/>
                </a:solidFill>
              </a:defRPr>
            </a:pPr>
            <a:r>
              <a:rPr sz="1050" b="1">
                <a:solidFill>
                  <a:srgbClr val="1677A8"/>
                </a:solidFill>
              </a:rPr>
              <a:t>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2BC8A-E8CC-4E8D-BBEC-ED00027C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2B806E"/>
                </a:solidFill>
              </a:defRPr>
            </a:defPPr>
            <a:lvl1pPr algn="l">
              <a:defRPr sz="2325" b="1">
                <a:solidFill>
                  <a:srgbClr val="2B806E"/>
                </a:solidFill>
              </a:defRPr>
            </a:lvl1pPr>
            <a:lvl2pPr algn="l">
              <a:defRPr sz="2325" b="1">
                <a:solidFill>
                  <a:srgbClr val="2B806E"/>
                </a:solidFill>
              </a:defRPr>
            </a:lvl2pPr>
            <a:lvl3pPr algn="l">
              <a:defRPr sz="2325" b="1">
                <a:solidFill>
                  <a:srgbClr val="2B806E"/>
                </a:solidFill>
              </a:defRPr>
            </a:lvl3pPr>
            <a:lvl4pPr algn="l">
              <a:defRPr sz="2325" b="1">
                <a:solidFill>
                  <a:srgbClr val="2B806E"/>
                </a:solidFill>
              </a:defRPr>
            </a:lvl4pPr>
            <a:lvl5pPr algn="l">
              <a:defRPr sz="2325" b="1">
                <a:solidFill>
                  <a:srgbClr val="2B806E"/>
                </a:solidFill>
              </a:defRPr>
            </a:lvl5pPr>
            <a:lvl6pPr algn="l">
              <a:defRPr sz="2325" b="1">
                <a:solidFill>
                  <a:srgbClr val="2B806E"/>
                </a:solidFill>
              </a:defRPr>
            </a:lvl6pPr>
            <a:lvl7pPr algn="l">
              <a:defRPr sz="2325" b="1">
                <a:solidFill>
                  <a:srgbClr val="2B806E"/>
                </a:solidFill>
              </a:defRPr>
            </a:lvl7pPr>
            <a:lvl8pPr algn="l">
              <a:defRPr sz="2325" b="1">
                <a:solidFill>
                  <a:srgbClr val="2B806E"/>
                </a:solidFill>
              </a:defRPr>
            </a:lvl8pPr>
            <a:lvl9pPr algn="l">
              <a:defRPr sz="2325" b="1">
                <a:solidFill>
                  <a:srgbClr val="2B806E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B806E"/>
                </a:solidFill>
              </a:defRPr>
            </a:pPr>
            <a:r>
              <a:rPr sz="2325" b="1">
                <a:solidFill>
                  <a:srgbClr val="2B806E"/>
                </a:solidFill>
              </a:rPr>
              <a:t>Class =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3EF0F-7BCE-4499-A768-DBFA4E72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3381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86A7B"/>
                </a:solidFill>
              </a:defRPr>
            </a:defPPr>
            <a:lvl1pPr algn="l">
              <a:defRPr sz="1275" b="0">
                <a:solidFill>
                  <a:srgbClr val="586A7B"/>
                </a:solidFill>
              </a:defRPr>
            </a:lvl1pPr>
            <a:lvl2pPr algn="l">
              <a:defRPr sz="1275" b="0">
                <a:solidFill>
                  <a:srgbClr val="586A7B"/>
                </a:solidFill>
              </a:defRPr>
            </a:lvl2pPr>
            <a:lvl3pPr algn="l">
              <a:defRPr sz="1275" b="0">
                <a:solidFill>
                  <a:srgbClr val="586A7B"/>
                </a:solidFill>
              </a:defRPr>
            </a:lvl3pPr>
            <a:lvl4pPr algn="l">
              <a:defRPr sz="1275" b="0">
                <a:solidFill>
                  <a:srgbClr val="586A7B"/>
                </a:solidFill>
              </a:defRPr>
            </a:lvl4pPr>
            <a:lvl5pPr algn="l">
              <a:defRPr sz="1275" b="0">
                <a:solidFill>
                  <a:srgbClr val="586A7B"/>
                </a:solidFill>
              </a:defRPr>
            </a:lvl5pPr>
            <a:lvl6pPr algn="l">
              <a:defRPr sz="1275" b="0">
                <a:solidFill>
                  <a:srgbClr val="586A7B"/>
                </a:solidFill>
              </a:defRPr>
            </a:lvl6pPr>
            <a:lvl7pPr algn="l">
              <a:defRPr sz="1275" b="0">
                <a:solidFill>
                  <a:srgbClr val="586A7B"/>
                </a:solidFill>
              </a:defRPr>
            </a:lvl7pPr>
            <a:lvl8pPr algn="l">
              <a:defRPr sz="1275" b="0">
                <a:solidFill>
                  <a:srgbClr val="586A7B"/>
                </a:solidFill>
              </a:defRPr>
            </a:lvl8pPr>
            <a:lvl9pPr algn="l">
              <a:defRPr sz="1275" b="0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A7B"/>
                </a:solidFill>
              </a:defRPr>
            </a:pPr>
            <a:r>
              <a:rPr sz="1275" b="0">
                <a:solidFill>
                  <a:srgbClr val="586A7B"/>
                </a:solidFill>
              </a:rPr>
              <a:t>First-stage landing succeeded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FD192E-A696-47E9-9F7F-27402629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677A8"/>
                </a:solidFill>
              </a:defRPr>
            </a:defPPr>
            <a:lvl1pPr algn="l">
              <a:defRPr sz="1050" b="1">
                <a:solidFill>
                  <a:srgbClr val="1677A8"/>
                </a:solidFill>
              </a:defRPr>
            </a:lvl1pPr>
            <a:lvl2pPr algn="l">
              <a:defRPr sz="1050" b="1">
                <a:solidFill>
                  <a:srgbClr val="1677A8"/>
                </a:solidFill>
              </a:defRPr>
            </a:lvl2pPr>
            <a:lvl3pPr algn="l">
              <a:defRPr sz="1050" b="1">
                <a:solidFill>
                  <a:srgbClr val="1677A8"/>
                </a:solidFill>
              </a:defRPr>
            </a:lvl3pPr>
            <a:lvl4pPr algn="l">
              <a:defRPr sz="1050" b="1">
                <a:solidFill>
                  <a:srgbClr val="1677A8"/>
                </a:solidFill>
              </a:defRPr>
            </a:lvl4pPr>
            <a:lvl5pPr algn="l">
              <a:defRPr sz="1050" b="1">
                <a:solidFill>
                  <a:srgbClr val="1677A8"/>
                </a:solidFill>
              </a:defRPr>
            </a:lvl5pPr>
            <a:lvl6pPr algn="l">
              <a:defRPr sz="1050" b="1">
                <a:solidFill>
                  <a:srgbClr val="1677A8"/>
                </a:solidFill>
              </a:defRPr>
            </a:lvl6pPr>
            <a:lvl7pPr algn="l">
              <a:defRPr sz="1050" b="1">
                <a:solidFill>
                  <a:srgbClr val="1677A8"/>
                </a:solidFill>
              </a:defRPr>
            </a:lvl7pPr>
            <a:lvl8pPr algn="l">
              <a:defRPr sz="1050" b="1">
                <a:solidFill>
                  <a:srgbClr val="1677A8"/>
                </a:solidFill>
              </a:defRPr>
            </a:lvl8pPr>
            <a:lvl9pPr algn="l">
              <a:defRPr sz="10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677A8"/>
                </a:solidFill>
              </a:defRPr>
            </a:pPr>
            <a:r>
              <a:rPr sz="1050" b="1">
                <a:solidFill>
                  <a:srgbClr val="1677A8"/>
                </a:solidFill>
              </a:rPr>
              <a:t>PREDICTORS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0F9C4-9C63-4EBF-A22E-A383C9BE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43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80 encoded 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3CBED-CED9-45E9-BB70-AD6FB131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09975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86A7B"/>
                </a:solidFill>
              </a:defRPr>
            </a:defPPr>
            <a:lvl1pPr algn="l">
              <a:defRPr sz="1275" b="0">
                <a:solidFill>
                  <a:srgbClr val="586A7B"/>
                </a:solidFill>
              </a:defRPr>
            </a:lvl1pPr>
            <a:lvl2pPr algn="l">
              <a:defRPr sz="1275" b="0">
                <a:solidFill>
                  <a:srgbClr val="586A7B"/>
                </a:solidFill>
              </a:defRPr>
            </a:lvl2pPr>
            <a:lvl3pPr algn="l">
              <a:defRPr sz="1275" b="0">
                <a:solidFill>
                  <a:srgbClr val="586A7B"/>
                </a:solidFill>
              </a:defRPr>
            </a:lvl3pPr>
            <a:lvl4pPr algn="l">
              <a:defRPr sz="1275" b="0">
                <a:solidFill>
                  <a:srgbClr val="586A7B"/>
                </a:solidFill>
              </a:defRPr>
            </a:lvl4pPr>
            <a:lvl5pPr algn="l">
              <a:defRPr sz="1275" b="0">
                <a:solidFill>
                  <a:srgbClr val="586A7B"/>
                </a:solidFill>
              </a:defRPr>
            </a:lvl5pPr>
            <a:lvl6pPr algn="l">
              <a:defRPr sz="1275" b="0">
                <a:solidFill>
                  <a:srgbClr val="586A7B"/>
                </a:solidFill>
              </a:defRPr>
            </a:lvl6pPr>
            <a:lvl7pPr algn="l">
              <a:defRPr sz="1275" b="0">
                <a:solidFill>
                  <a:srgbClr val="586A7B"/>
                </a:solidFill>
              </a:defRPr>
            </a:lvl7pPr>
            <a:lvl8pPr algn="l">
              <a:defRPr sz="1275" b="0">
                <a:solidFill>
                  <a:srgbClr val="586A7B"/>
                </a:solidFill>
              </a:defRPr>
            </a:lvl8pPr>
            <a:lvl9pPr algn="l">
              <a:defRPr sz="1275" b="0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A7B"/>
                </a:solidFill>
              </a:defRPr>
            </a:pPr>
            <a:r>
              <a:rPr sz="1275" b="0">
                <a:solidFill>
                  <a:srgbClr val="586A7B"/>
                </a:solidFill>
              </a:rPr>
              <a:t>Payload, orbit, launch site, booster version, and mission indicators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37A7AD-C72D-4447-82D8-EA5B2D6F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677A8"/>
                </a:solidFill>
              </a:defRPr>
            </a:defPPr>
            <a:lvl1pPr algn="l">
              <a:defRPr sz="1050" b="1">
                <a:solidFill>
                  <a:srgbClr val="1677A8"/>
                </a:solidFill>
              </a:defRPr>
            </a:lvl1pPr>
            <a:lvl2pPr algn="l">
              <a:defRPr sz="1050" b="1">
                <a:solidFill>
                  <a:srgbClr val="1677A8"/>
                </a:solidFill>
              </a:defRPr>
            </a:lvl2pPr>
            <a:lvl3pPr algn="l">
              <a:defRPr sz="1050" b="1">
                <a:solidFill>
                  <a:srgbClr val="1677A8"/>
                </a:solidFill>
              </a:defRPr>
            </a:lvl3pPr>
            <a:lvl4pPr algn="l">
              <a:defRPr sz="1050" b="1">
                <a:solidFill>
                  <a:srgbClr val="1677A8"/>
                </a:solidFill>
              </a:defRPr>
            </a:lvl4pPr>
            <a:lvl5pPr algn="l">
              <a:defRPr sz="1050" b="1">
                <a:solidFill>
                  <a:srgbClr val="1677A8"/>
                </a:solidFill>
              </a:defRPr>
            </a:lvl5pPr>
            <a:lvl6pPr algn="l">
              <a:defRPr sz="1050" b="1">
                <a:solidFill>
                  <a:srgbClr val="1677A8"/>
                </a:solidFill>
              </a:defRPr>
            </a:lvl6pPr>
            <a:lvl7pPr algn="l">
              <a:defRPr sz="1050" b="1">
                <a:solidFill>
                  <a:srgbClr val="1677A8"/>
                </a:solidFill>
              </a:defRPr>
            </a:lvl7pPr>
            <a:lvl8pPr algn="l">
              <a:defRPr sz="1050" b="1">
                <a:solidFill>
                  <a:srgbClr val="1677A8"/>
                </a:solidFill>
              </a:defRPr>
            </a:lvl8pPr>
            <a:lvl9pPr algn="l">
              <a:defRPr sz="10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677A8"/>
                </a:solidFill>
              </a:defRPr>
            </a:pPr>
            <a:r>
              <a:rPr sz="1050" b="1">
                <a:solidFill>
                  <a:srgbClr val="1677A8"/>
                </a:solidFill>
              </a:rPr>
              <a:t>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7D862-432F-41F5-A267-5637049C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5263A"/>
                </a:solidFill>
              </a:defRPr>
            </a:defPPr>
            <a:lvl1pPr algn="l">
              <a:defRPr sz="1575" b="0">
                <a:solidFill>
                  <a:srgbClr val="15263A"/>
                </a:solidFill>
              </a:defRPr>
            </a:lvl1pPr>
            <a:lvl2pPr algn="l">
              <a:defRPr sz="1575" b="0">
                <a:solidFill>
                  <a:srgbClr val="15263A"/>
                </a:solidFill>
              </a:defRPr>
            </a:lvl2pPr>
            <a:lvl3pPr algn="l">
              <a:defRPr sz="1575" b="0">
                <a:solidFill>
                  <a:srgbClr val="15263A"/>
                </a:solidFill>
              </a:defRPr>
            </a:lvl3pPr>
            <a:lvl4pPr algn="l">
              <a:defRPr sz="1575" b="0">
                <a:solidFill>
                  <a:srgbClr val="15263A"/>
                </a:solidFill>
              </a:defRPr>
            </a:lvl4pPr>
            <a:lvl5pPr algn="l">
              <a:defRPr sz="1575" b="0">
                <a:solidFill>
                  <a:srgbClr val="15263A"/>
                </a:solidFill>
              </a:defRPr>
            </a:lvl5pPr>
            <a:lvl6pPr algn="l">
              <a:defRPr sz="1575" b="0">
                <a:solidFill>
                  <a:srgbClr val="15263A"/>
                </a:solidFill>
              </a:defRPr>
            </a:lvl6pPr>
            <a:lvl7pPr algn="l">
              <a:defRPr sz="1575" b="0">
                <a:solidFill>
                  <a:srgbClr val="15263A"/>
                </a:solidFill>
              </a:defRPr>
            </a:lvl7pPr>
            <a:lvl8pPr algn="l">
              <a:defRPr sz="1575" b="0">
                <a:solidFill>
                  <a:srgbClr val="15263A"/>
                </a:solidFill>
              </a:defRPr>
            </a:lvl8pPr>
            <a:lvl9pPr algn="l">
              <a:defRPr sz="1575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5263A"/>
                </a:solidFill>
              </a:defRPr>
            </a:pPr>
            <a:r>
              <a:rPr sz="1575" b="0">
                <a:solidFill>
                  <a:srgbClr val="15263A"/>
                </a:solidFill>
              </a:rPr>
              <a:t>Descriptive analysis and a held-out classification exercise. Observed differences do not establish causal effects.</a:t>
            </a:r>
          </a:p>
        </p:txBody>
      </p:sp>
    </p:spTree>
    <p:extLst>
      <p:ext uri="{BB962C8B-B14F-4D97-AF65-F5344CB8AC3E}">
        <p14:creationId xmlns:p14="http://schemas.microsoft.com/office/powerpoint/2010/main" val="11873032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6B261-E6FF-47D7-AAFB-C17FD1CC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F3101-49A6-4253-96A5-AF74AAB4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7A8"/>
                </a:solidFill>
              </a:defRPr>
            </a:defPPr>
            <a:lvl1pPr algn="l">
              <a:defRPr sz="975" b="1">
                <a:solidFill>
                  <a:srgbClr val="1677A8"/>
                </a:solidFill>
              </a:defRPr>
            </a:lvl1pPr>
            <a:lvl2pPr algn="l">
              <a:defRPr sz="975" b="1">
                <a:solidFill>
                  <a:srgbClr val="1677A8"/>
                </a:solidFill>
              </a:defRPr>
            </a:lvl2pPr>
            <a:lvl3pPr algn="l">
              <a:defRPr sz="975" b="1">
                <a:solidFill>
                  <a:srgbClr val="1677A8"/>
                </a:solidFill>
              </a:defRPr>
            </a:lvl3pPr>
            <a:lvl4pPr algn="l">
              <a:defRPr sz="975" b="1">
                <a:solidFill>
                  <a:srgbClr val="1677A8"/>
                </a:solidFill>
              </a:defRPr>
            </a:lvl4pPr>
            <a:lvl5pPr algn="l">
              <a:defRPr sz="975" b="1">
                <a:solidFill>
                  <a:srgbClr val="1677A8"/>
                </a:solidFill>
              </a:defRPr>
            </a:lvl5pPr>
            <a:lvl6pPr algn="l">
              <a:defRPr sz="975" b="1">
                <a:solidFill>
                  <a:srgbClr val="1677A8"/>
                </a:solidFill>
              </a:defRPr>
            </a:lvl6pPr>
            <a:lvl7pPr algn="l">
              <a:defRPr sz="975" b="1">
                <a:solidFill>
                  <a:srgbClr val="1677A8"/>
                </a:solidFill>
              </a:defRPr>
            </a:lvl7pPr>
            <a:lvl8pPr algn="l">
              <a:defRPr sz="975" b="1">
                <a:solidFill>
                  <a:srgbClr val="1677A8"/>
                </a:solidFill>
              </a:defRPr>
            </a:lvl8pPr>
            <a:lvl9pPr algn="l">
              <a:defRPr sz="9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77A8"/>
                </a:solidFill>
              </a:defRPr>
            </a:pPr>
            <a:r>
              <a:rPr sz="975" b="1">
                <a:solidFill>
                  <a:srgbClr val="1677A8"/>
                </a:solidFill>
              </a:rPr>
              <a:t>API DATA COLLECTION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69559-6EA4-48DE-A96D-D5D0DA2F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API collection: retrieve and normalize launch records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D4EF5-5E5D-458B-A39A-FC83B73B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ACBB8-A283-44BF-80C3-39150419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677A8"/>
                </a:solidFill>
              </a:defRPr>
            </a:defPPr>
            <a:lvl1pPr algn="l">
              <a:defRPr sz="750" b="1">
                <a:solidFill>
                  <a:srgbClr val="1677A8"/>
                </a:solidFill>
              </a:defRPr>
            </a:lvl1pPr>
            <a:lvl2pPr algn="l">
              <a:defRPr sz="750" b="1">
                <a:solidFill>
                  <a:srgbClr val="1677A8"/>
                </a:solidFill>
              </a:defRPr>
            </a:lvl2pPr>
            <a:lvl3pPr algn="l">
              <a:defRPr sz="750" b="1">
                <a:solidFill>
                  <a:srgbClr val="1677A8"/>
                </a:solidFill>
              </a:defRPr>
            </a:lvl3pPr>
            <a:lvl4pPr algn="l">
              <a:defRPr sz="750" b="1">
                <a:solidFill>
                  <a:srgbClr val="1677A8"/>
                </a:solidFill>
              </a:defRPr>
            </a:lvl4pPr>
            <a:lvl5pPr algn="l">
              <a:defRPr sz="750" b="1">
                <a:solidFill>
                  <a:srgbClr val="1677A8"/>
                </a:solidFill>
              </a:defRPr>
            </a:lvl5pPr>
            <a:lvl6pPr algn="l">
              <a:defRPr sz="750" b="1">
                <a:solidFill>
                  <a:srgbClr val="1677A8"/>
                </a:solidFill>
              </a:defRPr>
            </a:lvl6pPr>
            <a:lvl7pPr algn="l">
              <a:defRPr sz="750" b="1">
                <a:solidFill>
                  <a:srgbClr val="1677A8"/>
                </a:solidFill>
              </a:defRPr>
            </a:lvl7pPr>
            <a:lvl8pPr algn="l">
              <a:defRPr sz="750" b="1">
                <a:solidFill>
                  <a:srgbClr val="1677A8"/>
                </a:solidFill>
              </a:defRPr>
            </a:lvl8pPr>
            <a:lvl9pPr algn="l">
              <a:defRPr sz="7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77A8"/>
                </a:solidFill>
              </a:defRPr>
            </a:pPr>
            <a:r>
              <a:rPr sz="750" b="1">
                <a:solidFill>
                  <a:srgbClr val="1677A8"/>
                </a:solidFill>
              </a:rPr>
              <a:t>GitHub: github.com/joaoltrevisan/spacex-falcon9-capstone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39979D-798C-4503-BEF0-0851C308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86A7B"/>
                </a:solidFill>
              </a:defRPr>
            </a:defPPr>
            <a:lvl1pPr algn="r">
              <a:defRPr sz="900" b="1">
                <a:solidFill>
                  <a:srgbClr val="586A7B"/>
                </a:solidFill>
              </a:defRPr>
            </a:lvl1pPr>
            <a:lvl2pPr algn="r">
              <a:defRPr sz="900" b="1">
                <a:solidFill>
                  <a:srgbClr val="586A7B"/>
                </a:solidFill>
              </a:defRPr>
            </a:lvl2pPr>
            <a:lvl3pPr algn="r">
              <a:defRPr sz="900" b="1">
                <a:solidFill>
                  <a:srgbClr val="586A7B"/>
                </a:solidFill>
              </a:defRPr>
            </a:lvl3pPr>
            <a:lvl4pPr algn="r">
              <a:defRPr sz="900" b="1">
                <a:solidFill>
                  <a:srgbClr val="586A7B"/>
                </a:solidFill>
              </a:defRPr>
            </a:lvl4pPr>
            <a:lvl5pPr algn="r">
              <a:defRPr sz="900" b="1">
                <a:solidFill>
                  <a:srgbClr val="586A7B"/>
                </a:solidFill>
              </a:defRPr>
            </a:lvl5pPr>
            <a:lvl6pPr algn="r">
              <a:defRPr sz="900" b="1">
                <a:solidFill>
                  <a:srgbClr val="586A7B"/>
                </a:solidFill>
              </a:defRPr>
            </a:lvl6pPr>
            <a:lvl7pPr algn="r">
              <a:defRPr sz="900" b="1">
                <a:solidFill>
                  <a:srgbClr val="586A7B"/>
                </a:solidFill>
              </a:defRPr>
            </a:lvl7pPr>
            <a:lvl8pPr algn="r">
              <a:defRPr sz="900" b="1">
                <a:solidFill>
                  <a:srgbClr val="586A7B"/>
                </a:solidFill>
              </a:defRPr>
            </a:lvl8pPr>
            <a:lvl9pPr algn="r">
              <a:defRPr sz="900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586A7B"/>
                </a:solidFill>
              </a:defRPr>
            </a:pPr>
            <a:r>
              <a:rPr sz="900" b="1">
                <a:solidFill>
                  <a:srgbClr val="586A7B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E09C00-5B83-4EFE-A914-9208BA0C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04B04-5F17-46DF-B1D7-4F5656DC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14475"/>
            <a:ext cx="10077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Request archived SpaceX launch JSON supplied by IBM Skills Network; retain raw response for reproducibility.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BC3C9-1F0A-490A-A752-D9101891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A793B-3C34-4E1D-9862-85C5ABE1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10077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Parse each launch and its first-stage core; extract date, flight, rocket, payload, launchpad and landing fields.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59E3D-E1E5-4893-9100-9E2F72D0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D12FA-E86A-4623-8244-96EF6335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10077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Normalize nested JSON to a 107-row, 18-column CSV; preserve raw payload and failure JSON for traceability.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5031C-BADA-491F-90C0-83B2E3A9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77A8"/>
                </a:solidFill>
              </a:defRPr>
            </a:defPPr>
            <a:lvl1pPr algn="l">
              <a:defRPr sz="1350" b="1">
                <a:solidFill>
                  <a:srgbClr val="1677A8"/>
                </a:solidFill>
              </a:defRPr>
            </a:lvl1pPr>
            <a:lvl2pPr algn="l">
              <a:defRPr sz="1350" b="1">
                <a:solidFill>
                  <a:srgbClr val="1677A8"/>
                </a:solidFill>
              </a:defRPr>
            </a:lvl2pPr>
            <a:lvl3pPr algn="l">
              <a:defRPr sz="1350" b="1">
                <a:solidFill>
                  <a:srgbClr val="1677A8"/>
                </a:solidFill>
              </a:defRPr>
            </a:lvl3pPr>
            <a:lvl4pPr algn="l">
              <a:defRPr sz="1350" b="1">
                <a:solidFill>
                  <a:srgbClr val="1677A8"/>
                </a:solidFill>
              </a:defRPr>
            </a:lvl4pPr>
            <a:lvl5pPr algn="l">
              <a:defRPr sz="1350" b="1">
                <a:solidFill>
                  <a:srgbClr val="1677A8"/>
                </a:solidFill>
              </a:defRPr>
            </a:lvl5pPr>
            <a:lvl6pPr algn="l">
              <a:defRPr sz="1350" b="1">
                <a:solidFill>
                  <a:srgbClr val="1677A8"/>
                </a:solidFill>
              </a:defRPr>
            </a:lvl6pPr>
            <a:lvl7pPr algn="l">
              <a:defRPr sz="1350" b="1">
                <a:solidFill>
                  <a:srgbClr val="1677A8"/>
                </a:solidFill>
              </a:defRPr>
            </a:lvl7pPr>
            <a:lvl8pPr algn="l">
              <a:defRPr sz="1350" b="1">
                <a:solidFill>
                  <a:srgbClr val="1677A8"/>
                </a:solidFill>
              </a:defRPr>
            </a:lvl8pPr>
            <a:lvl9pPr algn="l">
              <a:defRPr sz="13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677A8"/>
                </a:solidFill>
              </a:defRPr>
            </a:pPr>
            <a:r>
              <a:rPr sz="1350" b="1">
                <a:solidFill>
                  <a:srgbClr val="1677A8"/>
                </a:solidFill>
              </a:rPr>
              <a:t>FLOW: IBM course archive → parse JSON + nested core → normalize selected fields → CSV (107 × 18)</a:t>
            </a:r>
          </a:p>
        </p:txBody>
      </p:sp>
    </p:spTree>
    <p:extLst>
      <p:ext uri="{BB962C8B-B14F-4D97-AF65-F5344CB8AC3E}">
        <p14:creationId xmlns:p14="http://schemas.microsoft.com/office/powerpoint/2010/main" val="17525779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716869-C29E-4926-B958-FCA3671C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1A420-BC00-4A5B-B42E-5CC3EAE1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7A8"/>
                </a:solidFill>
              </a:defRPr>
            </a:defPPr>
            <a:lvl1pPr algn="l">
              <a:defRPr sz="975" b="1">
                <a:solidFill>
                  <a:srgbClr val="1677A8"/>
                </a:solidFill>
              </a:defRPr>
            </a:lvl1pPr>
            <a:lvl2pPr algn="l">
              <a:defRPr sz="975" b="1">
                <a:solidFill>
                  <a:srgbClr val="1677A8"/>
                </a:solidFill>
              </a:defRPr>
            </a:lvl2pPr>
            <a:lvl3pPr algn="l">
              <a:defRPr sz="975" b="1">
                <a:solidFill>
                  <a:srgbClr val="1677A8"/>
                </a:solidFill>
              </a:defRPr>
            </a:lvl3pPr>
            <a:lvl4pPr algn="l">
              <a:defRPr sz="975" b="1">
                <a:solidFill>
                  <a:srgbClr val="1677A8"/>
                </a:solidFill>
              </a:defRPr>
            </a:lvl4pPr>
            <a:lvl5pPr algn="l">
              <a:defRPr sz="975" b="1">
                <a:solidFill>
                  <a:srgbClr val="1677A8"/>
                </a:solidFill>
              </a:defRPr>
            </a:lvl5pPr>
            <a:lvl6pPr algn="l">
              <a:defRPr sz="975" b="1">
                <a:solidFill>
                  <a:srgbClr val="1677A8"/>
                </a:solidFill>
              </a:defRPr>
            </a:lvl6pPr>
            <a:lvl7pPr algn="l">
              <a:defRPr sz="975" b="1">
                <a:solidFill>
                  <a:srgbClr val="1677A8"/>
                </a:solidFill>
              </a:defRPr>
            </a:lvl7pPr>
            <a:lvl8pPr algn="l">
              <a:defRPr sz="975" b="1">
                <a:solidFill>
                  <a:srgbClr val="1677A8"/>
                </a:solidFill>
              </a:defRPr>
            </a:lvl8pPr>
            <a:lvl9pPr algn="l">
              <a:defRPr sz="9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77A8"/>
                </a:solidFill>
              </a:defRPr>
            </a:pPr>
            <a:r>
              <a:rPr sz="975" b="1">
                <a:solidFill>
                  <a:srgbClr val="1677A8"/>
                </a:solidFill>
              </a:rPr>
              <a:t>WEB SCRAPING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9398D-ED8E-4D43-8C42-EB0C75B0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Web scraping: extract dated launch-history tables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EA502-BCA6-4370-A760-51F11D68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4ED9B-322C-4605-AF48-71A9121B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677A8"/>
                </a:solidFill>
              </a:defRPr>
            </a:defPPr>
            <a:lvl1pPr algn="l">
              <a:defRPr sz="750" b="1">
                <a:solidFill>
                  <a:srgbClr val="1677A8"/>
                </a:solidFill>
              </a:defRPr>
            </a:lvl1pPr>
            <a:lvl2pPr algn="l">
              <a:defRPr sz="750" b="1">
                <a:solidFill>
                  <a:srgbClr val="1677A8"/>
                </a:solidFill>
              </a:defRPr>
            </a:lvl2pPr>
            <a:lvl3pPr algn="l">
              <a:defRPr sz="750" b="1">
                <a:solidFill>
                  <a:srgbClr val="1677A8"/>
                </a:solidFill>
              </a:defRPr>
            </a:lvl3pPr>
            <a:lvl4pPr algn="l">
              <a:defRPr sz="750" b="1">
                <a:solidFill>
                  <a:srgbClr val="1677A8"/>
                </a:solidFill>
              </a:defRPr>
            </a:lvl4pPr>
            <a:lvl5pPr algn="l">
              <a:defRPr sz="750" b="1">
                <a:solidFill>
                  <a:srgbClr val="1677A8"/>
                </a:solidFill>
              </a:defRPr>
            </a:lvl5pPr>
            <a:lvl6pPr algn="l">
              <a:defRPr sz="750" b="1">
                <a:solidFill>
                  <a:srgbClr val="1677A8"/>
                </a:solidFill>
              </a:defRPr>
            </a:lvl6pPr>
            <a:lvl7pPr algn="l">
              <a:defRPr sz="750" b="1">
                <a:solidFill>
                  <a:srgbClr val="1677A8"/>
                </a:solidFill>
              </a:defRPr>
            </a:lvl7pPr>
            <a:lvl8pPr algn="l">
              <a:defRPr sz="750" b="1">
                <a:solidFill>
                  <a:srgbClr val="1677A8"/>
                </a:solidFill>
              </a:defRPr>
            </a:lvl8pPr>
            <a:lvl9pPr algn="l">
              <a:defRPr sz="7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77A8"/>
                </a:solidFill>
              </a:defRPr>
            </a:pPr>
            <a:r>
              <a:rPr sz="750" b="1">
                <a:solidFill>
                  <a:srgbClr val="1677A8"/>
                </a:solidFill>
              </a:rPr>
              <a:t>GitHub: github.com/joaoltrevisan/spacex-falcon9-capstone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6F537-C4C1-46E5-8EB9-10B5EAC0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86A7B"/>
                </a:solidFill>
              </a:defRPr>
            </a:defPPr>
            <a:lvl1pPr algn="r">
              <a:defRPr sz="900" b="1">
                <a:solidFill>
                  <a:srgbClr val="586A7B"/>
                </a:solidFill>
              </a:defRPr>
            </a:lvl1pPr>
            <a:lvl2pPr algn="r">
              <a:defRPr sz="900" b="1">
                <a:solidFill>
                  <a:srgbClr val="586A7B"/>
                </a:solidFill>
              </a:defRPr>
            </a:lvl2pPr>
            <a:lvl3pPr algn="r">
              <a:defRPr sz="900" b="1">
                <a:solidFill>
                  <a:srgbClr val="586A7B"/>
                </a:solidFill>
              </a:defRPr>
            </a:lvl3pPr>
            <a:lvl4pPr algn="r">
              <a:defRPr sz="900" b="1">
                <a:solidFill>
                  <a:srgbClr val="586A7B"/>
                </a:solidFill>
              </a:defRPr>
            </a:lvl4pPr>
            <a:lvl5pPr algn="r">
              <a:defRPr sz="900" b="1">
                <a:solidFill>
                  <a:srgbClr val="586A7B"/>
                </a:solidFill>
              </a:defRPr>
            </a:lvl5pPr>
            <a:lvl6pPr algn="r">
              <a:defRPr sz="900" b="1">
                <a:solidFill>
                  <a:srgbClr val="586A7B"/>
                </a:solidFill>
              </a:defRPr>
            </a:lvl6pPr>
            <a:lvl7pPr algn="r">
              <a:defRPr sz="900" b="1">
                <a:solidFill>
                  <a:srgbClr val="586A7B"/>
                </a:solidFill>
              </a:defRPr>
            </a:lvl7pPr>
            <a:lvl8pPr algn="r">
              <a:defRPr sz="900" b="1">
                <a:solidFill>
                  <a:srgbClr val="586A7B"/>
                </a:solidFill>
              </a:defRPr>
            </a:lvl8pPr>
            <a:lvl9pPr algn="r">
              <a:defRPr sz="900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586A7B"/>
                </a:solidFill>
              </a:defRPr>
            </a:pPr>
            <a:r>
              <a:rPr sz="900" b="1">
                <a:solidFill>
                  <a:srgbClr val="586A7B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448AF-6E93-4164-8ED2-FA329731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B7A5C-94AB-4929-893C-B1A7947F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95425"/>
            <a:ext cx="10077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Use a fixed Wikipedia revision (987426997, 6 Nov 2020) so the source is stable and auditable.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61CF56-8469-471A-9525-3B395076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69F24-93C4-4159-B05E-B26B04FA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10077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Read page tables, identify flight-number and date columns, remove citation marks, then parse dates as UTC.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29317-D23E-4E02-8661-7BF3B7E2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15472-FA49-4463-BBD3-F1203216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76575"/>
            <a:ext cx="10077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Keep numbered launches from 4 Jun 2010 through 5 Nov 2020; drop invalid dates and duplicate flight numbers.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2DB072-543E-4F67-9385-1ABC06C2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46144B-7642-4222-92C1-708C2A40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10077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Result: 97 historical launch rows, saved with the source-revision label in the output CSV.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C77C9-B5DF-4479-998B-3C66A0EF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677A8"/>
                </a:solidFill>
              </a:defRPr>
            </a:defPPr>
            <a:lvl1pPr algn="l">
              <a:defRPr sz="1050" b="1">
                <a:solidFill>
                  <a:srgbClr val="1677A8"/>
                </a:solidFill>
              </a:defRPr>
            </a:lvl1pPr>
            <a:lvl2pPr algn="l">
              <a:defRPr sz="1050" b="1">
                <a:solidFill>
                  <a:srgbClr val="1677A8"/>
                </a:solidFill>
              </a:defRPr>
            </a:lvl2pPr>
            <a:lvl3pPr algn="l">
              <a:defRPr sz="1050" b="1">
                <a:solidFill>
                  <a:srgbClr val="1677A8"/>
                </a:solidFill>
              </a:defRPr>
            </a:lvl3pPr>
            <a:lvl4pPr algn="l">
              <a:defRPr sz="1050" b="1">
                <a:solidFill>
                  <a:srgbClr val="1677A8"/>
                </a:solidFill>
              </a:defRPr>
            </a:lvl4pPr>
            <a:lvl5pPr algn="l">
              <a:defRPr sz="1050" b="1">
                <a:solidFill>
                  <a:srgbClr val="1677A8"/>
                </a:solidFill>
              </a:defRPr>
            </a:lvl5pPr>
            <a:lvl6pPr algn="l">
              <a:defRPr sz="1050" b="1">
                <a:solidFill>
                  <a:srgbClr val="1677A8"/>
                </a:solidFill>
              </a:defRPr>
            </a:lvl6pPr>
            <a:lvl7pPr algn="l">
              <a:defRPr sz="1050" b="1">
                <a:solidFill>
                  <a:srgbClr val="1677A8"/>
                </a:solidFill>
              </a:defRPr>
            </a:lvl7pPr>
            <a:lvl8pPr algn="l">
              <a:defRPr sz="1050" b="1">
                <a:solidFill>
                  <a:srgbClr val="1677A8"/>
                </a:solidFill>
              </a:defRPr>
            </a:lvl8pPr>
            <a:lvl9pPr algn="l">
              <a:defRPr sz="10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677A8"/>
                </a:solidFill>
              </a:defRPr>
            </a:pPr>
            <a:r>
              <a:rPr sz="1050" b="1">
                <a:solidFill>
                  <a:srgbClr val="1677A8"/>
                </a:solidFill>
              </a:rPr>
              <a:t>SCRAPE 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93609-AAF2-4AB7-B8AA-D1010914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5263A"/>
                </a:solidFill>
              </a:defRPr>
            </a:defPPr>
            <a:lvl1pPr algn="l">
              <a:defRPr sz="1500" b="1">
                <a:solidFill>
                  <a:srgbClr val="15263A"/>
                </a:solidFill>
              </a:defRPr>
            </a:lvl1pPr>
            <a:lvl2pPr algn="l">
              <a:defRPr sz="1500" b="1">
                <a:solidFill>
                  <a:srgbClr val="15263A"/>
                </a:solidFill>
              </a:defRPr>
            </a:lvl2pPr>
            <a:lvl3pPr algn="l">
              <a:defRPr sz="1500" b="1">
                <a:solidFill>
                  <a:srgbClr val="15263A"/>
                </a:solidFill>
              </a:defRPr>
            </a:lvl3pPr>
            <a:lvl4pPr algn="l">
              <a:defRPr sz="1500" b="1">
                <a:solidFill>
                  <a:srgbClr val="15263A"/>
                </a:solidFill>
              </a:defRPr>
            </a:lvl4pPr>
            <a:lvl5pPr algn="l">
              <a:defRPr sz="1500" b="1">
                <a:solidFill>
                  <a:srgbClr val="15263A"/>
                </a:solidFill>
              </a:defRPr>
            </a:lvl5pPr>
            <a:lvl6pPr algn="l">
              <a:defRPr sz="1500" b="1">
                <a:solidFill>
                  <a:srgbClr val="15263A"/>
                </a:solidFill>
              </a:defRPr>
            </a:lvl6pPr>
            <a:lvl7pPr algn="l">
              <a:defRPr sz="1500" b="1">
                <a:solidFill>
                  <a:srgbClr val="15263A"/>
                </a:solidFill>
              </a:defRPr>
            </a:lvl7pPr>
            <a:lvl8pPr algn="l">
              <a:defRPr sz="1500" b="1">
                <a:solidFill>
                  <a:srgbClr val="15263A"/>
                </a:solidFill>
              </a:defRPr>
            </a:lvl8pPr>
            <a:lvl9pPr algn="l">
              <a:defRPr sz="1500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5263A"/>
                </a:solidFill>
              </a:defRPr>
            </a:pPr>
            <a:r>
              <a:rPr sz="1500" b="1">
                <a:solidFill>
                  <a:srgbClr val="15263A"/>
                </a:solidFill>
              </a:rPr>
              <a:t>Pinned revision → pandas.read_html → identify + parse → date filter + deduplicate → CSV</a:t>
            </a:r>
          </a:p>
        </p:txBody>
      </p:sp>
    </p:spTree>
    <p:extLst>
      <p:ext uri="{BB962C8B-B14F-4D97-AF65-F5344CB8AC3E}">
        <p14:creationId xmlns:p14="http://schemas.microsoft.com/office/powerpoint/2010/main" val="3184869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FF4A4-ED67-450D-9F87-0C635118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B1AC6-7C32-4CB1-8D35-6FAA2DD3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7A8"/>
                </a:solidFill>
              </a:defRPr>
            </a:defPPr>
            <a:lvl1pPr algn="l">
              <a:defRPr sz="975" b="1">
                <a:solidFill>
                  <a:srgbClr val="1677A8"/>
                </a:solidFill>
              </a:defRPr>
            </a:lvl1pPr>
            <a:lvl2pPr algn="l">
              <a:defRPr sz="975" b="1">
                <a:solidFill>
                  <a:srgbClr val="1677A8"/>
                </a:solidFill>
              </a:defRPr>
            </a:lvl2pPr>
            <a:lvl3pPr algn="l">
              <a:defRPr sz="975" b="1">
                <a:solidFill>
                  <a:srgbClr val="1677A8"/>
                </a:solidFill>
              </a:defRPr>
            </a:lvl3pPr>
            <a:lvl4pPr algn="l">
              <a:defRPr sz="975" b="1">
                <a:solidFill>
                  <a:srgbClr val="1677A8"/>
                </a:solidFill>
              </a:defRPr>
            </a:lvl4pPr>
            <a:lvl5pPr algn="l">
              <a:defRPr sz="975" b="1">
                <a:solidFill>
                  <a:srgbClr val="1677A8"/>
                </a:solidFill>
              </a:defRPr>
            </a:lvl5pPr>
            <a:lvl6pPr algn="l">
              <a:defRPr sz="975" b="1">
                <a:solidFill>
                  <a:srgbClr val="1677A8"/>
                </a:solidFill>
              </a:defRPr>
            </a:lvl6pPr>
            <a:lvl7pPr algn="l">
              <a:defRPr sz="975" b="1">
                <a:solidFill>
                  <a:srgbClr val="1677A8"/>
                </a:solidFill>
              </a:defRPr>
            </a:lvl7pPr>
            <a:lvl8pPr algn="l">
              <a:defRPr sz="975" b="1">
                <a:solidFill>
                  <a:srgbClr val="1677A8"/>
                </a:solidFill>
              </a:defRPr>
            </a:lvl8pPr>
            <a:lvl9pPr algn="l">
              <a:defRPr sz="9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77A8"/>
                </a:solidFill>
              </a:defRPr>
            </a:pPr>
            <a:r>
              <a:rPr sz="975" b="1">
                <a:solidFill>
                  <a:srgbClr val="1677A8"/>
                </a:solidFill>
              </a:rPr>
              <a:t>DATA WRANGLING METHODOLOGY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0B1EA-C7DB-4F8B-86DA-744E90EE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Wrangling aligns features, labels and launch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D6427-4E58-44EF-A534-84DAC004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406AB-646D-45EA-8BD9-2A790675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677A8"/>
                </a:solidFill>
              </a:defRPr>
            </a:defPPr>
            <a:lvl1pPr algn="l">
              <a:defRPr sz="750" b="1">
                <a:solidFill>
                  <a:srgbClr val="1677A8"/>
                </a:solidFill>
              </a:defRPr>
            </a:lvl1pPr>
            <a:lvl2pPr algn="l">
              <a:defRPr sz="750" b="1">
                <a:solidFill>
                  <a:srgbClr val="1677A8"/>
                </a:solidFill>
              </a:defRPr>
            </a:lvl2pPr>
            <a:lvl3pPr algn="l">
              <a:defRPr sz="750" b="1">
                <a:solidFill>
                  <a:srgbClr val="1677A8"/>
                </a:solidFill>
              </a:defRPr>
            </a:lvl3pPr>
            <a:lvl4pPr algn="l">
              <a:defRPr sz="750" b="1">
                <a:solidFill>
                  <a:srgbClr val="1677A8"/>
                </a:solidFill>
              </a:defRPr>
            </a:lvl4pPr>
            <a:lvl5pPr algn="l">
              <a:defRPr sz="750" b="1">
                <a:solidFill>
                  <a:srgbClr val="1677A8"/>
                </a:solidFill>
              </a:defRPr>
            </a:lvl5pPr>
            <a:lvl6pPr algn="l">
              <a:defRPr sz="750" b="1">
                <a:solidFill>
                  <a:srgbClr val="1677A8"/>
                </a:solidFill>
              </a:defRPr>
            </a:lvl6pPr>
            <a:lvl7pPr algn="l">
              <a:defRPr sz="750" b="1">
                <a:solidFill>
                  <a:srgbClr val="1677A8"/>
                </a:solidFill>
              </a:defRPr>
            </a:lvl7pPr>
            <a:lvl8pPr algn="l">
              <a:defRPr sz="750" b="1">
                <a:solidFill>
                  <a:srgbClr val="1677A8"/>
                </a:solidFill>
              </a:defRPr>
            </a:lvl8pPr>
            <a:lvl9pPr algn="l">
              <a:defRPr sz="7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77A8"/>
                </a:solidFill>
              </a:defRPr>
            </a:pPr>
            <a:r>
              <a:rPr sz="750" b="1">
                <a:solidFill>
                  <a:srgbClr val="1677A8"/>
                </a:solidFill>
              </a:rPr>
              <a:t>GitHub: github.com/joaoltrevisan/spacex-falcon9-capstone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8D5599-0D26-414A-8285-EF66BCAD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86A7B"/>
                </a:solidFill>
              </a:defRPr>
            </a:defPPr>
            <a:lvl1pPr algn="r">
              <a:defRPr sz="900" b="1">
                <a:solidFill>
                  <a:srgbClr val="586A7B"/>
                </a:solidFill>
              </a:defRPr>
            </a:lvl1pPr>
            <a:lvl2pPr algn="r">
              <a:defRPr sz="900" b="1">
                <a:solidFill>
                  <a:srgbClr val="586A7B"/>
                </a:solidFill>
              </a:defRPr>
            </a:lvl2pPr>
            <a:lvl3pPr algn="r">
              <a:defRPr sz="900" b="1">
                <a:solidFill>
                  <a:srgbClr val="586A7B"/>
                </a:solidFill>
              </a:defRPr>
            </a:lvl3pPr>
            <a:lvl4pPr algn="r">
              <a:defRPr sz="900" b="1">
                <a:solidFill>
                  <a:srgbClr val="586A7B"/>
                </a:solidFill>
              </a:defRPr>
            </a:lvl4pPr>
            <a:lvl5pPr algn="r">
              <a:defRPr sz="900" b="1">
                <a:solidFill>
                  <a:srgbClr val="586A7B"/>
                </a:solidFill>
              </a:defRPr>
            </a:lvl5pPr>
            <a:lvl6pPr algn="r">
              <a:defRPr sz="900" b="1">
                <a:solidFill>
                  <a:srgbClr val="586A7B"/>
                </a:solidFill>
              </a:defRPr>
            </a:lvl6pPr>
            <a:lvl7pPr algn="r">
              <a:defRPr sz="900" b="1">
                <a:solidFill>
                  <a:srgbClr val="586A7B"/>
                </a:solidFill>
              </a:defRPr>
            </a:lvl7pPr>
            <a:lvl8pPr algn="r">
              <a:defRPr sz="900" b="1">
                <a:solidFill>
                  <a:srgbClr val="586A7B"/>
                </a:solidFill>
              </a:defRPr>
            </a:lvl8pPr>
            <a:lvl9pPr algn="r">
              <a:defRPr sz="900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586A7B"/>
                </a:solidFill>
              </a:defRPr>
            </a:pPr>
            <a:r>
              <a:rPr sz="900" b="1">
                <a:solidFill>
                  <a:srgbClr val="586A7B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07F6B-E699-4FB2-9536-2F43F31D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71724-2069-4E09-ABE7-645AF0F4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95425"/>
            <a:ext cx="10077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Validate the supplied 90 × 80 one-hot feature matrix against the matching IBM labeled course table by FlightNumber.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6A65C-6EAD-4353-A432-AC21BB3C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9C1D79-BE9A-4EC1-99C0-E4151507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10077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Decode Orbit, LaunchSite, LandingPad and Serial; confirm every decoded category matches the source row.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D0E48-28CB-49B4-BD62-D58614D4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99E16-8161-45B9-B772-66D3ADA0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76575"/>
            <a:ext cx="10077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Use the source table Class as target (60 successful, 30 failed); fill missing landing-pad labels as Unknown.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D20E6A-F028-455D-85DF-96BA15A6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F5CE7-66B1-460B-8E49-87B05E14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67150"/>
            <a:ext cx="10077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Keep API history, scrape history and the fixed 90-row model sample separate because their schemas and coverage differ.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59CF3F-90C5-45DC-9D56-00694035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1">
                <a:solidFill>
                  <a:srgbClr val="1677A8"/>
                </a:solidFill>
              </a:defRPr>
            </a:defPPr>
            <a:lvl1pPr algn="l">
              <a:defRPr sz="1050" b="1">
                <a:solidFill>
                  <a:srgbClr val="1677A8"/>
                </a:solidFill>
              </a:defRPr>
            </a:lvl1pPr>
            <a:lvl2pPr algn="l">
              <a:defRPr sz="1050" b="1">
                <a:solidFill>
                  <a:srgbClr val="1677A8"/>
                </a:solidFill>
              </a:defRPr>
            </a:lvl2pPr>
            <a:lvl3pPr algn="l">
              <a:defRPr sz="1050" b="1">
                <a:solidFill>
                  <a:srgbClr val="1677A8"/>
                </a:solidFill>
              </a:defRPr>
            </a:lvl3pPr>
            <a:lvl4pPr algn="l">
              <a:defRPr sz="1050" b="1">
                <a:solidFill>
                  <a:srgbClr val="1677A8"/>
                </a:solidFill>
              </a:defRPr>
            </a:lvl4pPr>
            <a:lvl5pPr algn="l">
              <a:defRPr sz="1050" b="1">
                <a:solidFill>
                  <a:srgbClr val="1677A8"/>
                </a:solidFill>
              </a:defRPr>
            </a:lvl5pPr>
            <a:lvl6pPr algn="l">
              <a:defRPr sz="1050" b="1">
                <a:solidFill>
                  <a:srgbClr val="1677A8"/>
                </a:solidFill>
              </a:defRPr>
            </a:lvl6pPr>
            <a:lvl7pPr algn="l">
              <a:defRPr sz="1050" b="1">
                <a:solidFill>
                  <a:srgbClr val="1677A8"/>
                </a:solidFill>
              </a:defRPr>
            </a:lvl7pPr>
            <a:lvl8pPr algn="l">
              <a:defRPr sz="1050" b="1">
                <a:solidFill>
                  <a:srgbClr val="1677A8"/>
                </a:solidFill>
              </a:defRPr>
            </a:lvl8pPr>
            <a:lvl9pPr algn="l">
              <a:defRPr sz="10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677A8"/>
                </a:solidFill>
              </a:defRPr>
            </a:pPr>
            <a:r>
              <a:rPr sz="1050" b="1">
                <a:solidFill>
                  <a:srgbClr val="1677A8"/>
                </a:solidFill>
              </a:rPr>
              <a:t>QUALITY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2F27F-5171-4C92-A40C-F4520A445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15263A"/>
                </a:solidFill>
              </a:defRPr>
            </a:defPPr>
            <a:lvl1pPr algn="l">
              <a:defRPr sz="1425" b="1">
                <a:solidFill>
                  <a:srgbClr val="15263A"/>
                </a:solidFill>
              </a:defRPr>
            </a:lvl1pPr>
            <a:lvl2pPr algn="l">
              <a:defRPr sz="1425" b="1">
                <a:solidFill>
                  <a:srgbClr val="15263A"/>
                </a:solidFill>
              </a:defRPr>
            </a:lvl2pPr>
            <a:lvl3pPr algn="l">
              <a:defRPr sz="1425" b="1">
                <a:solidFill>
                  <a:srgbClr val="15263A"/>
                </a:solidFill>
              </a:defRPr>
            </a:lvl3pPr>
            <a:lvl4pPr algn="l">
              <a:defRPr sz="1425" b="1">
                <a:solidFill>
                  <a:srgbClr val="15263A"/>
                </a:solidFill>
              </a:defRPr>
            </a:lvl4pPr>
            <a:lvl5pPr algn="l">
              <a:defRPr sz="1425" b="1">
                <a:solidFill>
                  <a:srgbClr val="15263A"/>
                </a:solidFill>
              </a:defRPr>
            </a:lvl5pPr>
            <a:lvl6pPr algn="l">
              <a:defRPr sz="1425" b="1">
                <a:solidFill>
                  <a:srgbClr val="15263A"/>
                </a:solidFill>
              </a:defRPr>
            </a:lvl6pPr>
            <a:lvl7pPr algn="l">
              <a:defRPr sz="1425" b="1">
                <a:solidFill>
                  <a:srgbClr val="15263A"/>
                </a:solidFill>
              </a:defRPr>
            </a:lvl7pPr>
            <a:lvl8pPr algn="l">
              <a:defRPr sz="1425" b="1">
                <a:solidFill>
                  <a:srgbClr val="15263A"/>
                </a:solidFill>
              </a:defRPr>
            </a:lvl8pPr>
            <a:lvl9pPr algn="l">
              <a:defRPr sz="14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5263A"/>
                </a:solidFill>
              </a:defRPr>
            </a:pPr>
            <a:r>
              <a:rPr sz="1425" b="1">
                <a:solidFill>
                  <a:srgbClr val="15263A"/>
                </a:solidFill>
              </a:rPr>
              <a:t>Row count + flight order  •  one-hot sums  •  decoded category equality  •  target class counts</a:t>
            </a:r>
          </a:p>
        </p:txBody>
      </p:sp>
    </p:spTree>
    <p:extLst>
      <p:ext uri="{BB962C8B-B14F-4D97-AF65-F5344CB8AC3E}">
        <p14:creationId xmlns:p14="http://schemas.microsoft.com/office/powerpoint/2010/main" val="9989256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93B494-ADA5-4820-B785-2DDE4F3F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56B7D-3859-40F4-9985-69AD4B34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7A8"/>
                </a:solidFill>
              </a:defRPr>
            </a:defPPr>
            <a:lvl1pPr algn="l">
              <a:defRPr sz="975" b="1">
                <a:solidFill>
                  <a:srgbClr val="1677A8"/>
                </a:solidFill>
              </a:defRPr>
            </a:lvl1pPr>
            <a:lvl2pPr algn="l">
              <a:defRPr sz="975" b="1">
                <a:solidFill>
                  <a:srgbClr val="1677A8"/>
                </a:solidFill>
              </a:defRPr>
            </a:lvl2pPr>
            <a:lvl3pPr algn="l">
              <a:defRPr sz="975" b="1">
                <a:solidFill>
                  <a:srgbClr val="1677A8"/>
                </a:solidFill>
              </a:defRPr>
            </a:lvl3pPr>
            <a:lvl4pPr algn="l">
              <a:defRPr sz="975" b="1">
                <a:solidFill>
                  <a:srgbClr val="1677A8"/>
                </a:solidFill>
              </a:defRPr>
            </a:lvl4pPr>
            <a:lvl5pPr algn="l">
              <a:defRPr sz="975" b="1">
                <a:solidFill>
                  <a:srgbClr val="1677A8"/>
                </a:solidFill>
              </a:defRPr>
            </a:lvl5pPr>
            <a:lvl6pPr algn="l">
              <a:defRPr sz="975" b="1">
                <a:solidFill>
                  <a:srgbClr val="1677A8"/>
                </a:solidFill>
              </a:defRPr>
            </a:lvl6pPr>
            <a:lvl7pPr algn="l">
              <a:defRPr sz="975" b="1">
                <a:solidFill>
                  <a:srgbClr val="1677A8"/>
                </a:solidFill>
              </a:defRPr>
            </a:lvl7pPr>
            <a:lvl8pPr algn="l">
              <a:defRPr sz="975" b="1">
                <a:solidFill>
                  <a:srgbClr val="1677A8"/>
                </a:solidFill>
              </a:defRPr>
            </a:lvl8pPr>
            <a:lvl9pPr algn="l">
              <a:defRPr sz="9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77A8"/>
                </a:solidFill>
              </a:defRPr>
            </a:pPr>
            <a:r>
              <a:rPr sz="975" b="1">
                <a:solidFill>
                  <a:srgbClr val="1677A8"/>
                </a:solidFill>
              </a:rPr>
              <a:t>EDA METHODOLOGY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C0EF88-FDFD-4F7F-AE17-853CBD18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EDA and interactive analytics methods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4D7A90-52D5-4FDA-8A08-2AD0B054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EE94A-CE69-41FC-B130-0AED200A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677A8"/>
                </a:solidFill>
              </a:defRPr>
            </a:defPPr>
            <a:lvl1pPr algn="l">
              <a:defRPr sz="750" b="1">
                <a:solidFill>
                  <a:srgbClr val="1677A8"/>
                </a:solidFill>
              </a:defRPr>
            </a:lvl1pPr>
            <a:lvl2pPr algn="l">
              <a:defRPr sz="750" b="1">
                <a:solidFill>
                  <a:srgbClr val="1677A8"/>
                </a:solidFill>
              </a:defRPr>
            </a:lvl2pPr>
            <a:lvl3pPr algn="l">
              <a:defRPr sz="750" b="1">
                <a:solidFill>
                  <a:srgbClr val="1677A8"/>
                </a:solidFill>
              </a:defRPr>
            </a:lvl3pPr>
            <a:lvl4pPr algn="l">
              <a:defRPr sz="750" b="1">
                <a:solidFill>
                  <a:srgbClr val="1677A8"/>
                </a:solidFill>
              </a:defRPr>
            </a:lvl4pPr>
            <a:lvl5pPr algn="l">
              <a:defRPr sz="750" b="1">
                <a:solidFill>
                  <a:srgbClr val="1677A8"/>
                </a:solidFill>
              </a:defRPr>
            </a:lvl5pPr>
            <a:lvl6pPr algn="l">
              <a:defRPr sz="750" b="1">
                <a:solidFill>
                  <a:srgbClr val="1677A8"/>
                </a:solidFill>
              </a:defRPr>
            </a:lvl6pPr>
            <a:lvl7pPr algn="l">
              <a:defRPr sz="750" b="1">
                <a:solidFill>
                  <a:srgbClr val="1677A8"/>
                </a:solidFill>
              </a:defRPr>
            </a:lvl7pPr>
            <a:lvl8pPr algn="l">
              <a:defRPr sz="750" b="1">
                <a:solidFill>
                  <a:srgbClr val="1677A8"/>
                </a:solidFill>
              </a:defRPr>
            </a:lvl8pPr>
            <a:lvl9pPr algn="l">
              <a:defRPr sz="7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77A8"/>
                </a:solidFill>
              </a:defRPr>
            </a:pPr>
            <a:r>
              <a:rPr sz="750" b="1">
                <a:solidFill>
                  <a:srgbClr val="1677A8"/>
                </a:solidFill>
              </a:rPr>
              <a:t>GitHub: github.com/joaoltrevisan/spacex-falcon9-capstone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196F0-35F4-46A3-A302-A5E09037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86A7B"/>
                </a:solidFill>
              </a:defRPr>
            </a:defPPr>
            <a:lvl1pPr algn="r">
              <a:defRPr sz="900" b="1">
                <a:solidFill>
                  <a:srgbClr val="586A7B"/>
                </a:solidFill>
              </a:defRPr>
            </a:lvl1pPr>
            <a:lvl2pPr algn="r">
              <a:defRPr sz="900" b="1">
                <a:solidFill>
                  <a:srgbClr val="586A7B"/>
                </a:solidFill>
              </a:defRPr>
            </a:lvl2pPr>
            <a:lvl3pPr algn="r">
              <a:defRPr sz="900" b="1">
                <a:solidFill>
                  <a:srgbClr val="586A7B"/>
                </a:solidFill>
              </a:defRPr>
            </a:lvl3pPr>
            <a:lvl4pPr algn="r">
              <a:defRPr sz="900" b="1">
                <a:solidFill>
                  <a:srgbClr val="586A7B"/>
                </a:solidFill>
              </a:defRPr>
            </a:lvl4pPr>
            <a:lvl5pPr algn="r">
              <a:defRPr sz="900" b="1">
                <a:solidFill>
                  <a:srgbClr val="586A7B"/>
                </a:solidFill>
              </a:defRPr>
            </a:lvl5pPr>
            <a:lvl6pPr algn="r">
              <a:defRPr sz="900" b="1">
                <a:solidFill>
                  <a:srgbClr val="586A7B"/>
                </a:solidFill>
              </a:defRPr>
            </a:lvl6pPr>
            <a:lvl7pPr algn="r">
              <a:defRPr sz="900" b="1">
                <a:solidFill>
                  <a:srgbClr val="586A7B"/>
                </a:solidFill>
              </a:defRPr>
            </a:lvl7pPr>
            <a:lvl8pPr algn="r">
              <a:defRPr sz="900" b="1">
                <a:solidFill>
                  <a:srgbClr val="586A7B"/>
                </a:solidFill>
              </a:defRPr>
            </a:lvl8pPr>
            <a:lvl9pPr algn="r">
              <a:defRPr sz="900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586A7B"/>
                </a:solidFill>
              </a:defRPr>
            </a:pPr>
            <a:r>
              <a:rPr sz="900" b="1">
                <a:solidFill>
                  <a:srgbClr val="586A7B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C16AD1-A202-4B1D-8FA6-EDE8BBB7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677A8"/>
                </a:solidFill>
              </a:defRPr>
            </a:defPPr>
            <a:lvl1pPr algn="l">
              <a:defRPr sz="1500" b="1">
                <a:solidFill>
                  <a:srgbClr val="1677A8"/>
                </a:solidFill>
              </a:defRPr>
            </a:lvl1pPr>
            <a:lvl2pPr algn="l">
              <a:defRPr sz="1500" b="1">
                <a:solidFill>
                  <a:srgbClr val="1677A8"/>
                </a:solidFill>
              </a:defRPr>
            </a:lvl2pPr>
            <a:lvl3pPr algn="l">
              <a:defRPr sz="1500" b="1">
                <a:solidFill>
                  <a:srgbClr val="1677A8"/>
                </a:solidFill>
              </a:defRPr>
            </a:lvl3pPr>
            <a:lvl4pPr algn="l">
              <a:defRPr sz="1500" b="1">
                <a:solidFill>
                  <a:srgbClr val="1677A8"/>
                </a:solidFill>
              </a:defRPr>
            </a:lvl4pPr>
            <a:lvl5pPr algn="l">
              <a:defRPr sz="1500" b="1">
                <a:solidFill>
                  <a:srgbClr val="1677A8"/>
                </a:solidFill>
              </a:defRPr>
            </a:lvl5pPr>
            <a:lvl6pPr algn="l">
              <a:defRPr sz="1500" b="1">
                <a:solidFill>
                  <a:srgbClr val="1677A8"/>
                </a:solidFill>
              </a:defRPr>
            </a:lvl6pPr>
            <a:lvl7pPr algn="l">
              <a:defRPr sz="1500" b="1">
                <a:solidFill>
                  <a:srgbClr val="1677A8"/>
                </a:solidFill>
              </a:defRPr>
            </a:lvl7pPr>
            <a:lvl8pPr algn="l">
              <a:defRPr sz="1500" b="1">
                <a:solidFill>
                  <a:srgbClr val="1677A8"/>
                </a:solidFill>
              </a:defRPr>
            </a:lvl8pPr>
            <a:lvl9pPr algn="l">
              <a:defRPr sz="150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677A8"/>
                </a:solidFill>
              </a:defRPr>
            </a:pPr>
            <a:r>
              <a:rPr sz="1500" b="1">
                <a:solidFill>
                  <a:srgbClr val="1677A8"/>
                </a:solidFill>
              </a:rPr>
              <a:t>Pandas + Matplotlib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0E257-83DA-4230-B879-AB5A7CAB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552575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6785D-AC3E-49BC-AD5C-8A35682E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514475"/>
            <a:ext cx="728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Compare outcome patterns by flight number, year, payload, launch site, and orbit.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63F15-62D2-48EF-9791-CB8BBD6C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677A8"/>
                </a:solidFill>
              </a:defRPr>
            </a:defPPr>
            <a:lvl1pPr algn="l">
              <a:defRPr sz="1500" b="1">
                <a:solidFill>
                  <a:srgbClr val="1677A8"/>
                </a:solidFill>
              </a:defRPr>
            </a:lvl1pPr>
            <a:lvl2pPr algn="l">
              <a:defRPr sz="1500" b="1">
                <a:solidFill>
                  <a:srgbClr val="1677A8"/>
                </a:solidFill>
              </a:defRPr>
            </a:lvl2pPr>
            <a:lvl3pPr algn="l">
              <a:defRPr sz="1500" b="1">
                <a:solidFill>
                  <a:srgbClr val="1677A8"/>
                </a:solidFill>
              </a:defRPr>
            </a:lvl3pPr>
            <a:lvl4pPr algn="l">
              <a:defRPr sz="1500" b="1">
                <a:solidFill>
                  <a:srgbClr val="1677A8"/>
                </a:solidFill>
              </a:defRPr>
            </a:lvl4pPr>
            <a:lvl5pPr algn="l">
              <a:defRPr sz="1500" b="1">
                <a:solidFill>
                  <a:srgbClr val="1677A8"/>
                </a:solidFill>
              </a:defRPr>
            </a:lvl5pPr>
            <a:lvl6pPr algn="l">
              <a:defRPr sz="1500" b="1">
                <a:solidFill>
                  <a:srgbClr val="1677A8"/>
                </a:solidFill>
              </a:defRPr>
            </a:lvl6pPr>
            <a:lvl7pPr algn="l">
              <a:defRPr sz="1500" b="1">
                <a:solidFill>
                  <a:srgbClr val="1677A8"/>
                </a:solidFill>
              </a:defRPr>
            </a:lvl7pPr>
            <a:lvl8pPr algn="l">
              <a:defRPr sz="1500" b="1">
                <a:solidFill>
                  <a:srgbClr val="1677A8"/>
                </a:solidFill>
              </a:defRPr>
            </a:lvl8pPr>
            <a:lvl9pPr algn="l">
              <a:defRPr sz="150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677A8"/>
                </a:solidFill>
              </a:defRPr>
            </a:pPr>
            <a:r>
              <a:rPr sz="1500" b="1">
                <a:solidFill>
                  <a:srgbClr val="1677A8"/>
                </a:solidFill>
              </a:rPr>
              <a:t>SQLite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313CF8-EC31-45D4-B031-A67332AC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4795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75D8B2-1FB1-49DC-A115-261832BA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728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Aggregate counts, success rates, and mean payload by site, orbit, and outcome.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B9937E-6F12-462A-B6C7-91BDAFE9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677A8"/>
                </a:solidFill>
              </a:defRPr>
            </a:defPPr>
            <a:lvl1pPr algn="l">
              <a:defRPr sz="1500" b="1">
                <a:solidFill>
                  <a:srgbClr val="1677A8"/>
                </a:solidFill>
              </a:defRPr>
            </a:lvl1pPr>
            <a:lvl2pPr algn="l">
              <a:defRPr sz="1500" b="1">
                <a:solidFill>
                  <a:srgbClr val="1677A8"/>
                </a:solidFill>
              </a:defRPr>
            </a:lvl2pPr>
            <a:lvl3pPr algn="l">
              <a:defRPr sz="1500" b="1">
                <a:solidFill>
                  <a:srgbClr val="1677A8"/>
                </a:solidFill>
              </a:defRPr>
            </a:lvl3pPr>
            <a:lvl4pPr algn="l">
              <a:defRPr sz="1500" b="1">
                <a:solidFill>
                  <a:srgbClr val="1677A8"/>
                </a:solidFill>
              </a:defRPr>
            </a:lvl4pPr>
            <a:lvl5pPr algn="l">
              <a:defRPr sz="1500" b="1">
                <a:solidFill>
                  <a:srgbClr val="1677A8"/>
                </a:solidFill>
              </a:defRPr>
            </a:lvl5pPr>
            <a:lvl6pPr algn="l">
              <a:defRPr sz="1500" b="1">
                <a:solidFill>
                  <a:srgbClr val="1677A8"/>
                </a:solidFill>
              </a:defRPr>
            </a:lvl6pPr>
            <a:lvl7pPr algn="l">
              <a:defRPr sz="1500" b="1">
                <a:solidFill>
                  <a:srgbClr val="1677A8"/>
                </a:solidFill>
              </a:defRPr>
            </a:lvl7pPr>
            <a:lvl8pPr algn="l">
              <a:defRPr sz="1500" b="1">
                <a:solidFill>
                  <a:srgbClr val="1677A8"/>
                </a:solidFill>
              </a:defRPr>
            </a:lvl8pPr>
            <a:lvl9pPr algn="l">
              <a:defRPr sz="150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677A8"/>
                </a:solidFill>
              </a:defRPr>
            </a:pPr>
            <a:r>
              <a:rPr sz="1500" b="1">
                <a:solidFill>
                  <a:srgbClr val="1677A8"/>
                </a:solidFill>
              </a:rPr>
              <a:t>Folium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FE40A-DC6B-4890-B942-D20DE0B8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43325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533784-277F-4D7B-9332-AD12652C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05225"/>
            <a:ext cx="728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Place launch sites on an interactive geographic map with outcome summaries.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D31CA-DEE3-4FB6-B756-1EBFB7CA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1677A8"/>
                </a:solidFill>
              </a:defRPr>
            </a:defPPr>
            <a:lvl1pPr algn="l">
              <a:defRPr sz="1500" b="1">
                <a:solidFill>
                  <a:srgbClr val="1677A8"/>
                </a:solidFill>
              </a:defRPr>
            </a:lvl1pPr>
            <a:lvl2pPr algn="l">
              <a:defRPr sz="1500" b="1">
                <a:solidFill>
                  <a:srgbClr val="1677A8"/>
                </a:solidFill>
              </a:defRPr>
            </a:lvl2pPr>
            <a:lvl3pPr algn="l">
              <a:defRPr sz="1500" b="1">
                <a:solidFill>
                  <a:srgbClr val="1677A8"/>
                </a:solidFill>
              </a:defRPr>
            </a:lvl3pPr>
            <a:lvl4pPr algn="l">
              <a:defRPr sz="1500" b="1">
                <a:solidFill>
                  <a:srgbClr val="1677A8"/>
                </a:solidFill>
              </a:defRPr>
            </a:lvl4pPr>
            <a:lvl5pPr algn="l">
              <a:defRPr sz="1500" b="1">
                <a:solidFill>
                  <a:srgbClr val="1677A8"/>
                </a:solidFill>
              </a:defRPr>
            </a:lvl5pPr>
            <a:lvl6pPr algn="l">
              <a:defRPr sz="1500" b="1">
                <a:solidFill>
                  <a:srgbClr val="1677A8"/>
                </a:solidFill>
              </a:defRPr>
            </a:lvl6pPr>
            <a:lvl7pPr algn="l">
              <a:defRPr sz="1500" b="1">
                <a:solidFill>
                  <a:srgbClr val="1677A8"/>
                </a:solidFill>
              </a:defRPr>
            </a:lvl7pPr>
            <a:lvl8pPr algn="l">
              <a:defRPr sz="1500" b="1">
                <a:solidFill>
                  <a:srgbClr val="1677A8"/>
                </a:solidFill>
              </a:defRPr>
            </a:lvl8pPr>
            <a:lvl9pPr algn="l">
              <a:defRPr sz="150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677A8"/>
                </a:solidFill>
              </a:defRPr>
            </a:pPr>
            <a:r>
              <a:rPr sz="1500" b="1">
                <a:solidFill>
                  <a:srgbClr val="1677A8"/>
                </a:solidFill>
              </a:rPr>
              <a:t>Plotly Dash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8A065-A0DB-4F7A-8A5B-E6BCFC68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838700"/>
            <a:ext cx="19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2F16C5-0294-47BE-9849-1C7423CC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00600"/>
            <a:ext cx="7286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Filter the labeled sample by launch site and orbit; inspect rates and payload distributions.</a:t>
            </a:r>
          </a:p>
        </p:txBody>
      </p:sp>
    </p:spTree>
    <p:extLst>
      <p:ext uri="{BB962C8B-B14F-4D97-AF65-F5344CB8AC3E}">
        <p14:creationId xmlns:p14="http://schemas.microsoft.com/office/powerpoint/2010/main" val="3622808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36BBC-35A0-44C3-9C52-5262202D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1B93F-A462-4FC1-A168-19791729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7A8"/>
                </a:solidFill>
              </a:defRPr>
            </a:defPPr>
            <a:lvl1pPr algn="l">
              <a:defRPr sz="975" b="1">
                <a:solidFill>
                  <a:srgbClr val="1677A8"/>
                </a:solidFill>
              </a:defRPr>
            </a:lvl1pPr>
            <a:lvl2pPr algn="l">
              <a:defRPr sz="975" b="1">
                <a:solidFill>
                  <a:srgbClr val="1677A8"/>
                </a:solidFill>
              </a:defRPr>
            </a:lvl2pPr>
            <a:lvl3pPr algn="l">
              <a:defRPr sz="975" b="1">
                <a:solidFill>
                  <a:srgbClr val="1677A8"/>
                </a:solidFill>
              </a:defRPr>
            </a:lvl3pPr>
            <a:lvl4pPr algn="l">
              <a:defRPr sz="975" b="1">
                <a:solidFill>
                  <a:srgbClr val="1677A8"/>
                </a:solidFill>
              </a:defRPr>
            </a:lvl4pPr>
            <a:lvl5pPr algn="l">
              <a:defRPr sz="975" b="1">
                <a:solidFill>
                  <a:srgbClr val="1677A8"/>
                </a:solidFill>
              </a:defRPr>
            </a:lvl5pPr>
            <a:lvl6pPr algn="l">
              <a:defRPr sz="975" b="1">
                <a:solidFill>
                  <a:srgbClr val="1677A8"/>
                </a:solidFill>
              </a:defRPr>
            </a:lvl6pPr>
            <a:lvl7pPr algn="l">
              <a:defRPr sz="975" b="1">
                <a:solidFill>
                  <a:srgbClr val="1677A8"/>
                </a:solidFill>
              </a:defRPr>
            </a:lvl7pPr>
            <a:lvl8pPr algn="l">
              <a:defRPr sz="975" b="1">
                <a:solidFill>
                  <a:srgbClr val="1677A8"/>
                </a:solidFill>
              </a:defRPr>
            </a:lvl8pPr>
            <a:lvl9pPr algn="l">
              <a:defRPr sz="9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77A8"/>
                </a:solidFill>
              </a:defRPr>
            </a:pPr>
            <a:r>
              <a:rPr sz="975" b="1">
                <a:solidFill>
                  <a:srgbClr val="1677A8"/>
                </a:solidFill>
              </a:rPr>
              <a:t>PREDICTIVE METHODOLOGY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42AD7-CB0B-458C-BEE8-CCB4B9D4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Classification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2E6AF-1331-4F17-95DB-23009FB2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7F37D-E3C9-471B-9E29-59D86C14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677A8"/>
                </a:solidFill>
              </a:defRPr>
            </a:defPPr>
            <a:lvl1pPr algn="l">
              <a:defRPr sz="750" b="1">
                <a:solidFill>
                  <a:srgbClr val="1677A8"/>
                </a:solidFill>
              </a:defRPr>
            </a:lvl1pPr>
            <a:lvl2pPr algn="l">
              <a:defRPr sz="750" b="1">
                <a:solidFill>
                  <a:srgbClr val="1677A8"/>
                </a:solidFill>
              </a:defRPr>
            </a:lvl2pPr>
            <a:lvl3pPr algn="l">
              <a:defRPr sz="750" b="1">
                <a:solidFill>
                  <a:srgbClr val="1677A8"/>
                </a:solidFill>
              </a:defRPr>
            </a:lvl3pPr>
            <a:lvl4pPr algn="l">
              <a:defRPr sz="750" b="1">
                <a:solidFill>
                  <a:srgbClr val="1677A8"/>
                </a:solidFill>
              </a:defRPr>
            </a:lvl4pPr>
            <a:lvl5pPr algn="l">
              <a:defRPr sz="750" b="1">
                <a:solidFill>
                  <a:srgbClr val="1677A8"/>
                </a:solidFill>
              </a:defRPr>
            </a:lvl5pPr>
            <a:lvl6pPr algn="l">
              <a:defRPr sz="750" b="1">
                <a:solidFill>
                  <a:srgbClr val="1677A8"/>
                </a:solidFill>
              </a:defRPr>
            </a:lvl6pPr>
            <a:lvl7pPr algn="l">
              <a:defRPr sz="750" b="1">
                <a:solidFill>
                  <a:srgbClr val="1677A8"/>
                </a:solidFill>
              </a:defRPr>
            </a:lvl7pPr>
            <a:lvl8pPr algn="l">
              <a:defRPr sz="750" b="1">
                <a:solidFill>
                  <a:srgbClr val="1677A8"/>
                </a:solidFill>
              </a:defRPr>
            </a:lvl8pPr>
            <a:lvl9pPr algn="l">
              <a:defRPr sz="7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77A8"/>
                </a:solidFill>
              </a:defRPr>
            </a:pPr>
            <a:r>
              <a:rPr sz="750" b="1">
                <a:solidFill>
                  <a:srgbClr val="1677A8"/>
                </a:solidFill>
              </a:rPr>
              <a:t>GitHub: github.com/joaoltrevisan/spacex-falcon9-capstone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F9ACF-759D-4A5F-A642-AE34BBE1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86A7B"/>
                </a:solidFill>
              </a:defRPr>
            </a:defPPr>
            <a:lvl1pPr algn="r">
              <a:defRPr sz="900" b="1">
                <a:solidFill>
                  <a:srgbClr val="586A7B"/>
                </a:solidFill>
              </a:defRPr>
            </a:lvl1pPr>
            <a:lvl2pPr algn="r">
              <a:defRPr sz="900" b="1">
                <a:solidFill>
                  <a:srgbClr val="586A7B"/>
                </a:solidFill>
              </a:defRPr>
            </a:lvl2pPr>
            <a:lvl3pPr algn="r">
              <a:defRPr sz="900" b="1">
                <a:solidFill>
                  <a:srgbClr val="586A7B"/>
                </a:solidFill>
              </a:defRPr>
            </a:lvl3pPr>
            <a:lvl4pPr algn="r">
              <a:defRPr sz="900" b="1">
                <a:solidFill>
                  <a:srgbClr val="586A7B"/>
                </a:solidFill>
              </a:defRPr>
            </a:lvl4pPr>
            <a:lvl5pPr algn="r">
              <a:defRPr sz="900" b="1">
                <a:solidFill>
                  <a:srgbClr val="586A7B"/>
                </a:solidFill>
              </a:defRPr>
            </a:lvl5pPr>
            <a:lvl6pPr algn="r">
              <a:defRPr sz="900" b="1">
                <a:solidFill>
                  <a:srgbClr val="586A7B"/>
                </a:solidFill>
              </a:defRPr>
            </a:lvl6pPr>
            <a:lvl7pPr algn="r">
              <a:defRPr sz="900" b="1">
                <a:solidFill>
                  <a:srgbClr val="586A7B"/>
                </a:solidFill>
              </a:defRPr>
            </a:lvl7pPr>
            <a:lvl8pPr algn="r">
              <a:defRPr sz="900" b="1">
                <a:solidFill>
                  <a:srgbClr val="586A7B"/>
                </a:solidFill>
              </a:defRPr>
            </a:lvl8pPr>
            <a:lvl9pPr algn="r">
              <a:defRPr sz="900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586A7B"/>
                </a:solidFill>
              </a:defRPr>
            </a:pPr>
            <a:r>
              <a:rPr sz="900" b="1">
                <a:solidFill>
                  <a:srgbClr val="586A7B"/>
                </a:solidFill>
              </a:rPr>
              <a:t>08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79489-137A-4195-8C26-811C6AE96B10}"/>
              </a:ext>
            </a:extLst>
          </p:cNvPr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109537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3476625"/>
                <a:gridCol w="5000625"/>
              </a:tblGrid>
              <a:tr h="6286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Data split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082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72 train / 18 test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082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Stratified, random_state = 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08253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Model selection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5-fold stratified CV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Training set only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Algorithms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Logistic, SVM, KNN, tree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Grid search per model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Scaling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Pipeline for logistic, SVM, KNN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Tree uses raw encoded features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Selection metric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Mean CV accuracy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Final metrics reported on holdout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743D4-F702-42D1-B201-55603CBA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586A7B"/>
                </a:solidFill>
              </a:defRPr>
            </a:defPPr>
            <a:lvl1pPr algn="l">
              <a:defRPr sz="1500" b="0">
                <a:solidFill>
                  <a:srgbClr val="586A7B"/>
                </a:solidFill>
              </a:defRPr>
            </a:lvl1pPr>
            <a:lvl2pPr algn="l">
              <a:defRPr sz="1500" b="0">
                <a:solidFill>
                  <a:srgbClr val="586A7B"/>
                </a:solidFill>
              </a:defRPr>
            </a:lvl2pPr>
            <a:lvl3pPr algn="l">
              <a:defRPr sz="1500" b="0">
                <a:solidFill>
                  <a:srgbClr val="586A7B"/>
                </a:solidFill>
              </a:defRPr>
            </a:lvl3pPr>
            <a:lvl4pPr algn="l">
              <a:defRPr sz="1500" b="0">
                <a:solidFill>
                  <a:srgbClr val="586A7B"/>
                </a:solidFill>
              </a:defRPr>
            </a:lvl4pPr>
            <a:lvl5pPr algn="l">
              <a:defRPr sz="1500" b="0">
                <a:solidFill>
                  <a:srgbClr val="586A7B"/>
                </a:solidFill>
              </a:defRPr>
            </a:lvl5pPr>
            <a:lvl6pPr algn="l">
              <a:defRPr sz="1500" b="0">
                <a:solidFill>
                  <a:srgbClr val="586A7B"/>
                </a:solidFill>
              </a:defRPr>
            </a:lvl6pPr>
            <a:lvl7pPr algn="l">
              <a:defRPr sz="1500" b="0">
                <a:solidFill>
                  <a:srgbClr val="586A7B"/>
                </a:solidFill>
              </a:defRPr>
            </a:lvl7pPr>
            <a:lvl8pPr algn="l">
              <a:defRPr sz="1500" b="0">
                <a:solidFill>
                  <a:srgbClr val="586A7B"/>
                </a:solidFill>
              </a:defRPr>
            </a:lvl8pPr>
            <a:lvl9pPr algn="l">
              <a:defRPr sz="1500" b="0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86A7B"/>
                </a:solidFill>
              </a:defRPr>
            </a:pPr>
            <a:r>
              <a:rPr sz="1500" b="0">
                <a:solidFill>
                  <a:srgbClr val="586A7B"/>
                </a:solidFill>
              </a:rPr>
              <a:t>The holdout remains untouched during model selection. This separation reduces optimistic test estimates.</a:t>
            </a:r>
          </a:p>
        </p:txBody>
      </p:sp>
    </p:spTree>
    <p:extLst>
      <p:ext uri="{BB962C8B-B14F-4D97-AF65-F5344CB8AC3E}">
        <p14:creationId xmlns:p14="http://schemas.microsoft.com/office/powerpoint/2010/main" val="6860590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6D418D-E32F-487C-9229-B9532099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7ED5E4-9E22-40BE-8D1A-E435B646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7A8"/>
                </a:solidFill>
              </a:defRPr>
            </a:defPPr>
            <a:lvl1pPr algn="l">
              <a:defRPr sz="975" b="1">
                <a:solidFill>
                  <a:srgbClr val="1677A8"/>
                </a:solidFill>
              </a:defRPr>
            </a:lvl1pPr>
            <a:lvl2pPr algn="l">
              <a:defRPr sz="975" b="1">
                <a:solidFill>
                  <a:srgbClr val="1677A8"/>
                </a:solidFill>
              </a:defRPr>
            </a:lvl2pPr>
            <a:lvl3pPr algn="l">
              <a:defRPr sz="975" b="1">
                <a:solidFill>
                  <a:srgbClr val="1677A8"/>
                </a:solidFill>
              </a:defRPr>
            </a:lvl3pPr>
            <a:lvl4pPr algn="l">
              <a:defRPr sz="975" b="1">
                <a:solidFill>
                  <a:srgbClr val="1677A8"/>
                </a:solidFill>
              </a:defRPr>
            </a:lvl4pPr>
            <a:lvl5pPr algn="l">
              <a:defRPr sz="975" b="1">
                <a:solidFill>
                  <a:srgbClr val="1677A8"/>
                </a:solidFill>
              </a:defRPr>
            </a:lvl5pPr>
            <a:lvl6pPr algn="l">
              <a:defRPr sz="975" b="1">
                <a:solidFill>
                  <a:srgbClr val="1677A8"/>
                </a:solidFill>
              </a:defRPr>
            </a:lvl6pPr>
            <a:lvl7pPr algn="l">
              <a:defRPr sz="975" b="1">
                <a:solidFill>
                  <a:srgbClr val="1677A8"/>
                </a:solidFill>
              </a:defRPr>
            </a:lvl7pPr>
            <a:lvl8pPr algn="l">
              <a:defRPr sz="975" b="1">
                <a:solidFill>
                  <a:srgbClr val="1677A8"/>
                </a:solidFill>
              </a:defRPr>
            </a:lvl8pPr>
            <a:lvl9pPr algn="l">
              <a:defRPr sz="9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77A8"/>
                </a:solidFill>
              </a:defRPr>
            </a:pPr>
            <a:r>
              <a:rPr sz="975" b="1">
                <a:solidFill>
                  <a:srgbClr val="1677A8"/>
                </a:solidFill>
              </a:rPr>
              <a:t>EDA WITH VISUALIZATION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6FFAB-F754-454D-8501-73978BDD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Landing outcomes improved across the observed years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90FCD-B7E8-4FAB-A214-4626E907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AACDF-8AF6-4E6D-8149-70CF6BE9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677A8"/>
                </a:solidFill>
              </a:defRPr>
            </a:defPPr>
            <a:lvl1pPr algn="l">
              <a:defRPr sz="750" b="1">
                <a:solidFill>
                  <a:srgbClr val="1677A8"/>
                </a:solidFill>
              </a:defRPr>
            </a:lvl1pPr>
            <a:lvl2pPr algn="l">
              <a:defRPr sz="750" b="1">
                <a:solidFill>
                  <a:srgbClr val="1677A8"/>
                </a:solidFill>
              </a:defRPr>
            </a:lvl2pPr>
            <a:lvl3pPr algn="l">
              <a:defRPr sz="750" b="1">
                <a:solidFill>
                  <a:srgbClr val="1677A8"/>
                </a:solidFill>
              </a:defRPr>
            </a:lvl3pPr>
            <a:lvl4pPr algn="l">
              <a:defRPr sz="750" b="1">
                <a:solidFill>
                  <a:srgbClr val="1677A8"/>
                </a:solidFill>
              </a:defRPr>
            </a:lvl4pPr>
            <a:lvl5pPr algn="l">
              <a:defRPr sz="750" b="1">
                <a:solidFill>
                  <a:srgbClr val="1677A8"/>
                </a:solidFill>
              </a:defRPr>
            </a:lvl5pPr>
            <a:lvl6pPr algn="l">
              <a:defRPr sz="750" b="1">
                <a:solidFill>
                  <a:srgbClr val="1677A8"/>
                </a:solidFill>
              </a:defRPr>
            </a:lvl6pPr>
            <a:lvl7pPr algn="l">
              <a:defRPr sz="750" b="1">
                <a:solidFill>
                  <a:srgbClr val="1677A8"/>
                </a:solidFill>
              </a:defRPr>
            </a:lvl7pPr>
            <a:lvl8pPr algn="l">
              <a:defRPr sz="750" b="1">
                <a:solidFill>
                  <a:srgbClr val="1677A8"/>
                </a:solidFill>
              </a:defRPr>
            </a:lvl8pPr>
            <a:lvl9pPr algn="l">
              <a:defRPr sz="7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77A8"/>
                </a:solidFill>
              </a:defRPr>
            </a:pPr>
            <a:r>
              <a:rPr sz="750" b="1">
                <a:solidFill>
                  <a:srgbClr val="1677A8"/>
                </a:solidFill>
              </a:rPr>
              <a:t>GitHub: github.com/joaoltrevisan/spacex-falcon9-capstone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DF3A5-FC95-4A5E-B630-0B9BB519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86A7B"/>
                </a:solidFill>
              </a:defRPr>
            </a:defPPr>
            <a:lvl1pPr algn="r">
              <a:defRPr sz="900" b="1">
                <a:solidFill>
                  <a:srgbClr val="586A7B"/>
                </a:solidFill>
              </a:defRPr>
            </a:lvl1pPr>
            <a:lvl2pPr algn="r">
              <a:defRPr sz="900" b="1">
                <a:solidFill>
                  <a:srgbClr val="586A7B"/>
                </a:solidFill>
              </a:defRPr>
            </a:lvl2pPr>
            <a:lvl3pPr algn="r">
              <a:defRPr sz="900" b="1">
                <a:solidFill>
                  <a:srgbClr val="586A7B"/>
                </a:solidFill>
              </a:defRPr>
            </a:lvl3pPr>
            <a:lvl4pPr algn="r">
              <a:defRPr sz="900" b="1">
                <a:solidFill>
                  <a:srgbClr val="586A7B"/>
                </a:solidFill>
              </a:defRPr>
            </a:lvl4pPr>
            <a:lvl5pPr algn="r">
              <a:defRPr sz="900" b="1">
                <a:solidFill>
                  <a:srgbClr val="586A7B"/>
                </a:solidFill>
              </a:defRPr>
            </a:lvl5pPr>
            <a:lvl6pPr algn="r">
              <a:defRPr sz="900" b="1">
                <a:solidFill>
                  <a:srgbClr val="586A7B"/>
                </a:solidFill>
              </a:defRPr>
            </a:lvl6pPr>
            <a:lvl7pPr algn="r">
              <a:defRPr sz="900" b="1">
                <a:solidFill>
                  <a:srgbClr val="586A7B"/>
                </a:solidFill>
              </a:defRPr>
            </a:lvl7pPr>
            <a:lvl8pPr algn="r">
              <a:defRPr sz="900" b="1">
                <a:solidFill>
                  <a:srgbClr val="586A7B"/>
                </a:solidFill>
              </a:defRPr>
            </a:lvl8pPr>
            <a:lvl9pPr algn="r">
              <a:defRPr sz="900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586A7B"/>
                </a:solidFill>
              </a:defRPr>
            </a:pPr>
            <a:r>
              <a:rPr sz="900" b="1">
                <a:solidFill>
                  <a:srgbClr val="586A7B"/>
                </a:solidFill>
              </a:rPr>
              <a:t>09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7A2AF-D852-4A25-8AAB-8D8398C694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3dba682494e07"/>
          <a:stretch xmlns:a="http://schemas.openxmlformats.org/drawingml/2006/main"/>
        </p:blipFill>
        <p:spPr>
          <a:xfrm xmlns:a="http://schemas.openxmlformats.org/drawingml/2006/main">
            <a:off x="1255476" y="1476375"/>
            <a:ext cx="5490048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53639-D155-4D31-9A4B-30CAC9E0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859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677A8"/>
                </a:solidFill>
              </a:defRPr>
            </a:defPPr>
            <a:lvl1pPr algn="l">
              <a:defRPr sz="1200" b="1">
                <a:solidFill>
                  <a:srgbClr val="1677A8"/>
                </a:solidFill>
              </a:defRPr>
            </a:lvl1pPr>
            <a:lvl2pPr algn="l">
              <a:defRPr sz="1200" b="1">
                <a:solidFill>
                  <a:srgbClr val="1677A8"/>
                </a:solidFill>
              </a:defRPr>
            </a:lvl2pPr>
            <a:lvl3pPr algn="l">
              <a:defRPr sz="1200" b="1">
                <a:solidFill>
                  <a:srgbClr val="1677A8"/>
                </a:solidFill>
              </a:defRPr>
            </a:lvl3pPr>
            <a:lvl4pPr algn="l">
              <a:defRPr sz="1200" b="1">
                <a:solidFill>
                  <a:srgbClr val="1677A8"/>
                </a:solidFill>
              </a:defRPr>
            </a:lvl4pPr>
            <a:lvl5pPr algn="l">
              <a:defRPr sz="1200" b="1">
                <a:solidFill>
                  <a:srgbClr val="1677A8"/>
                </a:solidFill>
              </a:defRPr>
            </a:lvl5pPr>
            <a:lvl6pPr algn="l">
              <a:defRPr sz="1200" b="1">
                <a:solidFill>
                  <a:srgbClr val="1677A8"/>
                </a:solidFill>
              </a:defRPr>
            </a:lvl6pPr>
            <a:lvl7pPr algn="l">
              <a:defRPr sz="1200" b="1">
                <a:solidFill>
                  <a:srgbClr val="1677A8"/>
                </a:solidFill>
              </a:defRPr>
            </a:lvl7pPr>
            <a:lvl8pPr algn="l">
              <a:defRPr sz="1200" b="1">
                <a:solidFill>
                  <a:srgbClr val="1677A8"/>
                </a:solidFill>
              </a:defRPr>
            </a:lvl8pPr>
            <a:lvl9pPr algn="l">
              <a:defRPr sz="120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677A8"/>
                </a:solidFill>
              </a:defRPr>
            </a:pPr>
            <a:r>
              <a:rPr sz="1200" b="1">
                <a:solidFill>
                  <a:srgbClr val="1677A8"/>
                </a:solidFill>
              </a:rPr>
              <a:t>Observed pattern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5197C-0F38-4165-9883-E6396694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76450"/>
            <a:ext cx="3238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5263A"/>
                </a:solidFill>
              </a:defRPr>
            </a:defPPr>
            <a:lvl1pPr algn="l">
              <a:defRPr sz="1575" b="0">
                <a:solidFill>
                  <a:srgbClr val="15263A"/>
                </a:solidFill>
              </a:defRPr>
            </a:lvl1pPr>
            <a:lvl2pPr algn="l">
              <a:defRPr sz="1575" b="0">
                <a:solidFill>
                  <a:srgbClr val="15263A"/>
                </a:solidFill>
              </a:defRPr>
            </a:lvl2pPr>
            <a:lvl3pPr algn="l">
              <a:defRPr sz="1575" b="0">
                <a:solidFill>
                  <a:srgbClr val="15263A"/>
                </a:solidFill>
              </a:defRPr>
            </a:lvl3pPr>
            <a:lvl4pPr algn="l">
              <a:defRPr sz="1575" b="0">
                <a:solidFill>
                  <a:srgbClr val="15263A"/>
                </a:solidFill>
              </a:defRPr>
            </a:lvl4pPr>
            <a:lvl5pPr algn="l">
              <a:defRPr sz="1575" b="0">
                <a:solidFill>
                  <a:srgbClr val="15263A"/>
                </a:solidFill>
              </a:defRPr>
            </a:lvl5pPr>
            <a:lvl6pPr algn="l">
              <a:defRPr sz="1575" b="0">
                <a:solidFill>
                  <a:srgbClr val="15263A"/>
                </a:solidFill>
              </a:defRPr>
            </a:lvl6pPr>
            <a:lvl7pPr algn="l">
              <a:defRPr sz="1575" b="0">
                <a:solidFill>
                  <a:srgbClr val="15263A"/>
                </a:solidFill>
              </a:defRPr>
            </a:lvl7pPr>
            <a:lvl8pPr algn="l">
              <a:defRPr sz="1575" b="0">
                <a:solidFill>
                  <a:srgbClr val="15263A"/>
                </a:solidFill>
              </a:defRPr>
            </a:lvl8pPr>
            <a:lvl9pPr algn="l">
              <a:defRPr sz="1575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5263A"/>
                </a:solidFill>
              </a:defRPr>
            </a:pPr>
            <a:r>
              <a:rPr sz="1575" b="0">
                <a:solidFill>
                  <a:srgbClr val="15263A"/>
                </a:solidFill>
              </a:rPr>
              <a:t>The course sample moves from no recorded successes in its early years to rates above 80% in 2017 and 2019–2020.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086B21-AD4F-480B-A9E8-CC08872C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147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677A8"/>
                </a:solidFill>
              </a:defRPr>
            </a:defPPr>
            <a:lvl1pPr algn="l">
              <a:defRPr sz="1200" b="1">
                <a:solidFill>
                  <a:srgbClr val="1677A8"/>
                </a:solidFill>
              </a:defRPr>
            </a:lvl1pPr>
            <a:lvl2pPr algn="l">
              <a:defRPr sz="1200" b="1">
                <a:solidFill>
                  <a:srgbClr val="1677A8"/>
                </a:solidFill>
              </a:defRPr>
            </a:lvl2pPr>
            <a:lvl3pPr algn="l">
              <a:defRPr sz="1200" b="1">
                <a:solidFill>
                  <a:srgbClr val="1677A8"/>
                </a:solidFill>
              </a:defRPr>
            </a:lvl3pPr>
            <a:lvl4pPr algn="l">
              <a:defRPr sz="1200" b="1">
                <a:solidFill>
                  <a:srgbClr val="1677A8"/>
                </a:solidFill>
              </a:defRPr>
            </a:lvl4pPr>
            <a:lvl5pPr algn="l">
              <a:defRPr sz="1200" b="1">
                <a:solidFill>
                  <a:srgbClr val="1677A8"/>
                </a:solidFill>
              </a:defRPr>
            </a:lvl5pPr>
            <a:lvl6pPr algn="l">
              <a:defRPr sz="1200" b="1">
                <a:solidFill>
                  <a:srgbClr val="1677A8"/>
                </a:solidFill>
              </a:defRPr>
            </a:lvl6pPr>
            <a:lvl7pPr algn="l">
              <a:defRPr sz="1200" b="1">
                <a:solidFill>
                  <a:srgbClr val="1677A8"/>
                </a:solidFill>
              </a:defRPr>
            </a:lvl7pPr>
            <a:lvl8pPr algn="l">
              <a:defRPr sz="1200" b="1">
                <a:solidFill>
                  <a:srgbClr val="1677A8"/>
                </a:solidFill>
              </a:defRPr>
            </a:lvl8pPr>
            <a:lvl9pPr algn="l">
              <a:defRPr sz="120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677A8"/>
                </a:solidFill>
              </a:defRPr>
            </a:pPr>
            <a:r>
              <a:rPr sz="1200" b="1">
                <a:solidFill>
                  <a:srgbClr val="1677A8"/>
                </a:solidFill>
              </a:rPr>
              <a:t>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7AA7D-4F36-4107-B843-A0B8A807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695700"/>
            <a:ext cx="3286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586A7B"/>
                </a:solidFill>
              </a:defRPr>
            </a:defPPr>
            <a:lvl1pPr algn="l">
              <a:defRPr sz="1500" b="0">
                <a:solidFill>
                  <a:srgbClr val="586A7B"/>
                </a:solidFill>
              </a:defRPr>
            </a:lvl1pPr>
            <a:lvl2pPr algn="l">
              <a:defRPr sz="1500" b="0">
                <a:solidFill>
                  <a:srgbClr val="586A7B"/>
                </a:solidFill>
              </a:defRPr>
            </a:lvl2pPr>
            <a:lvl3pPr algn="l">
              <a:defRPr sz="1500" b="0">
                <a:solidFill>
                  <a:srgbClr val="586A7B"/>
                </a:solidFill>
              </a:defRPr>
            </a:lvl3pPr>
            <a:lvl4pPr algn="l">
              <a:defRPr sz="1500" b="0">
                <a:solidFill>
                  <a:srgbClr val="586A7B"/>
                </a:solidFill>
              </a:defRPr>
            </a:lvl4pPr>
            <a:lvl5pPr algn="l">
              <a:defRPr sz="1500" b="0">
                <a:solidFill>
                  <a:srgbClr val="586A7B"/>
                </a:solidFill>
              </a:defRPr>
            </a:lvl5pPr>
            <a:lvl6pPr algn="l">
              <a:defRPr sz="1500" b="0">
                <a:solidFill>
                  <a:srgbClr val="586A7B"/>
                </a:solidFill>
              </a:defRPr>
            </a:lvl6pPr>
            <a:lvl7pPr algn="l">
              <a:defRPr sz="1500" b="0">
                <a:solidFill>
                  <a:srgbClr val="586A7B"/>
                </a:solidFill>
              </a:defRPr>
            </a:lvl7pPr>
            <a:lvl8pPr algn="l">
              <a:defRPr sz="1500" b="0">
                <a:solidFill>
                  <a:srgbClr val="586A7B"/>
                </a:solidFill>
              </a:defRPr>
            </a:lvl8pPr>
            <a:lvl9pPr algn="l">
              <a:defRPr sz="1500" b="0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86A7B"/>
                </a:solidFill>
              </a:defRPr>
            </a:pPr>
            <a:r>
              <a:rPr sz="1500" b="0">
                <a:solidFill>
                  <a:srgbClr val="586A7B"/>
                </a:solidFill>
              </a:rPr>
              <a:t>The year trend also reflects fleet maturity, mission mix, and changes in operations. It does not isolate the effect of time alone.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3D2BF-C817-481C-BE07-058610D1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67300"/>
            <a:ext cx="328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86A7B"/>
                </a:solidFill>
              </a:defRPr>
            </a:defPPr>
            <a:lvl1pPr algn="l">
              <a:defRPr sz="1050" b="0">
                <a:solidFill>
                  <a:srgbClr val="586A7B"/>
                </a:solidFill>
              </a:defRPr>
            </a:lvl1pPr>
            <a:lvl2pPr algn="l">
              <a:defRPr sz="1050" b="0">
                <a:solidFill>
                  <a:srgbClr val="586A7B"/>
                </a:solidFill>
              </a:defRPr>
            </a:lvl2pPr>
            <a:lvl3pPr algn="l">
              <a:defRPr sz="1050" b="0">
                <a:solidFill>
                  <a:srgbClr val="586A7B"/>
                </a:solidFill>
              </a:defRPr>
            </a:lvl3pPr>
            <a:lvl4pPr algn="l">
              <a:defRPr sz="1050" b="0">
                <a:solidFill>
                  <a:srgbClr val="586A7B"/>
                </a:solidFill>
              </a:defRPr>
            </a:lvl4pPr>
            <a:lvl5pPr algn="l">
              <a:defRPr sz="1050" b="0">
                <a:solidFill>
                  <a:srgbClr val="586A7B"/>
                </a:solidFill>
              </a:defRPr>
            </a:lvl5pPr>
            <a:lvl6pPr algn="l">
              <a:defRPr sz="1050" b="0">
                <a:solidFill>
                  <a:srgbClr val="586A7B"/>
                </a:solidFill>
              </a:defRPr>
            </a:lvl6pPr>
            <a:lvl7pPr algn="l">
              <a:defRPr sz="1050" b="0">
                <a:solidFill>
                  <a:srgbClr val="586A7B"/>
                </a:solidFill>
              </a:defRPr>
            </a:lvl7pPr>
            <a:lvl8pPr algn="l">
              <a:defRPr sz="1050" b="0">
                <a:solidFill>
                  <a:srgbClr val="586A7B"/>
                </a:solidFill>
              </a:defRPr>
            </a:lvl8pPr>
            <a:lvl9pPr algn="l">
              <a:defRPr sz="1050" b="0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86A7B"/>
                </a:solidFill>
              </a:defRPr>
            </a:pPr>
            <a:r>
              <a:rPr sz="1050" b="0">
                <a:solidFill>
                  <a:srgbClr val="586A7B"/>
                </a:solidFill>
              </a:rPr>
              <a:t>Sample: 90 labeled launches | yearly denominator varies</a:t>
            </a:r>
          </a:p>
        </p:txBody>
      </p:sp>
    </p:spTree>
    <p:extLst>
      <p:ext uri="{BB962C8B-B14F-4D97-AF65-F5344CB8AC3E}">
        <p14:creationId xmlns:p14="http://schemas.microsoft.com/office/powerpoint/2010/main" val="5790963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966F9-0B8D-4B86-B665-5D8D8F6F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08C49-2079-4ED1-8684-AD6B237B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7A8"/>
                </a:solidFill>
              </a:defRPr>
            </a:defPPr>
            <a:lvl1pPr algn="l">
              <a:defRPr sz="975" b="1">
                <a:solidFill>
                  <a:srgbClr val="1677A8"/>
                </a:solidFill>
              </a:defRPr>
            </a:lvl1pPr>
            <a:lvl2pPr algn="l">
              <a:defRPr sz="975" b="1">
                <a:solidFill>
                  <a:srgbClr val="1677A8"/>
                </a:solidFill>
              </a:defRPr>
            </a:lvl2pPr>
            <a:lvl3pPr algn="l">
              <a:defRPr sz="975" b="1">
                <a:solidFill>
                  <a:srgbClr val="1677A8"/>
                </a:solidFill>
              </a:defRPr>
            </a:lvl3pPr>
            <a:lvl4pPr algn="l">
              <a:defRPr sz="975" b="1">
                <a:solidFill>
                  <a:srgbClr val="1677A8"/>
                </a:solidFill>
              </a:defRPr>
            </a:lvl4pPr>
            <a:lvl5pPr algn="l">
              <a:defRPr sz="975" b="1">
                <a:solidFill>
                  <a:srgbClr val="1677A8"/>
                </a:solidFill>
              </a:defRPr>
            </a:lvl5pPr>
            <a:lvl6pPr algn="l">
              <a:defRPr sz="975" b="1">
                <a:solidFill>
                  <a:srgbClr val="1677A8"/>
                </a:solidFill>
              </a:defRPr>
            </a:lvl6pPr>
            <a:lvl7pPr algn="l">
              <a:defRPr sz="975" b="1">
                <a:solidFill>
                  <a:srgbClr val="1677A8"/>
                </a:solidFill>
              </a:defRPr>
            </a:lvl7pPr>
            <a:lvl8pPr algn="l">
              <a:defRPr sz="975" b="1">
                <a:solidFill>
                  <a:srgbClr val="1677A8"/>
                </a:solidFill>
              </a:defRPr>
            </a:lvl8pPr>
            <a:lvl9pPr algn="l">
              <a:defRPr sz="9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77A8"/>
                </a:solidFill>
              </a:defRPr>
            </a:pPr>
            <a:r>
              <a:rPr sz="975" b="1">
                <a:solidFill>
                  <a:srgbClr val="1677A8"/>
                </a:solidFill>
              </a:rPr>
              <a:t>EDA WITH VISUALIZATION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D78C6-37F4-4A00-B4AC-F08801BA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Launch-site outcomes appear in different flight-number ranges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85320-7CFC-4286-A486-3701774F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DAEDC-9784-40AA-909A-C4871E06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677A8"/>
                </a:solidFill>
              </a:defRPr>
            </a:defPPr>
            <a:lvl1pPr algn="l">
              <a:defRPr sz="750" b="1">
                <a:solidFill>
                  <a:srgbClr val="1677A8"/>
                </a:solidFill>
              </a:defRPr>
            </a:lvl1pPr>
            <a:lvl2pPr algn="l">
              <a:defRPr sz="750" b="1">
                <a:solidFill>
                  <a:srgbClr val="1677A8"/>
                </a:solidFill>
              </a:defRPr>
            </a:lvl2pPr>
            <a:lvl3pPr algn="l">
              <a:defRPr sz="750" b="1">
                <a:solidFill>
                  <a:srgbClr val="1677A8"/>
                </a:solidFill>
              </a:defRPr>
            </a:lvl3pPr>
            <a:lvl4pPr algn="l">
              <a:defRPr sz="750" b="1">
                <a:solidFill>
                  <a:srgbClr val="1677A8"/>
                </a:solidFill>
              </a:defRPr>
            </a:lvl4pPr>
            <a:lvl5pPr algn="l">
              <a:defRPr sz="750" b="1">
                <a:solidFill>
                  <a:srgbClr val="1677A8"/>
                </a:solidFill>
              </a:defRPr>
            </a:lvl5pPr>
            <a:lvl6pPr algn="l">
              <a:defRPr sz="750" b="1">
                <a:solidFill>
                  <a:srgbClr val="1677A8"/>
                </a:solidFill>
              </a:defRPr>
            </a:lvl6pPr>
            <a:lvl7pPr algn="l">
              <a:defRPr sz="750" b="1">
                <a:solidFill>
                  <a:srgbClr val="1677A8"/>
                </a:solidFill>
              </a:defRPr>
            </a:lvl7pPr>
            <a:lvl8pPr algn="l">
              <a:defRPr sz="750" b="1">
                <a:solidFill>
                  <a:srgbClr val="1677A8"/>
                </a:solidFill>
              </a:defRPr>
            </a:lvl8pPr>
            <a:lvl9pPr algn="l">
              <a:defRPr sz="7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77A8"/>
                </a:solidFill>
              </a:defRPr>
            </a:pPr>
            <a:r>
              <a:rPr sz="750" b="1">
                <a:solidFill>
                  <a:srgbClr val="1677A8"/>
                </a:solidFill>
              </a:rPr>
              <a:t>GitHub: github.com/joaoltrevisan/spacex-falcon9-capstone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003EF-126A-49CE-A2BD-69D549CC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86A7B"/>
                </a:solidFill>
              </a:defRPr>
            </a:defPPr>
            <a:lvl1pPr algn="r">
              <a:defRPr sz="900" b="1">
                <a:solidFill>
                  <a:srgbClr val="586A7B"/>
                </a:solidFill>
              </a:defRPr>
            </a:lvl1pPr>
            <a:lvl2pPr algn="r">
              <a:defRPr sz="900" b="1">
                <a:solidFill>
                  <a:srgbClr val="586A7B"/>
                </a:solidFill>
              </a:defRPr>
            </a:lvl2pPr>
            <a:lvl3pPr algn="r">
              <a:defRPr sz="900" b="1">
                <a:solidFill>
                  <a:srgbClr val="586A7B"/>
                </a:solidFill>
              </a:defRPr>
            </a:lvl3pPr>
            <a:lvl4pPr algn="r">
              <a:defRPr sz="900" b="1">
                <a:solidFill>
                  <a:srgbClr val="586A7B"/>
                </a:solidFill>
              </a:defRPr>
            </a:lvl4pPr>
            <a:lvl5pPr algn="r">
              <a:defRPr sz="900" b="1">
                <a:solidFill>
                  <a:srgbClr val="586A7B"/>
                </a:solidFill>
              </a:defRPr>
            </a:lvl5pPr>
            <a:lvl6pPr algn="r">
              <a:defRPr sz="900" b="1">
                <a:solidFill>
                  <a:srgbClr val="586A7B"/>
                </a:solidFill>
              </a:defRPr>
            </a:lvl6pPr>
            <a:lvl7pPr algn="r">
              <a:defRPr sz="900" b="1">
                <a:solidFill>
                  <a:srgbClr val="586A7B"/>
                </a:solidFill>
              </a:defRPr>
            </a:lvl7pPr>
            <a:lvl8pPr algn="r">
              <a:defRPr sz="900" b="1">
                <a:solidFill>
                  <a:srgbClr val="586A7B"/>
                </a:solidFill>
              </a:defRPr>
            </a:lvl8pPr>
            <a:lvl9pPr algn="r">
              <a:defRPr sz="900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586A7B"/>
                </a:solidFill>
              </a:defRPr>
            </a:pPr>
            <a:r>
              <a:rPr sz="900" b="1">
                <a:solidFill>
                  <a:srgbClr val="586A7B"/>
                </a:solidFill>
              </a:rPr>
              <a:t>10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84AC1-2F65-4727-BE3F-89757DB9B1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8a35ff73bd41aa"/>
          <a:stretch xmlns:a="http://schemas.openxmlformats.org/drawingml/2006/main"/>
        </p:blipFill>
        <p:spPr>
          <a:xfrm xmlns:a="http://schemas.openxmlformats.org/drawingml/2006/main">
            <a:off x="695325" y="1834564"/>
            <a:ext cx="10782300" cy="217922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5354A-4884-4D39-9A8C-9143D0D8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81525"/>
            <a:ext cx="6477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Each point is one launch. Failures and successes occupy different parts of the flight sequence at each site, but site, year, booster version, and mission type change together.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278E4-F0C2-4685-975D-83F13A32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863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586A7B"/>
                </a:solidFill>
              </a:defRPr>
            </a:defPPr>
            <a:lvl1pPr algn="l">
              <a:defRPr sz="1125" b="1">
                <a:solidFill>
                  <a:srgbClr val="586A7B"/>
                </a:solidFill>
              </a:defRPr>
            </a:lvl1pPr>
            <a:lvl2pPr algn="l">
              <a:defRPr sz="1125" b="1">
                <a:solidFill>
                  <a:srgbClr val="586A7B"/>
                </a:solidFill>
              </a:defRPr>
            </a:lvl2pPr>
            <a:lvl3pPr algn="l">
              <a:defRPr sz="1125" b="1">
                <a:solidFill>
                  <a:srgbClr val="586A7B"/>
                </a:solidFill>
              </a:defRPr>
            </a:lvl3pPr>
            <a:lvl4pPr algn="l">
              <a:defRPr sz="1125" b="1">
                <a:solidFill>
                  <a:srgbClr val="586A7B"/>
                </a:solidFill>
              </a:defRPr>
            </a:lvl4pPr>
            <a:lvl5pPr algn="l">
              <a:defRPr sz="1125" b="1">
                <a:solidFill>
                  <a:srgbClr val="586A7B"/>
                </a:solidFill>
              </a:defRPr>
            </a:lvl5pPr>
            <a:lvl6pPr algn="l">
              <a:defRPr sz="1125" b="1">
                <a:solidFill>
                  <a:srgbClr val="586A7B"/>
                </a:solidFill>
              </a:defRPr>
            </a:lvl6pPr>
            <a:lvl7pPr algn="l">
              <a:defRPr sz="1125" b="1">
                <a:solidFill>
                  <a:srgbClr val="586A7B"/>
                </a:solidFill>
              </a:defRPr>
            </a:lvl7pPr>
            <a:lvl8pPr algn="l">
              <a:defRPr sz="1125" b="1">
                <a:solidFill>
                  <a:srgbClr val="586A7B"/>
                </a:solidFill>
              </a:defRPr>
            </a:lvl8pPr>
            <a:lvl9pPr algn="l">
              <a:defRPr sz="1125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1">
                <a:solidFill>
                  <a:srgbClr val="586A7B"/>
                </a:solidFill>
              </a:defRPr>
            </a:pPr>
            <a:r>
              <a:rPr sz="1125" b="1">
                <a:solidFill>
                  <a:srgbClr val="586A7B"/>
                </a:solidFill>
              </a:rPr>
              <a:t>Source: 90 labeled launches</a:t>
            </a:r>
          </a:p>
        </p:txBody>
      </p:sp>
    </p:spTree>
    <p:extLst>
      <p:ext uri="{BB962C8B-B14F-4D97-AF65-F5344CB8AC3E}">
        <p14:creationId xmlns:p14="http://schemas.microsoft.com/office/powerpoint/2010/main" val="73803680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948564-B833-4B6F-A07F-893BFAED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722C19-49B1-43C5-A337-8DC3DC1F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7A8"/>
                </a:solidFill>
              </a:defRPr>
            </a:defPPr>
            <a:lvl1pPr algn="l">
              <a:defRPr sz="975" b="1">
                <a:solidFill>
                  <a:srgbClr val="1677A8"/>
                </a:solidFill>
              </a:defRPr>
            </a:lvl1pPr>
            <a:lvl2pPr algn="l">
              <a:defRPr sz="975" b="1">
                <a:solidFill>
                  <a:srgbClr val="1677A8"/>
                </a:solidFill>
              </a:defRPr>
            </a:lvl2pPr>
            <a:lvl3pPr algn="l">
              <a:defRPr sz="975" b="1">
                <a:solidFill>
                  <a:srgbClr val="1677A8"/>
                </a:solidFill>
              </a:defRPr>
            </a:lvl3pPr>
            <a:lvl4pPr algn="l">
              <a:defRPr sz="975" b="1">
                <a:solidFill>
                  <a:srgbClr val="1677A8"/>
                </a:solidFill>
              </a:defRPr>
            </a:lvl4pPr>
            <a:lvl5pPr algn="l">
              <a:defRPr sz="975" b="1">
                <a:solidFill>
                  <a:srgbClr val="1677A8"/>
                </a:solidFill>
              </a:defRPr>
            </a:lvl5pPr>
            <a:lvl6pPr algn="l">
              <a:defRPr sz="975" b="1">
                <a:solidFill>
                  <a:srgbClr val="1677A8"/>
                </a:solidFill>
              </a:defRPr>
            </a:lvl6pPr>
            <a:lvl7pPr algn="l">
              <a:defRPr sz="975" b="1">
                <a:solidFill>
                  <a:srgbClr val="1677A8"/>
                </a:solidFill>
              </a:defRPr>
            </a:lvl7pPr>
            <a:lvl8pPr algn="l">
              <a:defRPr sz="975" b="1">
                <a:solidFill>
                  <a:srgbClr val="1677A8"/>
                </a:solidFill>
              </a:defRPr>
            </a:lvl8pPr>
            <a:lvl9pPr algn="l">
              <a:defRPr sz="9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77A8"/>
                </a:solidFill>
              </a:defRPr>
            </a:pPr>
            <a:r>
              <a:rPr sz="975" b="1">
                <a:solidFill>
                  <a:srgbClr val="1677A8"/>
                </a:solidFill>
              </a:rPr>
              <a:t>EDA WITH VISUALIZATION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EEEBC-4EED-45D5-958F-BF5C3AEC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Payload mass alone does not separate outcomes by site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FF595-F365-4EBD-9FB1-E93EF091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EFBBB-DA11-4838-8E96-3A3F82FE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677A8"/>
                </a:solidFill>
              </a:defRPr>
            </a:defPPr>
            <a:lvl1pPr algn="l">
              <a:defRPr sz="750" b="1">
                <a:solidFill>
                  <a:srgbClr val="1677A8"/>
                </a:solidFill>
              </a:defRPr>
            </a:lvl1pPr>
            <a:lvl2pPr algn="l">
              <a:defRPr sz="750" b="1">
                <a:solidFill>
                  <a:srgbClr val="1677A8"/>
                </a:solidFill>
              </a:defRPr>
            </a:lvl2pPr>
            <a:lvl3pPr algn="l">
              <a:defRPr sz="750" b="1">
                <a:solidFill>
                  <a:srgbClr val="1677A8"/>
                </a:solidFill>
              </a:defRPr>
            </a:lvl3pPr>
            <a:lvl4pPr algn="l">
              <a:defRPr sz="750" b="1">
                <a:solidFill>
                  <a:srgbClr val="1677A8"/>
                </a:solidFill>
              </a:defRPr>
            </a:lvl4pPr>
            <a:lvl5pPr algn="l">
              <a:defRPr sz="750" b="1">
                <a:solidFill>
                  <a:srgbClr val="1677A8"/>
                </a:solidFill>
              </a:defRPr>
            </a:lvl5pPr>
            <a:lvl6pPr algn="l">
              <a:defRPr sz="750" b="1">
                <a:solidFill>
                  <a:srgbClr val="1677A8"/>
                </a:solidFill>
              </a:defRPr>
            </a:lvl6pPr>
            <a:lvl7pPr algn="l">
              <a:defRPr sz="750" b="1">
                <a:solidFill>
                  <a:srgbClr val="1677A8"/>
                </a:solidFill>
              </a:defRPr>
            </a:lvl7pPr>
            <a:lvl8pPr algn="l">
              <a:defRPr sz="750" b="1">
                <a:solidFill>
                  <a:srgbClr val="1677A8"/>
                </a:solidFill>
              </a:defRPr>
            </a:lvl8pPr>
            <a:lvl9pPr algn="l">
              <a:defRPr sz="7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77A8"/>
                </a:solidFill>
              </a:defRPr>
            </a:pPr>
            <a:r>
              <a:rPr sz="750" b="1">
                <a:solidFill>
                  <a:srgbClr val="1677A8"/>
                </a:solidFill>
              </a:rPr>
              <a:t>GitHub: github.com/joaoltrevisan/spacex-falcon9-capstone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CBF1B9-1A23-4CFB-9A7B-8156D2A8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86A7B"/>
                </a:solidFill>
              </a:defRPr>
            </a:defPPr>
            <a:lvl1pPr algn="r">
              <a:defRPr sz="900" b="1">
                <a:solidFill>
                  <a:srgbClr val="586A7B"/>
                </a:solidFill>
              </a:defRPr>
            </a:lvl1pPr>
            <a:lvl2pPr algn="r">
              <a:defRPr sz="900" b="1">
                <a:solidFill>
                  <a:srgbClr val="586A7B"/>
                </a:solidFill>
              </a:defRPr>
            </a:lvl2pPr>
            <a:lvl3pPr algn="r">
              <a:defRPr sz="900" b="1">
                <a:solidFill>
                  <a:srgbClr val="586A7B"/>
                </a:solidFill>
              </a:defRPr>
            </a:lvl3pPr>
            <a:lvl4pPr algn="r">
              <a:defRPr sz="900" b="1">
                <a:solidFill>
                  <a:srgbClr val="586A7B"/>
                </a:solidFill>
              </a:defRPr>
            </a:lvl4pPr>
            <a:lvl5pPr algn="r">
              <a:defRPr sz="900" b="1">
                <a:solidFill>
                  <a:srgbClr val="586A7B"/>
                </a:solidFill>
              </a:defRPr>
            </a:lvl5pPr>
            <a:lvl6pPr algn="r">
              <a:defRPr sz="900" b="1">
                <a:solidFill>
                  <a:srgbClr val="586A7B"/>
                </a:solidFill>
              </a:defRPr>
            </a:lvl6pPr>
            <a:lvl7pPr algn="r">
              <a:defRPr sz="900" b="1">
                <a:solidFill>
                  <a:srgbClr val="586A7B"/>
                </a:solidFill>
              </a:defRPr>
            </a:lvl7pPr>
            <a:lvl8pPr algn="r">
              <a:defRPr sz="900" b="1">
                <a:solidFill>
                  <a:srgbClr val="586A7B"/>
                </a:solidFill>
              </a:defRPr>
            </a:lvl8pPr>
            <a:lvl9pPr algn="r">
              <a:defRPr sz="900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586A7B"/>
                </a:solidFill>
              </a:defRPr>
            </a:pPr>
            <a:r>
              <a:rPr sz="900" b="1">
                <a:solidFill>
                  <a:srgbClr val="586A7B"/>
                </a:solidFill>
              </a:rPr>
              <a:t>11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C56CD-CC54-415D-9B33-99E9C79A4A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00e3db8be4696"/>
          <a:stretch xmlns:a="http://schemas.openxmlformats.org/drawingml/2006/main"/>
        </p:blipFill>
        <p:spPr>
          <a:xfrm xmlns:a="http://schemas.openxmlformats.org/drawingml/2006/main">
            <a:off x="695325" y="1834564"/>
            <a:ext cx="10782300" cy="217922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27421-4A3D-4B20-8B97-A17D7FDD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81525"/>
            <a:ext cx="5715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Both outcomes occur across a wide payload range. Several high-mass launches succeeded, so payload weight alone does not separate outcomes.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AC7B0-B125-4B21-A408-B27363D2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81525"/>
            <a:ext cx="4286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586A7B"/>
                </a:solidFill>
              </a:defRPr>
            </a:defPPr>
            <a:lvl1pPr algn="l">
              <a:defRPr sz="1425" b="0">
                <a:solidFill>
                  <a:srgbClr val="586A7B"/>
                </a:solidFill>
              </a:defRPr>
            </a:lvl1pPr>
            <a:lvl2pPr algn="l">
              <a:defRPr sz="1425" b="0">
                <a:solidFill>
                  <a:srgbClr val="586A7B"/>
                </a:solidFill>
              </a:defRPr>
            </a:lvl2pPr>
            <a:lvl3pPr algn="l">
              <a:defRPr sz="1425" b="0">
                <a:solidFill>
                  <a:srgbClr val="586A7B"/>
                </a:solidFill>
              </a:defRPr>
            </a:lvl3pPr>
            <a:lvl4pPr algn="l">
              <a:defRPr sz="1425" b="0">
                <a:solidFill>
                  <a:srgbClr val="586A7B"/>
                </a:solidFill>
              </a:defRPr>
            </a:lvl4pPr>
            <a:lvl5pPr algn="l">
              <a:defRPr sz="1425" b="0">
                <a:solidFill>
                  <a:srgbClr val="586A7B"/>
                </a:solidFill>
              </a:defRPr>
            </a:lvl5pPr>
            <a:lvl6pPr algn="l">
              <a:defRPr sz="1425" b="0">
                <a:solidFill>
                  <a:srgbClr val="586A7B"/>
                </a:solidFill>
              </a:defRPr>
            </a:lvl6pPr>
            <a:lvl7pPr algn="l">
              <a:defRPr sz="1425" b="0">
                <a:solidFill>
                  <a:srgbClr val="586A7B"/>
                </a:solidFill>
              </a:defRPr>
            </a:lvl7pPr>
            <a:lvl8pPr algn="l">
              <a:defRPr sz="1425" b="0">
                <a:solidFill>
                  <a:srgbClr val="586A7B"/>
                </a:solidFill>
              </a:defRPr>
            </a:lvl8pPr>
            <a:lvl9pPr algn="l">
              <a:defRPr sz="1425" b="0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86A7B"/>
                </a:solidFill>
              </a:defRPr>
            </a:pPr>
            <a:r>
              <a:rPr sz="1425" b="0">
                <a:solidFill>
                  <a:srgbClr val="586A7B"/>
                </a:solidFill>
              </a:rPr>
              <a:t>The mean payload is higher among successes, but this comparison does not adjust for orbit or year.</a:t>
            </a:r>
          </a:p>
        </p:txBody>
      </p:sp>
    </p:spTree>
    <p:extLst>
      <p:ext uri="{BB962C8B-B14F-4D97-AF65-F5344CB8AC3E}">
        <p14:creationId xmlns:p14="http://schemas.microsoft.com/office/powerpoint/2010/main" val="7042345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B86DC-0A4F-4A2E-8428-5C3EC7AA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D71A14-EAA3-4C54-9943-CA698359C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7A8"/>
                </a:solidFill>
              </a:defRPr>
            </a:defPPr>
            <a:lvl1pPr algn="l">
              <a:defRPr sz="975" b="1">
                <a:solidFill>
                  <a:srgbClr val="1677A8"/>
                </a:solidFill>
              </a:defRPr>
            </a:lvl1pPr>
            <a:lvl2pPr algn="l">
              <a:defRPr sz="975" b="1">
                <a:solidFill>
                  <a:srgbClr val="1677A8"/>
                </a:solidFill>
              </a:defRPr>
            </a:lvl2pPr>
            <a:lvl3pPr algn="l">
              <a:defRPr sz="975" b="1">
                <a:solidFill>
                  <a:srgbClr val="1677A8"/>
                </a:solidFill>
              </a:defRPr>
            </a:lvl3pPr>
            <a:lvl4pPr algn="l">
              <a:defRPr sz="975" b="1">
                <a:solidFill>
                  <a:srgbClr val="1677A8"/>
                </a:solidFill>
              </a:defRPr>
            </a:lvl4pPr>
            <a:lvl5pPr algn="l">
              <a:defRPr sz="975" b="1">
                <a:solidFill>
                  <a:srgbClr val="1677A8"/>
                </a:solidFill>
              </a:defRPr>
            </a:lvl5pPr>
            <a:lvl6pPr algn="l">
              <a:defRPr sz="975" b="1">
                <a:solidFill>
                  <a:srgbClr val="1677A8"/>
                </a:solidFill>
              </a:defRPr>
            </a:lvl6pPr>
            <a:lvl7pPr algn="l">
              <a:defRPr sz="975" b="1">
                <a:solidFill>
                  <a:srgbClr val="1677A8"/>
                </a:solidFill>
              </a:defRPr>
            </a:lvl7pPr>
            <a:lvl8pPr algn="l">
              <a:defRPr sz="975" b="1">
                <a:solidFill>
                  <a:srgbClr val="1677A8"/>
                </a:solidFill>
              </a:defRPr>
            </a:lvl8pPr>
            <a:lvl9pPr algn="l">
              <a:defRPr sz="9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77A8"/>
                </a:solidFill>
              </a:defRPr>
            </a:pPr>
            <a:r>
              <a:rPr sz="975" b="1">
                <a:solidFill>
                  <a:srgbClr val="1677A8"/>
                </a:solidFill>
              </a:rPr>
              <a:t>EDA WITH VISUALIZATION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51BEF-D4E4-4163-90F0-06F05739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Orbit and payload patterns depend on sample size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7508C-0407-4BF5-9C0D-9CA671B9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3BABF-C39D-41A1-863D-239DCB20C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677A8"/>
                </a:solidFill>
              </a:defRPr>
            </a:defPPr>
            <a:lvl1pPr algn="l">
              <a:defRPr sz="750" b="1">
                <a:solidFill>
                  <a:srgbClr val="1677A8"/>
                </a:solidFill>
              </a:defRPr>
            </a:lvl1pPr>
            <a:lvl2pPr algn="l">
              <a:defRPr sz="750" b="1">
                <a:solidFill>
                  <a:srgbClr val="1677A8"/>
                </a:solidFill>
              </a:defRPr>
            </a:lvl2pPr>
            <a:lvl3pPr algn="l">
              <a:defRPr sz="750" b="1">
                <a:solidFill>
                  <a:srgbClr val="1677A8"/>
                </a:solidFill>
              </a:defRPr>
            </a:lvl3pPr>
            <a:lvl4pPr algn="l">
              <a:defRPr sz="750" b="1">
                <a:solidFill>
                  <a:srgbClr val="1677A8"/>
                </a:solidFill>
              </a:defRPr>
            </a:lvl4pPr>
            <a:lvl5pPr algn="l">
              <a:defRPr sz="750" b="1">
                <a:solidFill>
                  <a:srgbClr val="1677A8"/>
                </a:solidFill>
              </a:defRPr>
            </a:lvl5pPr>
            <a:lvl6pPr algn="l">
              <a:defRPr sz="750" b="1">
                <a:solidFill>
                  <a:srgbClr val="1677A8"/>
                </a:solidFill>
              </a:defRPr>
            </a:lvl6pPr>
            <a:lvl7pPr algn="l">
              <a:defRPr sz="750" b="1">
                <a:solidFill>
                  <a:srgbClr val="1677A8"/>
                </a:solidFill>
              </a:defRPr>
            </a:lvl7pPr>
            <a:lvl8pPr algn="l">
              <a:defRPr sz="750" b="1">
                <a:solidFill>
                  <a:srgbClr val="1677A8"/>
                </a:solidFill>
              </a:defRPr>
            </a:lvl8pPr>
            <a:lvl9pPr algn="l">
              <a:defRPr sz="7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77A8"/>
                </a:solidFill>
              </a:defRPr>
            </a:pPr>
            <a:r>
              <a:rPr sz="750" b="1">
                <a:solidFill>
                  <a:srgbClr val="1677A8"/>
                </a:solidFill>
              </a:rPr>
              <a:t>GitHub: github.com/joaoltrevisan/spacex-falcon9-capstone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6D690-4DCD-4440-AEAF-EC86546E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86A7B"/>
                </a:solidFill>
              </a:defRPr>
            </a:defPPr>
            <a:lvl1pPr algn="r">
              <a:defRPr sz="900" b="1">
                <a:solidFill>
                  <a:srgbClr val="586A7B"/>
                </a:solidFill>
              </a:defRPr>
            </a:lvl1pPr>
            <a:lvl2pPr algn="r">
              <a:defRPr sz="900" b="1">
                <a:solidFill>
                  <a:srgbClr val="586A7B"/>
                </a:solidFill>
              </a:defRPr>
            </a:lvl2pPr>
            <a:lvl3pPr algn="r">
              <a:defRPr sz="900" b="1">
                <a:solidFill>
                  <a:srgbClr val="586A7B"/>
                </a:solidFill>
              </a:defRPr>
            </a:lvl3pPr>
            <a:lvl4pPr algn="r">
              <a:defRPr sz="900" b="1">
                <a:solidFill>
                  <a:srgbClr val="586A7B"/>
                </a:solidFill>
              </a:defRPr>
            </a:lvl4pPr>
            <a:lvl5pPr algn="r">
              <a:defRPr sz="900" b="1">
                <a:solidFill>
                  <a:srgbClr val="586A7B"/>
                </a:solidFill>
              </a:defRPr>
            </a:lvl5pPr>
            <a:lvl6pPr algn="r">
              <a:defRPr sz="900" b="1">
                <a:solidFill>
                  <a:srgbClr val="586A7B"/>
                </a:solidFill>
              </a:defRPr>
            </a:lvl6pPr>
            <a:lvl7pPr algn="r">
              <a:defRPr sz="900" b="1">
                <a:solidFill>
                  <a:srgbClr val="586A7B"/>
                </a:solidFill>
              </a:defRPr>
            </a:lvl7pPr>
            <a:lvl8pPr algn="r">
              <a:defRPr sz="900" b="1">
                <a:solidFill>
                  <a:srgbClr val="586A7B"/>
                </a:solidFill>
              </a:defRPr>
            </a:lvl8pPr>
            <a:lvl9pPr algn="r">
              <a:defRPr sz="900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586A7B"/>
                </a:solidFill>
              </a:defRPr>
            </a:pPr>
            <a:r>
              <a:rPr sz="900" b="1">
                <a:solidFill>
                  <a:srgbClr val="586A7B"/>
                </a:solidFill>
              </a:rPr>
              <a:t>12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CA84B-9956-4F26-A487-B80EC86F4A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d96d1b6ec4c85"/>
          <a:stretch xmlns:a="http://schemas.openxmlformats.org/drawingml/2006/main"/>
        </p:blipFill>
        <p:spPr>
          <a:xfrm xmlns:a="http://schemas.openxmlformats.org/drawingml/2006/main">
            <a:off x="695325" y="2130378"/>
            <a:ext cx="7858125" cy="1587593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67D22-3BA5-4824-BF92-7C7279DD4E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c2b2c4bca4065"/>
          <a:stretch xmlns:a="http://schemas.openxmlformats.org/drawingml/2006/main"/>
        </p:blipFill>
        <p:spPr>
          <a:xfrm xmlns:a="http://schemas.openxmlformats.org/drawingml/2006/main">
            <a:off x="734844" y="4429125"/>
            <a:ext cx="7779088" cy="1571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41B50-AB00-4197-98E2-4D896CC5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9775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5263A"/>
                </a:solidFill>
              </a:defRPr>
            </a:defPPr>
            <a:lvl1pPr algn="l">
              <a:defRPr sz="1425" b="0">
                <a:solidFill>
                  <a:srgbClr val="15263A"/>
                </a:solidFill>
              </a:defRPr>
            </a:lvl1pPr>
            <a:lvl2pPr algn="l">
              <a:defRPr sz="1425" b="0">
                <a:solidFill>
                  <a:srgbClr val="15263A"/>
                </a:solidFill>
              </a:defRPr>
            </a:lvl2pPr>
            <a:lvl3pPr algn="l">
              <a:defRPr sz="1425" b="0">
                <a:solidFill>
                  <a:srgbClr val="15263A"/>
                </a:solidFill>
              </a:defRPr>
            </a:lvl3pPr>
            <a:lvl4pPr algn="l">
              <a:defRPr sz="1425" b="0">
                <a:solidFill>
                  <a:srgbClr val="15263A"/>
                </a:solidFill>
              </a:defRPr>
            </a:lvl4pPr>
            <a:lvl5pPr algn="l">
              <a:defRPr sz="1425" b="0">
                <a:solidFill>
                  <a:srgbClr val="15263A"/>
                </a:solidFill>
              </a:defRPr>
            </a:lvl5pPr>
            <a:lvl6pPr algn="l">
              <a:defRPr sz="1425" b="0">
                <a:solidFill>
                  <a:srgbClr val="15263A"/>
                </a:solidFill>
              </a:defRPr>
            </a:lvl6pPr>
            <a:lvl7pPr algn="l">
              <a:defRPr sz="1425" b="0">
                <a:solidFill>
                  <a:srgbClr val="15263A"/>
                </a:solidFill>
              </a:defRPr>
            </a:lvl7pPr>
            <a:lvl8pPr algn="l">
              <a:defRPr sz="1425" b="0">
                <a:solidFill>
                  <a:srgbClr val="15263A"/>
                </a:solidFill>
              </a:defRPr>
            </a:lvl8pPr>
            <a:lvl9pPr algn="l">
              <a:defRPr sz="1425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5263A"/>
                </a:solidFill>
              </a:defRPr>
            </a:pPr>
            <a:r>
              <a:rPr sz="1425" b="0">
                <a:solidFill>
                  <a:srgbClr val="15263A"/>
                </a:solidFill>
              </a:rPr>
              <a:t>Some orbit categories have very few launches. A 100% observed rate with one launch does not imply a stable high-success profile.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89F66-B59B-43DC-BB47-0975D512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1950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586A7B"/>
                </a:solidFill>
              </a:defRPr>
            </a:defPPr>
            <a:lvl1pPr algn="l">
              <a:defRPr sz="1425" b="0">
                <a:solidFill>
                  <a:srgbClr val="586A7B"/>
                </a:solidFill>
              </a:defRPr>
            </a:lvl1pPr>
            <a:lvl2pPr algn="l">
              <a:defRPr sz="1425" b="0">
                <a:solidFill>
                  <a:srgbClr val="586A7B"/>
                </a:solidFill>
              </a:defRPr>
            </a:lvl2pPr>
            <a:lvl3pPr algn="l">
              <a:defRPr sz="1425" b="0">
                <a:solidFill>
                  <a:srgbClr val="586A7B"/>
                </a:solidFill>
              </a:defRPr>
            </a:lvl3pPr>
            <a:lvl4pPr algn="l">
              <a:defRPr sz="1425" b="0">
                <a:solidFill>
                  <a:srgbClr val="586A7B"/>
                </a:solidFill>
              </a:defRPr>
            </a:lvl4pPr>
            <a:lvl5pPr algn="l">
              <a:defRPr sz="1425" b="0">
                <a:solidFill>
                  <a:srgbClr val="586A7B"/>
                </a:solidFill>
              </a:defRPr>
            </a:lvl5pPr>
            <a:lvl6pPr algn="l">
              <a:defRPr sz="1425" b="0">
                <a:solidFill>
                  <a:srgbClr val="586A7B"/>
                </a:solidFill>
              </a:defRPr>
            </a:lvl6pPr>
            <a:lvl7pPr algn="l">
              <a:defRPr sz="1425" b="0">
                <a:solidFill>
                  <a:srgbClr val="586A7B"/>
                </a:solidFill>
              </a:defRPr>
            </a:lvl7pPr>
            <a:lvl8pPr algn="l">
              <a:defRPr sz="1425" b="0">
                <a:solidFill>
                  <a:srgbClr val="586A7B"/>
                </a:solidFill>
              </a:defRPr>
            </a:lvl8pPr>
            <a:lvl9pPr algn="l">
              <a:defRPr sz="1425" b="0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86A7B"/>
                </a:solidFill>
              </a:defRPr>
            </a:pPr>
            <a:r>
              <a:rPr sz="1425" b="0">
                <a:solidFill>
                  <a:srgbClr val="586A7B"/>
                </a:solidFill>
              </a:rPr>
              <a:t>The larger groups, such as GTO and ISS, show both outcomes and support more informative comparisons.</a:t>
            </a:r>
          </a:p>
        </p:txBody>
      </p:sp>
    </p:spTree>
    <p:extLst>
      <p:ext uri="{BB962C8B-B14F-4D97-AF65-F5344CB8AC3E}">
        <p14:creationId xmlns:p14="http://schemas.microsoft.com/office/powerpoint/2010/main" val="18496125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E22B8C-904E-4876-8B00-B55B00A8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15958-EBAF-4D9D-AE0E-24398A05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7A8"/>
                </a:solidFill>
              </a:defRPr>
            </a:defPPr>
            <a:lvl1pPr algn="l">
              <a:defRPr sz="975" b="1">
                <a:solidFill>
                  <a:srgbClr val="1677A8"/>
                </a:solidFill>
              </a:defRPr>
            </a:lvl1pPr>
            <a:lvl2pPr algn="l">
              <a:defRPr sz="975" b="1">
                <a:solidFill>
                  <a:srgbClr val="1677A8"/>
                </a:solidFill>
              </a:defRPr>
            </a:lvl2pPr>
            <a:lvl3pPr algn="l">
              <a:defRPr sz="975" b="1">
                <a:solidFill>
                  <a:srgbClr val="1677A8"/>
                </a:solidFill>
              </a:defRPr>
            </a:lvl3pPr>
            <a:lvl4pPr algn="l">
              <a:defRPr sz="975" b="1">
                <a:solidFill>
                  <a:srgbClr val="1677A8"/>
                </a:solidFill>
              </a:defRPr>
            </a:lvl4pPr>
            <a:lvl5pPr algn="l">
              <a:defRPr sz="975" b="1">
                <a:solidFill>
                  <a:srgbClr val="1677A8"/>
                </a:solidFill>
              </a:defRPr>
            </a:lvl5pPr>
            <a:lvl6pPr algn="l">
              <a:defRPr sz="975" b="1">
                <a:solidFill>
                  <a:srgbClr val="1677A8"/>
                </a:solidFill>
              </a:defRPr>
            </a:lvl6pPr>
            <a:lvl7pPr algn="l">
              <a:defRPr sz="975" b="1">
                <a:solidFill>
                  <a:srgbClr val="1677A8"/>
                </a:solidFill>
              </a:defRPr>
            </a:lvl7pPr>
            <a:lvl8pPr algn="l">
              <a:defRPr sz="975" b="1">
                <a:solidFill>
                  <a:srgbClr val="1677A8"/>
                </a:solidFill>
              </a:defRPr>
            </a:lvl8pPr>
            <a:lvl9pPr algn="l">
              <a:defRPr sz="9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77A8"/>
                </a:solidFill>
              </a:defRPr>
            </a:pPr>
            <a:r>
              <a:rPr sz="975" b="1">
                <a:solidFill>
                  <a:srgbClr val="1677A8"/>
                </a:solidFill>
              </a:rPr>
              <a:t>EDA WITH VISUALIZATION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0D1DA-C2CE-4258-80DA-F98531AC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Bar charts compare observed success rates across categories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4C9CA-2C92-4EC0-AD93-50F00693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D5FA0-2B19-4BBC-B0BE-C11288F1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677A8"/>
                </a:solidFill>
              </a:defRPr>
            </a:defPPr>
            <a:lvl1pPr algn="l">
              <a:defRPr sz="750" b="1">
                <a:solidFill>
                  <a:srgbClr val="1677A8"/>
                </a:solidFill>
              </a:defRPr>
            </a:lvl1pPr>
            <a:lvl2pPr algn="l">
              <a:defRPr sz="750" b="1">
                <a:solidFill>
                  <a:srgbClr val="1677A8"/>
                </a:solidFill>
              </a:defRPr>
            </a:lvl2pPr>
            <a:lvl3pPr algn="l">
              <a:defRPr sz="750" b="1">
                <a:solidFill>
                  <a:srgbClr val="1677A8"/>
                </a:solidFill>
              </a:defRPr>
            </a:lvl3pPr>
            <a:lvl4pPr algn="l">
              <a:defRPr sz="750" b="1">
                <a:solidFill>
                  <a:srgbClr val="1677A8"/>
                </a:solidFill>
              </a:defRPr>
            </a:lvl4pPr>
            <a:lvl5pPr algn="l">
              <a:defRPr sz="750" b="1">
                <a:solidFill>
                  <a:srgbClr val="1677A8"/>
                </a:solidFill>
              </a:defRPr>
            </a:lvl5pPr>
            <a:lvl6pPr algn="l">
              <a:defRPr sz="750" b="1">
                <a:solidFill>
                  <a:srgbClr val="1677A8"/>
                </a:solidFill>
              </a:defRPr>
            </a:lvl6pPr>
            <a:lvl7pPr algn="l">
              <a:defRPr sz="750" b="1">
                <a:solidFill>
                  <a:srgbClr val="1677A8"/>
                </a:solidFill>
              </a:defRPr>
            </a:lvl7pPr>
            <a:lvl8pPr algn="l">
              <a:defRPr sz="750" b="1">
                <a:solidFill>
                  <a:srgbClr val="1677A8"/>
                </a:solidFill>
              </a:defRPr>
            </a:lvl8pPr>
            <a:lvl9pPr algn="l">
              <a:defRPr sz="7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77A8"/>
                </a:solidFill>
              </a:defRPr>
            </a:pPr>
            <a:r>
              <a:rPr sz="750" b="1">
                <a:solidFill>
                  <a:srgbClr val="1677A8"/>
                </a:solidFill>
              </a:rPr>
              <a:t>GitHub: github.com/joaoltrevisan/spacex-falcon9-capstone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D5F64-145C-4F85-869A-D33D7B75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86A7B"/>
                </a:solidFill>
              </a:defRPr>
            </a:defPPr>
            <a:lvl1pPr algn="r">
              <a:defRPr sz="900" b="1">
                <a:solidFill>
                  <a:srgbClr val="586A7B"/>
                </a:solidFill>
              </a:defRPr>
            </a:lvl1pPr>
            <a:lvl2pPr algn="r">
              <a:defRPr sz="900" b="1">
                <a:solidFill>
                  <a:srgbClr val="586A7B"/>
                </a:solidFill>
              </a:defRPr>
            </a:lvl2pPr>
            <a:lvl3pPr algn="r">
              <a:defRPr sz="900" b="1">
                <a:solidFill>
                  <a:srgbClr val="586A7B"/>
                </a:solidFill>
              </a:defRPr>
            </a:lvl3pPr>
            <a:lvl4pPr algn="r">
              <a:defRPr sz="900" b="1">
                <a:solidFill>
                  <a:srgbClr val="586A7B"/>
                </a:solidFill>
              </a:defRPr>
            </a:lvl4pPr>
            <a:lvl5pPr algn="r">
              <a:defRPr sz="900" b="1">
                <a:solidFill>
                  <a:srgbClr val="586A7B"/>
                </a:solidFill>
              </a:defRPr>
            </a:lvl5pPr>
            <a:lvl6pPr algn="r">
              <a:defRPr sz="900" b="1">
                <a:solidFill>
                  <a:srgbClr val="586A7B"/>
                </a:solidFill>
              </a:defRPr>
            </a:lvl6pPr>
            <a:lvl7pPr algn="r">
              <a:defRPr sz="900" b="1">
                <a:solidFill>
                  <a:srgbClr val="586A7B"/>
                </a:solidFill>
              </a:defRPr>
            </a:lvl7pPr>
            <a:lvl8pPr algn="r">
              <a:defRPr sz="900" b="1">
                <a:solidFill>
                  <a:srgbClr val="586A7B"/>
                </a:solidFill>
              </a:defRPr>
            </a:lvl8pPr>
            <a:lvl9pPr algn="r">
              <a:defRPr sz="900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586A7B"/>
                </a:solidFill>
              </a:defRPr>
            </a:pPr>
            <a:r>
              <a:rPr sz="900" b="1">
                <a:solidFill>
                  <a:srgbClr val="586A7B"/>
                </a:solidFill>
              </a:rPr>
              <a:t>13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B42A77-8107-4CF8-9E6D-728830F92D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a9f060f2a4130"/>
          <a:stretch xmlns:a="http://schemas.openxmlformats.org/drawingml/2006/main"/>
        </p:blipFill>
        <p:spPr>
          <a:xfrm xmlns:a="http://schemas.openxmlformats.org/drawingml/2006/main">
            <a:off x="1967279" y="1495425"/>
            <a:ext cx="4866542" cy="3905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EC63E6-0F83-40DE-BCF3-3C44DEB4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430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677A8"/>
                </a:solidFill>
              </a:defRPr>
            </a:defPPr>
            <a:lvl1pPr algn="l">
              <a:defRPr sz="1200" b="1">
                <a:solidFill>
                  <a:srgbClr val="1677A8"/>
                </a:solidFill>
              </a:defRPr>
            </a:lvl1pPr>
            <a:lvl2pPr algn="l">
              <a:defRPr sz="1200" b="1">
                <a:solidFill>
                  <a:srgbClr val="1677A8"/>
                </a:solidFill>
              </a:defRPr>
            </a:lvl2pPr>
            <a:lvl3pPr algn="l">
              <a:defRPr sz="1200" b="1">
                <a:solidFill>
                  <a:srgbClr val="1677A8"/>
                </a:solidFill>
              </a:defRPr>
            </a:lvl3pPr>
            <a:lvl4pPr algn="l">
              <a:defRPr sz="1200" b="1">
                <a:solidFill>
                  <a:srgbClr val="1677A8"/>
                </a:solidFill>
              </a:defRPr>
            </a:lvl4pPr>
            <a:lvl5pPr algn="l">
              <a:defRPr sz="1200" b="1">
                <a:solidFill>
                  <a:srgbClr val="1677A8"/>
                </a:solidFill>
              </a:defRPr>
            </a:lvl5pPr>
            <a:lvl6pPr algn="l">
              <a:defRPr sz="1200" b="1">
                <a:solidFill>
                  <a:srgbClr val="1677A8"/>
                </a:solidFill>
              </a:defRPr>
            </a:lvl6pPr>
            <a:lvl7pPr algn="l">
              <a:defRPr sz="1200" b="1">
                <a:solidFill>
                  <a:srgbClr val="1677A8"/>
                </a:solidFill>
              </a:defRPr>
            </a:lvl7pPr>
            <a:lvl8pPr algn="l">
              <a:defRPr sz="1200" b="1">
                <a:solidFill>
                  <a:srgbClr val="1677A8"/>
                </a:solidFill>
              </a:defRPr>
            </a:lvl8pPr>
            <a:lvl9pPr algn="l">
              <a:defRPr sz="120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677A8"/>
                </a:solidFill>
              </a:defRPr>
            </a:pPr>
            <a:r>
              <a:rPr sz="1200" b="1">
                <a:solidFill>
                  <a:srgbClr val="1677A8"/>
                </a:solidFill>
              </a:rPr>
              <a:t>Why this chart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4B844-9620-47F1-8444-2C02858D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43125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The bars make orbit-level outcome differences easy to compare at a glance.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117CBB-7615-4517-A0F9-3A8192B3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71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677A8"/>
                </a:solidFill>
              </a:defRPr>
            </a:defPPr>
            <a:lvl1pPr algn="l">
              <a:defRPr sz="1200" b="1">
                <a:solidFill>
                  <a:srgbClr val="1677A8"/>
                </a:solidFill>
              </a:defRPr>
            </a:lvl1pPr>
            <a:lvl2pPr algn="l">
              <a:defRPr sz="1200" b="1">
                <a:solidFill>
                  <a:srgbClr val="1677A8"/>
                </a:solidFill>
              </a:defRPr>
            </a:lvl2pPr>
            <a:lvl3pPr algn="l">
              <a:defRPr sz="1200" b="1">
                <a:solidFill>
                  <a:srgbClr val="1677A8"/>
                </a:solidFill>
              </a:defRPr>
            </a:lvl3pPr>
            <a:lvl4pPr algn="l">
              <a:defRPr sz="1200" b="1">
                <a:solidFill>
                  <a:srgbClr val="1677A8"/>
                </a:solidFill>
              </a:defRPr>
            </a:lvl4pPr>
            <a:lvl5pPr algn="l">
              <a:defRPr sz="1200" b="1">
                <a:solidFill>
                  <a:srgbClr val="1677A8"/>
                </a:solidFill>
              </a:defRPr>
            </a:lvl5pPr>
            <a:lvl6pPr algn="l">
              <a:defRPr sz="1200" b="1">
                <a:solidFill>
                  <a:srgbClr val="1677A8"/>
                </a:solidFill>
              </a:defRPr>
            </a:lvl6pPr>
            <a:lvl7pPr algn="l">
              <a:defRPr sz="1200" b="1">
                <a:solidFill>
                  <a:srgbClr val="1677A8"/>
                </a:solidFill>
              </a:defRPr>
            </a:lvl7pPr>
            <a:lvl8pPr algn="l">
              <a:defRPr sz="1200" b="1">
                <a:solidFill>
                  <a:srgbClr val="1677A8"/>
                </a:solidFill>
              </a:defRPr>
            </a:lvl8pPr>
            <a:lvl9pPr algn="l">
              <a:defRPr sz="120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677A8"/>
                </a:solidFill>
              </a:defRPr>
            </a:pPr>
            <a:r>
              <a:rPr sz="1200" b="1">
                <a:solidFill>
                  <a:srgbClr val="1677A8"/>
                </a:solidFill>
              </a:rPr>
              <a:t>Read with counts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65E91-2A21-44A5-A468-6DC18AFB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7190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586A7B"/>
                </a:solidFill>
              </a:defRPr>
            </a:defPPr>
            <a:lvl1pPr algn="l">
              <a:defRPr sz="1425" b="0">
                <a:solidFill>
                  <a:srgbClr val="586A7B"/>
                </a:solidFill>
              </a:defRPr>
            </a:lvl1pPr>
            <a:lvl2pPr algn="l">
              <a:defRPr sz="1425" b="0">
                <a:solidFill>
                  <a:srgbClr val="586A7B"/>
                </a:solidFill>
              </a:defRPr>
            </a:lvl2pPr>
            <a:lvl3pPr algn="l">
              <a:defRPr sz="1425" b="0">
                <a:solidFill>
                  <a:srgbClr val="586A7B"/>
                </a:solidFill>
              </a:defRPr>
            </a:lvl3pPr>
            <a:lvl4pPr algn="l">
              <a:defRPr sz="1425" b="0">
                <a:solidFill>
                  <a:srgbClr val="586A7B"/>
                </a:solidFill>
              </a:defRPr>
            </a:lvl4pPr>
            <a:lvl5pPr algn="l">
              <a:defRPr sz="1425" b="0">
                <a:solidFill>
                  <a:srgbClr val="586A7B"/>
                </a:solidFill>
              </a:defRPr>
            </a:lvl5pPr>
            <a:lvl6pPr algn="l">
              <a:defRPr sz="1425" b="0">
                <a:solidFill>
                  <a:srgbClr val="586A7B"/>
                </a:solidFill>
              </a:defRPr>
            </a:lvl6pPr>
            <a:lvl7pPr algn="l">
              <a:defRPr sz="1425" b="0">
                <a:solidFill>
                  <a:srgbClr val="586A7B"/>
                </a:solidFill>
              </a:defRPr>
            </a:lvl7pPr>
            <a:lvl8pPr algn="l">
              <a:defRPr sz="1425" b="0">
                <a:solidFill>
                  <a:srgbClr val="586A7B"/>
                </a:solidFill>
              </a:defRPr>
            </a:lvl8pPr>
            <a:lvl9pPr algn="l">
              <a:defRPr sz="1425" b="0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86A7B"/>
                </a:solidFill>
              </a:defRPr>
            </a:pPr>
            <a:r>
              <a:rPr sz="1425" b="0">
                <a:solidFill>
                  <a:srgbClr val="586A7B"/>
                </a:solidFill>
              </a:rPr>
              <a:t>Rare orbits can show 100% success with only one launch. SQL tables report denominators alongside the rates.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EFA8A-9455-42DD-8BFC-676407F7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5263A"/>
                </a:solidFill>
              </a:defRPr>
            </a:defPPr>
            <a:lvl1pPr algn="l">
              <a:defRPr sz="1275" b="1">
                <a:solidFill>
                  <a:srgbClr val="15263A"/>
                </a:solidFill>
              </a:defRPr>
            </a:lvl1pPr>
            <a:lvl2pPr algn="l">
              <a:defRPr sz="1275" b="1">
                <a:solidFill>
                  <a:srgbClr val="15263A"/>
                </a:solidFill>
              </a:defRPr>
            </a:lvl2pPr>
            <a:lvl3pPr algn="l">
              <a:defRPr sz="1275" b="1">
                <a:solidFill>
                  <a:srgbClr val="15263A"/>
                </a:solidFill>
              </a:defRPr>
            </a:lvl3pPr>
            <a:lvl4pPr algn="l">
              <a:defRPr sz="1275" b="1">
                <a:solidFill>
                  <a:srgbClr val="15263A"/>
                </a:solidFill>
              </a:defRPr>
            </a:lvl4pPr>
            <a:lvl5pPr algn="l">
              <a:defRPr sz="1275" b="1">
                <a:solidFill>
                  <a:srgbClr val="15263A"/>
                </a:solidFill>
              </a:defRPr>
            </a:lvl5pPr>
            <a:lvl6pPr algn="l">
              <a:defRPr sz="1275" b="1">
                <a:solidFill>
                  <a:srgbClr val="15263A"/>
                </a:solidFill>
              </a:defRPr>
            </a:lvl6pPr>
            <a:lvl7pPr algn="l">
              <a:defRPr sz="1275" b="1">
                <a:solidFill>
                  <a:srgbClr val="15263A"/>
                </a:solidFill>
              </a:defRPr>
            </a:lvl7pPr>
            <a:lvl8pPr algn="l">
              <a:defRPr sz="1275" b="1">
                <a:solidFill>
                  <a:srgbClr val="15263A"/>
                </a:solidFill>
              </a:defRPr>
            </a:lvl8pPr>
            <a:lvl9pPr algn="l">
              <a:defRPr sz="127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5263A"/>
                </a:solidFill>
              </a:defRPr>
            </a:pPr>
            <a:r>
              <a:rPr sz="1275" b="1">
                <a:solidFill>
                  <a:srgbClr val="15263A"/>
                </a:solidFill>
              </a:rPr>
              <a:t>Additional EDA visuals: flight-versus-site and payload-versus-site scatter plots; annual success-rate trend.</a:t>
            </a:r>
          </a:p>
        </p:txBody>
      </p:sp>
    </p:spTree>
    <p:extLst>
      <p:ext uri="{BB962C8B-B14F-4D97-AF65-F5344CB8AC3E}">
        <p14:creationId xmlns:p14="http://schemas.microsoft.com/office/powerpoint/2010/main" val="20589318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1DC204-4CD6-44F7-B96F-37B2314B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BCBDF-7B52-474B-9FA7-D4456173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7A8"/>
                </a:solidFill>
              </a:defRPr>
            </a:defPPr>
            <a:lvl1pPr algn="l">
              <a:defRPr sz="975" b="1">
                <a:solidFill>
                  <a:srgbClr val="1677A8"/>
                </a:solidFill>
              </a:defRPr>
            </a:lvl1pPr>
            <a:lvl2pPr algn="l">
              <a:defRPr sz="975" b="1">
                <a:solidFill>
                  <a:srgbClr val="1677A8"/>
                </a:solidFill>
              </a:defRPr>
            </a:lvl2pPr>
            <a:lvl3pPr algn="l">
              <a:defRPr sz="975" b="1">
                <a:solidFill>
                  <a:srgbClr val="1677A8"/>
                </a:solidFill>
              </a:defRPr>
            </a:lvl3pPr>
            <a:lvl4pPr algn="l">
              <a:defRPr sz="975" b="1">
                <a:solidFill>
                  <a:srgbClr val="1677A8"/>
                </a:solidFill>
              </a:defRPr>
            </a:lvl4pPr>
            <a:lvl5pPr algn="l">
              <a:defRPr sz="975" b="1">
                <a:solidFill>
                  <a:srgbClr val="1677A8"/>
                </a:solidFill>
              </a:defRPr>
            </a:lvl5pPr>
            <a:lvl6pPr algn="l">
              <a:defRPr sz="975" b="1">
                <a:solidFill>
                  <a:srgbClr val="1677A8"/>
                </a:solidFill>
              </a:defRPr>
            </a:lvl6pPr>
            <a:lvl7pPr algn="l">
              <a:defRPr sz="975" b="1">
                <a:solidFill>
                  <a:srgbClr val="1677A8"/>
                </a:solidFill>
              </a:defRPr>
            </a:lvl7pPr>
            <a:lvl8pPr algn="l">
              <a:defRPr sz="975" b="1">
                <a:solidFill>
                  <a:srgbClr val="1677A8"/>
                </a:solidFill>
              </a:defRPr>
            </a:lvl8pPr>
            <a:lvl9pPr algn="l">
              <a:defRPr sz="9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77A8"/>
                </a:solidFill>
              </a:defRPr>
            </a:pPr>
            <a:r>
              <a:rPr sz="975" b="1">
                <a:solidFill>
                  <a:srgbClr val="1677A8"/>
                </a:solidFill>
              </a:rPr>
              <a:t>EDA WITH 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44682-D263-4E99-B935-60DE32B0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SQL analysis makes group sizes explicit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13B0E-462B-4244-A8EF-2592D632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B1461-EC92-499C-8BEB-957364E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677A8"/>
                </a:solidFill>
              </a:defRPr>
            </a:defPPr>
            <a:lvl1pPr algn="l">
              <a:defRPr sz="750" b="1">
                <a:solidFill>
                  <a:srgbClr val="1677A8"/>
                </a:solidFill>
              </a:defRPr>
            </a:lvl1pPr>
            <a:lvl2pPr algn="l">
              <a:defRPr sz="750" b="1">
                <a:solidFill>
                  <a:srgbClr val="1677A8"/>
                </a:solidFill>
              </a:defRPr>
            </a:lvl2pPr>
            <a:lvl3pPr algn="l">
              <a:defRPr sz="750" b="1">
                <a:solidFill>
                  <a:srgbClr val="1677A8"/>
                </a:solidFill>
              </a:defRPr>
            </a:lvl3pPr>
            <a:lvl4pPr algn="l">
              <a:defRPr sz="750" b="1">
                <a:solidFill>
                  <a:srgbClr val="1677A8"/>
                </a:solidFill>
              </a:defRPr>
            </a:lvl4pPr>
            <a:lvl5pPr algn="l">
              <a:defRPr sz="750" b="1">
                <a:solidFill>
                  <a:srgbClr val="1677A8"/>
                </a:solidFill>
              </a:defRPr>
            </a:lvl5pPr>
            <a:lvl6pPr algn="l">
              <a:defRPr sz="750" b="1">
                <a:solidFill>
                  <a:srgbClr val="1677A8"/>
                </a:solidFill>
              </a:defRPr>
            </a:lvl6pPr>
            <a:lvl7pPr algn="l">
              <a:defRPr sz="750" b="1">
                <a:solidFill>
                  <a:srgbClr val="1677A8"/>
                </a:solidFill>
              </a:defRPr>
            </a:lvl7pPr>
            <a:lvl8pPr algn="l">
              <a:defRPr sz="750" b="1">
                <a:solidFill>
                  <a:srgbClr val="1677A8"/>
                </a:solidFill>
              </a:defRPr>
            </a:lvl8pPr>
            <a:lvl9pPr algn="l">
              <a:defRPr sz="7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77A8"/>
                </a:solidFill>
              </a:defRPr>
            </a:pPr>
            <a:r>
              <a:rPr sz="750" b="1">
                <a:solidFill>
                  <a:srgbClr val="1677A8"/>
                </a:solidFill>
              </a:rPr>
              <a:t>GitHub: github.com/joaoltrevisan/spacex-falcon9-capstone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94F10-B99E-4D37-925F-6183AE1E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86A7B"/>
                </a:solidFill>
              </a:defRPr>
            </a:defPPr>
            <a:lvl1pPr algn="r">
              <a:defRPr sz="900" b="1">
                <a:solidFill>
                  <a:srgbClr val="586A7B"/>
                </a:solidFill>
              </a:defRPr>
            </a:lvl1pPr>
            <a:lvl2pPr algn="r">
              <a:defRPr sz="900" b="1">
                <a:solidFill>
                  <a:srgbClr val="586A7B"/>
                </a:solidFill>
              </a:defRPr>
            </a:lvl2pPr>
            <a:lvl3pPr algn="r">
              <a:defRPr sz="900" b="1">
                <a:solidFill>
                  <a:srgbClr val="586A7B"/>
                </a:solidFill>
              </a:defRPr>
            </a:lvl3pPr>
            <a:lvl4pPr algn="r">
              <a:defRPr sz="900" b="1">
                <a:solidFill>
                  <a:srgbClr val="586A7B"/>
                </a:solidFill>
              </a:defRPr>
            </a:lvl4pPr>
            <a:lvl5pPr algn="r">
              <a:defRPr sz="900" b="1">
                <a:solidFill>
                  <a:srgbClr val="586A7B"/>
                </a:solidFill>
              </a:defRPr>
            </a:lvl5pPr>
            <a:lvl6pPr algn="r">
              <a:defRPr sz="900" b="1">
                <a:solidFill>
                  <a:srgbClr val="586A7B"/>
                </a:solidFill>
              </a:defRPr>
            </a:lvl6pPr>
            <a:lvl7pPr algn="r">
              <a:defRPr sz="900" b="1">
                <a:solidFill>
                  <a:srgbClr val="586A7B"/>
                </a:solidFill>
              </a:defRPr>
            </a:lvl7pPr>
            <a:lvl8pPr algn="r">
              <a:defRPr sz="900" b="1">
                <a:solidFill>
                  <a:srgbClr val="586A7B"/>
                </a:solidFill>
              </a:defRPr>
            </a:lvl8pPr>
            <a:lvl9pPr algn="r">
              <a:defRPr sz="900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586A7B"/>
                </a:solidFill>
              </a:defRPr>
            </a:pPr>
            <a:r>
              <a:rPr sz="900" b="1">
                <a:solidFill>
                  <a:srgbClr val="586A7B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C7EA4-23A1-4F99-B91F-67C16715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0">
                <a:solidFill>
                  <a:srgbClr val="15263A"/>
                </a:solidFill>
              </a:defRPr>
            </a:defPPr>
            <a:lvl1pPr algn="l">
              <a:defRPr sz="1650" b="0">
                <a:solidFill>
                  <a:srgbClr val="15263A"/>
                </a:solidFill>
              </a:defRPr>
            </a:lvl1pPr>
            <a:lvl2pPr algn="l">
              <a:defRPr sz="1650" b="0">
                <a:solidFill>
                  <a:srgbClr val="15263A"/>
                </a:solidFill>
              </a:defRPr>
            </a:lvl2pPr>
            <a:lvl3pPr algn="l">
              <a:defRPr sz="1650" b="0">
                <a:solidFill>
                  <a:srgbClr val="15263A"/>
                </a:solidFill>
              </a:defRPr>
            </a:lvl3pPr>
            <a:lvl4pPr algn="l">
              <a:defRPr sz="1650" b="0">
                <a:solidFill>
                  <a:srgbClr val="15263A"/>
                </a:solidFill>
              </a:defRPr>
            </a:lvl4pPr>
            <a:lvl5pPr algn="l">
              <a:defRPr sz="1650" b="0">
                <a:solidFill>
                  <a:srgbClr val="15263A"/>
                </a:solidFill>
              </a:defRPr>
            </a:lvl5pPr>
            <a:lvl6pPr algn="l">
              <a:defRPr sz="1650" b="0">
                <a:solidFill>
                  <a:srgbClr val="15263A"/>
                </a:solidFill>
              </a:defRPr>
            </a:lvl6pPr>
            <a:lvl7pPr algn="l">
              <a:defRPr sz="1650" b="0">
                <a:solidFill>
                  <a:srgbClr val="15263A"/>
                </a:solidFill>
              </a:defRPr>
            </a:lvl7pPr>
            <a:lvl8pPr algn="l">
              <a:defRPr sz="1650" b="0">
                <a:solidFill>
                  <a:srgbClr val="15263A"/>
                </a:solidFill>
              </a:defRPr>
            </a:lvl8pPr>
            <a:lvl9pPr algn="l">
              <a:defRPr sz="165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5263A"/>
                </a:solidFill>
              </a:defRPr>
            </a:pPr>
            <a:r>
              <a:rPr sz="1650" b="0">
                <a:solidFill>
                  <a:srgbClr val="15263A"/>
                </a:solidFill>
              </a:rPr>
              <a:t>SQLite queries were run against the same 90-row labeled course sample. Each result reports group size beside the rate so rare categories remain visible.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39297-95F6-4277-8E90-40F87376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4A117-F9D2-47B9-A9B5-969A9272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9886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Launch-site rates: GROUP BY LaunchSite, with COUNT(*) and AVG(Class).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677FE-6CBF-42AC-9579-BA097019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43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BDFBF-56AF-4E90-A330-78D43F2D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67075"/>
            <a:ext cx="9886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Orbit rates: GROUP BY Orbit, ordered by observed success rate.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53E1DD-30A2-4F63-A727-2AD58937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E353D-5D8A-4FA9-9CCF-54A7ADBF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62400"/>
            <a:ext cx="9886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Payload comparison: AVG(PayloadMass) grouped by Class.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2FAC24-6083-4DF6-9C7B-4C924CA4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339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8D0352-71E3-4D84-AF86-E7043ED0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57725"/>
            <a:ext cx="9886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Rates are descriptive; denominators and mission mix differ across groups.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AEA59-605C-4B7B-ACD2-5DD15820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677A8"/>
                </a:solidFill>
              </a:defRPr>
            </a:defPPr>
            <a:lvl1pPr algn="l">
              <a:defRPr sz="1200" b="1">
                <a:solidFill>
                  <a:srgbClr val="1677A8"/>
                </a:solidFill>
              </a:defRPr>
            </a:lvl1pPr>
            <a:lvl2pPr algn="l">
              <a:defRPr sz="1200" b="1">
                <a:solidFill>
                  <a:srgbClr val="1677A8"/>
                </a:solidFill>
              </a:defRPr>
            </a:lvl2pPr>
            <a:lvl3pPr algn="l">
              <a:defRPr sz="1200" b="1">
                <a:solidFill>
                  <a:srgbClr val="1677A8"/>
                </a:solidFill>
              </a:defRPr>
            </a:lvl3pPr>
            <a:lvl4pPr algn="l">
              <a:defRPr sz="1200" b="1">
                <a:solidFill>
                  <a:srgbClr val="1677A8"/>
                </a:solidFill>
              </a:defRPr>
            </a:lvl4pPr>
            <a:lvl5pPr algn="l">
              <a:defRPr sz="1200" b="1">
                <a:solidFill>
                  <a:srgbClr val="1677A8"/>
                </a:solidFill>
              </a:defRPr>
            </a:lvl5pPr>
            <a:lvl6pPr algn="l">
              <a:defRPr sz="1200" b="1">
                <a:solidFill>
                  <a:srgbClr val="1677A8"/>
                </a:solidFill>
              </a:defRPr>
            </a:lvl6pPr>
            <a:lvl7pPr algn="l">
              <a:defRPr sz="1200" b="1">
                <a:solidFill>
                  <a:srgbClr val="1677A8"/>
                </a:solidFill>
              </a:defRPr>
            </a:lvl7pPr>
            <a:lvl8pPr algn="l">
              <a:defRPr sz="1200" b="1">
                <a:solidFill>
                  <a:srgbClr val="1677A8"/>
                </a:solidFill>
              </a:defRPr>
            </a:lvl8pPr>
            <a:lvl9pPr algn="l">
              <a:defRPr sz="120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677A8"/>
                </a:solidFill>
              </a:defRPr>
            </a:pPr>
            <a:r>
              <a:rPr sz="1200" b="1">
                <a:solidFill>
                  <a:srgbClr val="1677A8"/>
                </a:solidFill>
              </a:rPr>
              <a:t>Reproducible query file: outputs/sql/capstone_queries.sql</a:t>
            </a:r>
          </a:p>
        </p:txBody>
      </p:sp>
    </p:spTree>
    <p:extLst>
      <p:ext uri="{BB962C8B-B14F-4D97-AF65-F5344CB8AC3E}">
        <p14:creationId xmlns:p14="http://schemas.microsoft.com/office/powerpoint/2010/main" val="2208712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8E0335-496F-4ABB-A640-57E08C2C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C97A6-2572-43D7-AA3B-983F3055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7A8"/>
                </a:solidFill>
              </a:defRPr>
            </a:defPPr>
            <a:lvl1pPr algn="l">
              <a:defRPr sz="975" b="1">
                <a:solidFill>
                  <a:srgbClr val="1677A8"/>
                </a:solidFill>
              </a:defRPr>
            </a:lvl1pPr>
            <a:lvl2pPr algn="l">
              <a:defRPr sz="975" b="1">
                <a:solidFill>
                  <a:srgbClr val="1677A8"/>
                </a:solidFill>
              </a:defRPr>
            </a:lvl2pPr>
            <a:lvl3pPr algn="l">
              <a:defRPr sz="975" b="1">
                <a:solidFill>
                  <a:srgbClr val="1677A8"/>
                </a:solidFill>
              </a:defRPr>
            </a:lvl3pPr>
            <a:lvl4pPr algn="l">
              <a:defRPr sz="975" b="1">
                <a:solidFill>
                  <a:srgbClr val="1677A8"/>
                </a:solidFill>
              </a:defRPr>
            </a:lvl4pPr>
            <a:lvl5pPr algn="l">
              <a:defRPr sz="975" b="1">
                <a:solidFill>
                  <a:srgbClr val="1677A8"/>
                </a:solidFill>
              </a:defRPr>
            </a:lvl5pPr>
            <a:lvl6pPr algn="l">
              <a:defRPr sz="975" b="1">
                <a:solidFill>
                  <a:srgbClr val="1677A8"/>
                </a:solidFill>
              </a:defRPr>
            </a:lvl6pPr>
            <a:lvl7pPr algn="l">
              <a:defRPr sz="975" b="1">
                <a:solidFill>
                  <a:srgbClr val="1677A8"/>
                </a:solidFill>
              </a:defRPr>
            </a:lvl7pPr>
            <a:lvl8pPr algn="l">
              <a:defRPr sz="975" b="1">
                <a:solidFill>
                  <a:srgbClr val="1677A8"/>
                </a:solidFill>
              </a:defRPr>
            </a:lvl8pPr>
            <a:lvl9pPr algn="l">
              <a:defRPr sz="9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77A8"/>
                </a:solidFill>
              </a:defRPr>
            </a:pPr>
            <a:r>
              <a:rPr sz="975" b="1">
                <a:solidFill>
                  <a:srgbClr val="1677A8"/>
                </a:solidFill>
              </a:rPr>
              <a:t>EDA WITH 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5D40D-17CB-45D3-B83F-D71A7195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KSC LC 39A and VAFB SLC 4E lead CCAFS SLC 40 in this sample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79F3FD-81AA-4EDD-93B3-5E482717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5DA57-4B03-421B-845B-D3BF5080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677A8"/>
                </a:solidFill>
              </a:defRPr>
            </a:defPPr>
            <a:lvl1pPr algn="l">
              <a:defRPr sz="750" b="1">
                <a:solidFill>
                  <a:srgbClr val="1677A8"/>
                </a:solidFill>
              </a:defRPr>
            </a:lvl1pPr>
            <a:lvl2pPr algn="l">
              <a:defRPr sz="750" b="1">
                <a:solidFill>
                  <a:srgbClr val="1677A8"/>
                </a:solidFill>
              </a:defRPr>
            </a:lvl2pPr>
            <a:lvl3pPr algn="l">
              <a:defRPr sz="750" b="1">
                <a:solidFill>
                  <a:srgbClr val="1677A8"/>
                </a:solidFill>
              </a:defRPr>
            </a:lvl3pPr>
            <a:lvl4pPr algn="l">
              <a:defRPr sz="750" b="1">
                <a:solidFill>
                  <a:srgbClr val="1677A8"/>
                </a:solidFill>
              </a:defRPr>
            </a:lvl4pPr>
            <a:lvl5pPr algn="l">
              <a:defRPr sz="750" b="1">
                <a:solidFill>
                  <a:srgbClr val="1677A8"/>
                </a:solidFill>
              </a:defRPr>
            </a:lvl5pPr>
            <a:lvl6pPr algn="l">
              <a:defRPr sz="750" b="1">
                <a:solidFill>
                  <a:srgbClr val="1677A8"/>
                </a:solidFill>
              </a:defRPr>
            </a:lvl6pPr>
            <a:lvl7pPr algn="l">
              <a:defRPr sz="750" b="1">
                <a:solidFill>
                  <a:srgbClr val="1677A8"/>
                </a:solidFill>
              </a:defRPr>
            </a:lvl7pPr>
            <a:lvl8pPr algn="l">
              <a:defRPr sz="750" b="1">
                <a:solidFill>
                  <a:srgbClr val="1677A8"/>
                </a:solidFill>
              </a:defRPr>
            </a:lvl8pPr>
            <a:lvl9pPr algn="l">
              <a:defRPr sz="7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77A8"/>
                </a:solidFill>
              </a:defRPr>
            </a:pPr>
            <a:r>
              <a:rPr sz="750" b="1">
                <a:solidFill>
                  <a:srgbClr val="1677A8"/>
                </a:solidFill>
              </a:rPr>
              <a:t>GitHub: github.com/joaoltrevisan/spacex-falcon9-capstone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3BE60-B1C0-4AC9-9100-85B0F608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86A7B"/>
                </a:solidFill>
              </a:defRPr>
            </a:defPPr>
            <a:lvl1pPr algn="r">
              <a:defRPr sz="900" b="1">
                <a:solidFill>
                  <a:srgbClr val="586A7B"/>
                </a:solidFill>
              </a:defRPr>
            </a:lvl1pPr>
            <a:lvl2pPr algn="r">
              <a:defRPr sz="900" b="1">
                <a:solidFill>
                  <a:srgbClr val="586A7B"/>
                </a:solidFill>
              </a:defRPr>
            </a:lvl2pPr>
            <a:lvl3pPr algn="r">
              <a:defRPr sz="900" b="1">
                <a:solidFill>
                  <a:srgbClr val="586A7B"/>
                </a:solidFill>
              </a:defRPr>
            </a:lvl3pPr>
            <a:lvl4pPr algn="r">
              <a:defRPr sz="900" b="1">
                <a:solidFill>
                  <a:srgbClr val="586A7B"/>
                </a:solidFill>
              </a:defRPr>
            </a:lvl4pPr>
            <a:lvl5pPr algn="r">
              <a:defRPr sz="900" b="1">
                <a:solidFill>
                  <a:srgbClr val="586A7B"/>
                </a:solidFill>
              </a:defRPr>
            </a:lvl5pPr>
            <a:lvl6pPr algn="r">
              <a:defRPr sz="900" b="1">
                <a:solidFill>
                  <a:srgbClr val="586A7B"/>
                </a:solidFill>
              </a:defRPr>
            </a:lvl6pPr>
            <a:lvl7pPr algn="r">
              <a:defRPr sz="900" b="1">
                <a:solidFill>
                  <a:srgbClr val="586A7B"/>
                </a:solidFill>
              </a:defRPr>
            </a:lvl7pPr>
            <a:lvl8pPr algn="r">
              <a:defRPr sz="900" b="1">
                <a:solidFill>
                  <a:srgbClr val="586A7B"/>
                </a:solidFill>
              </a:defRPr>
            </a:lvl8pPr>
            <a:lvl9pPr algn="r">
              <a:defRPr sz="900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586A7B"/>
                </a:solidFill>
              </a:defRPr>
            </a:pPr>
            <a:r>
              <a:rPr sz="900" b="1">
                <a:solidFill>
                  <a:srgbClr val="586A7B"/>
                </a:solidFill>
              </a:rPr>
              <a:t>15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7AC1C-FB8D-451A-BAF0-E35D9E065B9E}"/>
              </a:ext>
            </a:extLst>
          </p:cNvPr>
          <p:cNvGraphicFramePr/>
          <p:nvPr/>
        </p:nvGraphicFramePr>
        <p:xfrm>
          <a:off xmlns:a="http://schemas.openxmlformats.org/drawingml/2006/main" x="714375" y="1695450"/>
          <a:ext xmlns:a="http://schemas.openxmlformats.org/drawingml/2006/main" cx="10668000" cy="2714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810000"/>
                <a:gridCol w="1905000"/>
                <a:gridCol w="2095500"/>
                <a:gridCol w="2857500"/>
              </a:tblGrid>
              <a:tr h="678656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Launch site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082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Launches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082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Successful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082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Observed rate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08253E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KSC LC 39A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22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17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77.3%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VAFB SLC 4E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13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76.9%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CCAFS SLC 40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55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33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60.0%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A7C6A-C681-4086-AFCE-CD54C0DD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01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5263A"/>
                </a:solidFill>
              </a:defRPr>
            </a:defPPr>
            <a:lvl1pPr algn="l">
              <a:defRPr sz="1575" b="0">
                <a:solidFill>
                  <a:srgbClr val="15263A"/>
                </a:solidFill>
              </a:defRPr>
            </a:lvl1pPr>
            <a:lvl2pPr algn="l">
              <a:defRPr sz="1575" b="0">
                <a:solidFill>
                  <a:srgbClr val="15263A"/>
                </a:solidFill>
              </a:defRPr>
            </a:lvl2pPr>
            <a:lvl3pPr algn="l">
              <a:defRPr sz="1575" b="0">
                <a:solidFill>
                  <a:srgbClr val="15263A"/>
                </a:solidFill>
              </a:defRPr>
            </a:lvl3pPr>
            <a:lvl4pPr algn="l">
              <a:defRPr sz="1575" b="0">
                <a:solidFill>
                  <a:srgbClr val="15263A"/>
                </a:solidFill>
              </a:defRPr>
            </a:lvl4pPr>
            <a:lvl5pPr algn="l">
              <a:defRPr sz="1575" b="0">
                <a:solidFill>
                  <a:srgbClr val="15263A"/>
                </a:solidFill>
              </a:defRPr>
            </a:lvl5pPr>
            <a:lvl6pPr algn="l">
              <a:defRPr sz="1575" b="0">
                <a:solidFill>
                  <a:srgbClr val="15263A"/>
                </a:solidFill>
              </a:defRPr>
            </a:lvl6pPr>
            <a:lvl7pPr algn="l">
              <a:defRPr sz="1575" b="0">
                <a:solidFill>
                  <a:srgbClr val="15263A"/>
                </a:solidFill>
              </a:defRPr>
            </a:lvl7pPr>
            <a:lvl8pPr algn="l">
              <a:defRPr sz="1575" b="0">
                <a:solidFill>
                  <a:srgbClr val="15263A"/>
                </a:solidFill>
              </a:defRPr>
            </a:lvl8pPr>
            <a:lvl9pPr algn="l">
              <a:defRPr sz="1575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5263A"/>
                </a:solidFill>
              </a:defRPr>
            </a:pPr>
            <a:r>
              <a:rPr sz="1575" b="0">
                <a:solidFill>
                  <a:srgbClr val="15263A"/>
                </a:solidFill>
              </a:rPr>
              <a:t>The 17.3-point gap between the highest and lowest site rates is an unadjusted sample difference. Site, era, booster, orbit, and payload overlap.</a:t>
            </a:r>
          </a:p>
        </p:txBody>
      </p:sp>
    </p:spTree>
    <p:extLst>
      <p:ext uri="{BB962C8B-B14F-4D97-AF65-F5344CB8AC3E}">
        <p14:creationId xmlns:p14="http://schemas.microsoft.com/office/powerpoint/2010/main" val="2649128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6FE20-69CB-4F25-AD22-14ED73CD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F7232-5F06-438D-923C-FA61C56A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7A8"/>
                </a:solidFill>
              </a:defRPr>
            </a:defPPr>
            <a:lvl1pPr algn="l">
              <a:defRPr sz="975" b="1">
                <a:solidFill>
                  <a:srgbClr val="1677A8"/>
                </a:solidFill>
              </a:defRPr>
            </a:lvl1pPr>
            <a:lvl2pPr algn="l">
              <a:defRPr sz="975" b="1">
                <a:solidFill>
                  <a:srgbClr val="1677A8"/>
                </a:solidFill>
              </a:defRPr>
            </a:lvl2pPr>
            <a:lvl3pPr algn="l">
              <a:defRPr sz="975" b="1">
                <a:solidFill>
                  <a:srgbClr val="1677A8"/>
                </a:solidFill>
              </a:defRPr>
            </a:lvl3pPr>
            <a:lvl4pPr algn="l">
              <a:defRPr sz="975" b="1">
                <a:solidFill>
                  <a:srgbClr val="1677A8"/>
                </a:solidFill>
              </a:defRPr>
            </a:lvl4pPr>
            <a:lvl5pPr algn="l">
              <a:defRPr sz="975" b="1">
                <a:solidFill>
                  <a:srgbClr val="1677A8"/>
                </a:solidFill>
              </a:defRPr>
            </a:lvl5pPr>
            <a:lvl6pPr algn="l">
              <a:defRPr sz="975" b="1">
                <a:solidFill>
                  <a:srgbClr val="1677A8"/>
                </a:solidFill>
              </a:defRPr>
            </a:lvl6pPr>
            <a:lvl7pPr algn="l">
              <a:defRPr sz="975" b="1">
                <a:solidFill>
                  <a:srgbClr val="1677A8"/>
                </a:solidFill>
              </a:defRPr>
            </a:lvl7pPr>
            <a:lvl8pPr algn="l">
              <a:defRPr sz="975" b="1">
                <a:solidFill>
                  <a:srgbClr val="1677A8"/>
                </a:solidFill>
              </a:defRPr>
            </a:lvl8pPr>
            <a:lvl9pPr algn="l">
              <a:defRPr sz="9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77A8"/>
                </a:solidFill>
              </a:defRPr>
            </a:pPr>
            <a:r>
              <a:rPr sz="975" b="1">
                <a:solidFill>
                  <a:srgbClr val="1677A8"/>
                </a:solidFill>
              </a:rPr>
              <a:t>EDA WITH 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C44168-C94A-4D49-BDDD-5F201B2A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Orbit rates need their denominators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C8055-7257-4C38-AC92-820F8AFA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6156C-A54C-4B91-8C7A-D130AC61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677A8"/>
                </a:solidFill>
              </a:defRPr>
            </a:defPPr>
            <a:lvl1pPr algn="l">
              <a:defRPr sz="750" b="1">
                <a:solidFill>
                  <a:srgbClr val="1677A8"/>
                </a:solidFill>
              </a:defRPr>
            </a:lvl1pPr>
            <a:lvl2pPr algn="l">
              <a:defRPr sz="750" b="1">
                <a:solidFill>
                  <a:srgbClr val="1677A8"/>
                </a:solidFill>
              </a:defRPr>
            </a:lvl2pPr>
            <a:lvl3pPr algn="l">
              <a:defRPr sz="750" b="1">
                <a:solidFill>
                  <a:srgbClr val="1677A8"/>
                </a:solidFill>
              </a:defRPr>
            </a:lvl3pPr>
            <a:lvl4pPr algn="l">
              <a:defRPr sz="750" b="1">
                <a:solidFill>
                  <a:srgbClr val="1677A8"/>
                </a:solidFill>
              </a:defRPr>
            </a:lvl4pPr>
            <a:lvl5pPr algn="l">
              <a:defRPr sz="750" b="1">
                <a:solidFill>
                  <a:srgbClr val="1677A8"/>
                </a:solidFill>
              </a:defRPr>
            </a:lvl5pPr>
            <a:lvl6pPr algn="l">
              <a:defRPr sz="750" b="1">
                <a:solidFill>
                  <a:srgbClr val="1677A8"/>
                </a:solidFill>
              </a:defRPr>
            </a:lvl6pPr>
            <a:lvl7pPr algn="l">
              <a:defRPr sz="750" b="1">
                <a:solidFill>
                  <a:srgbClr val="1677A8"/>
                </a:solidFill>
              </a:defRPr>
            </a:lvl7pPr>
            <a:lvl8pPr algn="l">
              <a:defRPr sz="750" b="1">
                <a:solidFill>
                  <a:srgbClr val="1677A8"/>
                </a:solidFill>
              </a:defRPr>
            </a:lvl8pPr>
            <a:lvl9pPr algn="l">
              <a:defRPr sz="7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77A8"/>
                </a:solidFill>
              </a:defRPr>
            </a:pPr>
            <a:r>
              <a:rPr sz="750" b="1">
                <a:solidFill>
                  <a:srgbClr val="1677A8"/>
                </a:solidFill>
              </a:rPr>
              <a:t>GitHub: github.com/joaoltrevisan/spacex-falcon9-capstone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473F2-98BD-4206-A5F4-7F8A3A27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86A7B"/>
                </a:solidFill>
              </a:defRPr>
            </a:defPPr>
            <a:lvl1pPr algn="r">
              <a:defRPr sz="900" b="1">
                <a:solidFill>
                  <a:srgbClr val="586A7B"/>
                </a:solidFill>
              </a:defRPr>
            </a:lvl1pPr>
            <a:lvl2pPr algn="r">
              <a:defRPr sz="900" b="1">
                <a:solidFill>
                  <a:srgbClr val="586A7B"/>
                </a:solidFill>
              </a:defRPr>
            </a:lvl2pPr>
            <a:lvl3pPr algn="r">
              <a:defRPr sz="900" b="1">
                <a:solidFill>
                  <a:srgbClr val="586A7B"/>
                </a:solidFill>
              </a:defRPr>
            </a:lvl3pPr>
            <a:lvl4pPr algn="r">
              <a:defRPr sz="900" b="1">
                <a:solidFill>
                  <a:srgbClr val="586A7B"/>
                </a:solidFill>
              </a:defRPr>
            </a:lvl4pPr>
            <a:lvl5pPr algn="r">
              <a:defRPr sz="900" b="1">
                <a:solidFill>
                  <a:srgbClr val="586A7B"/>
                </a:solidFill>
              </a:defRPr>
            </a:lvl5pPr>
            <a:lvl6pPr algn="r">
              <a:defRPr sz="900" b="1">
                <a:solidFill>
                  <a:srgbClr val="586A7B"/>
                </a:solidFill>
              </a:defRPr>
            </a:lvl6pPr>
            <a:lvl7pPr algn="r">
              <a:defRPr sz="900" b="1">
                <a:solidFill>
                  <a:srgbClr val="586A7B"/>
                </a:solidFill>
              </a:defRPr>
            </a:lvl7pPr>
            <a:lvl8pPr algn="r">
              <a:defRPr sz="900" b="1">
                <a:solidFill>
                  <a:srgbClr val="586A7B"/>
                </a:solidFill>
              </a:defRPr>
            </a:lvl8pPr>
            <a:lvl9pPr algn="r">
              <a:defRPr sz="900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586A7B"/>
                </a:solidFill>
              </a:defRPr>
            </a:pPr>
            <a:r>
              <a:rPr sz="900" b="1">
                <a:solidFill>
                  <a:srgbClr val="586A7B"/>
                </a:solidFill>
              </a:rPr>
              <a:t>16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94DFE-AFC3-49A9-908F-2D39DCF08F6B}"/>
              </a:ext>
            </a:extLst>
          </p:cNvPr>
          <p:cNvGraphicFramePr/>
          <p:nvPr/>
        </p:nvGraphicFramePr>
        <p:xfrm>
          <a:off xmlns:a="http://schemas.openxmlformats.org/drawingml/2006/main" x="619125" y="1495425"/>
          <a:ext xmlns:a="http://schemas.openxmlformats.org/drawingml/2006/main" cx="6572250" cy="4495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238500"/>
                <a:gridCol w="1524000"/>
                <a:gridCol w="1809750"/>
              </a:tblGrid>
              <a:tr h="3746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Orbit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082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Launches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082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Success rate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08253E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GTO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27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51.9%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ISS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21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61.9%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VLEO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14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85.7%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LEO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71.4%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PO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66.7%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MEO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66.7%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SSO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100.0%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GEO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100.0%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HEO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100.0%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ES-L1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100.0%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746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SO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0.0%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18B64-9C40-4F43-A6D7-A95190AA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677A8"/>
                </a:solidFill>
              </a:defRPr>
            </a:defPPr>
            <a:lvl1pPr algn="l">
              <a:defRPr sz="1275" b="1">
                <a:solidFill>
                  <a:srgbClr val="1677A8"/>
                </a:solidFill>
              </a:defRPr>
            </a:lvl1pPr>
            <a:lvl2pPr algn="l">
              <a:defRPr sz="1275" b="1">
                <a:solidFill>
                  <a:srgbClr val="1677A8"/>
                </a:solidFill>
              </a:defRPr>
            </a:lvl2pPr>
            <a:lvl3pPr algn="l">
              <a:defRPr sz="1275" b="1">
                <a:solidFill>
                  <a:srgbClr val="1677A8"/>
                </a:solidFill>
              </a:defRPr>
            </a:lvl3pPr>
            <a:lvl4pPr algn="l">
              <a:defRPr sz="1275" b="1">
                <a:solidFill>
                  <a:srgbClr val="1677A8"/>
                </a:solidFill>
              </a:defRPr>
            </a:lvl4pPr>
            <a:lvl5pPr algn="l">
              <a:defRPr sz="1275" b="1">
                <a:solidFill>
                  <a:srgbClr val="1677A8"/>
                </a:solidFill>
              </a:defRPr>
            </a:lvl5pPr>
            <a:lvl6pPr algn="l">
              <a:defRPr sz="1275" b="1">
                <a:solidFill>
                  <a:srgbClr val="1677A8"/>
                </a:solidFill>
              </a:defRPr>
            </a:lvl6pPr>
            <a:lvl7pPr algn="l">
              <a:defRPr sz="1275" b="1">
                <a:solidFill>
                  <a:srgbClr val="1677A8"/>
                </a:solidFill>
              </a:defRPr>
            </a:lvl7pPr>
            <a:lvl8pPr algn="l">
              <a:defRPr sz="1275" b="1">
                <a:solidFill>
                  <a:srgbClr val="1677A8"/>
                </a:solidFill>
              </a:defRPr>
            </a:lvl8pPr>
            <a:lvl9pPr algn="l">
              <a:defRPr sz="12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677A8"/>
                </a:solidFill>
              </a:defRPr>
            </a:pPr>
            <a:r>
              <a:rPr sz="1275" b="1">
                <a:solidFill>
                  <a:srgbClr val="1677A8"/>
                </a:solidFill>
              </a:rPr>
              <a:t>Payload mean by observed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3421C-23D3-499D-BA26-425BAD86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0505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B95048"/>
                </a:solidFill>
              </a:defRPr>
            </a:defPPr>
            <a:lvl1pPr algn="l">
              <a:defRPr sz="1875" b="1">
                <a:solidFill>
                  <a:srgbClr val="B95048"/>
                </a:solidFill>
              </a:defRPr>
            </a:lvl1pPr>
            <a:lvl2pPr algn="l">
              <a:defRPr sz="1875" b="1">
                <a:solidFill>
                  <a:srgbClr val="B95048"/>
                </a:solidFill>
              </a:defRPr>
            </a:lvl2pPr>
            <a:lvl3pPr algn="l">
              <a:defRPr sz="1875" b="1">
                <a:solidFill>
                  <a:srgbClr val="B95048"/>
                </a:solidFill>
              </a:defRPr>
            </a:lvl3pPr>
            <a:lvl4pPr algn="l">
              <a:defRPr sz="1875" b="1">
                <a:solidFill>
                  <a:srgbClr val="B95048"/>
                </a:solidFill>
              </a:defRPr>
            </a:lvl4pPr>
            <a:lvl5pPr algn="l">
              <a:defRPr sz="1875" b="1">
                <a:solidFill>
                  <a:srgbClr val="B95048"/>
                </a:solidFill>
              </a:defRPr>
            </a:lvl5pPr>
            <a:lvl6pPr algn="l">
              <a:defRPr sz="1875" b="1">
                <a:solidFill>
                  <a:srgbClr val="B95048"/>
                </a:solidFill>
              </a:defRPr>
            </a:lvl6pPr>
            <a:lvl7pPr algn="l">
              <a:defRPr sz="1875" b="1">
                <a:solidFill>
                  <a:srgbClr val="B95048"/>
                </a:solidFill>
              </a:defRPr>
            </a:lvl7pPr>
            <a:lvl8pPr algn="l">
              <a:defRPr sz="1875" b="1">
                <a:solidFill>
                  <a:srgbClr val="B95048"/>
                </a:solidFill>
              </a:defRPr>
            </a:lvl8pPr>
            <a:lvl9pPr algn="l">
              <a:defRPr sz="1875" b="1">
                <a:solidFill>
                  <a:srgbClr val="B9504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B95048"/>
                </a:solidFill>
              </a:defRPr>
            </a:pPr>
            <a:r>
              <a:rPr sz="1875" b="1">
                <a:solidFill>
                  <a:srgbClr val="B95048"/>
                </a:solidFill>
              </a:rPr>
              <a:t>Failure  4,784.6 kg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533FB-171D-437E-B5BD-321C3F7B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860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2B806E"/>
                </a:solidFill>
              </a:defRPr>
            </a:defPPr>
            <a:lvl1pPr algn="l">
              <a:defRPr sz="1875" b="1">
                <a:solidFill>
                  <a:srgbClr val="2B806E"/>
                </a:solidFill>
              </a:defRPr>
            </a:lvl1pPr>
            <a:lvl2pPr algn="l">
              <a:defRPr sz="1875" b="1">
                <a:solidFill>
                  <a:srgbClr val="2B806E"/>
                </a:solidFill>
              </a:defRPr>
            </a:lvl2pPr>
            <a:lvl3pPr algn="l">
              <a:defRPr sz="1875" b="1">
                <a:solidFill>
                  <a:srgbClr val="2B806E"/>
                </a:solidFill>
              </a:defRPr>
            </a:lvl3pPr>
            <a:lvl4pPr algn="l">
              <a:defRPr sz="1875" b="1">
                <a:solidFill>
                  <a:srgbClr val="2B806E"/>
                </a:solidFill>
              </a:defRPr>
            </a:lvl4pPr>
            <a:lvl5pPr algn="l">
              <a:defRPr sz="1875" b="1">
                <a:solidFill>
                  <a:srgbClr val="2B806E"/>
                </a:solidFill>
              </a:defRPr>
            </a:lvl5pPr>
            <a:lvl6pPr algn="l">
              <a:defRPr sz="1875" b="1">
                <a:solidFill>
                  <a:srgbClr val="2B806E"/>
                </a:solidFill>
              </a:defRPr>
            </a:lvl6pPr>
            <a:lvl7pPr algn="l">
              <a:defRPr sz="1875" b="1">
                <a:solidFill>
                  <a:srgbClr val="2B806E"/>
                </a:solidFill>
              </a:defRPr>
            </a:lvl7pPr>
            <a:lvl8pPr algn="l">
              <a:defRPr sz="1875" b="1">
                <a:solidFill>
                  <a:srgbClr val="2B806E"/>
                </a:solidFill>
              </a:defRPr>
            </a:lvl8pPr>
            <a:lvl9pPr algn="l">
              <a:defRPr sz="1875" b="1">
                <a:solidFill>
                  <a:srgbClr val="2B806E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B806E"/>
                </a:solidFill>
              </a:defRPr>
            </a:pPr>
            <a:r>
              <a:rPr sz="1875" b="1">
                <a:solidFill>
                  <a:srgbClr val="2B806E"/>
                </a:solidFill>
              </a:rPr>
              <a:t>Success  6,765.2 kg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92127-761A-4BC9-9FB5-A8F32416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29025"/>
            <a:ext cx="342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586A7B"/>
                </a:solidFill>
              </a:defRPr>
            </a:defPPr>
            <a:lvl1pPr algn="l">
              <a:defRPr sz="1425" b="0">
                <a:solidFill>
                  <a:srgbClr val="586A7B"/>
                </a:solidFill>
              </a:defRPr>
            </a:lvl1pPr>
            <a:lvl2pPr algn="l">
              <a:defRPr sz="1425" b="0">
                <a:solidFill>
                  <a:srgbClr val="586A7B"/>
                </a:solidFill>
              </a:defRPr>
            </a:lvl2pPr>
            <a:lvl3pPr algn="l">
              <a:defRPr sz="1425" b="0">
                <a:solidFill>
                  <a:srgbClr val="586A7B"/>
                </a:solidFill>
              </a:defRPr>
            </a:lvl3pPr>
            <a:lvl4pPr algn="l">
              <a:defRPr sz="1425" b="0">
                <a:solidFill>
                  <a:srgbClr val="586A7B"/>
                </a:solidFill>
              </a:defRPr>
            </a:lvl4pPr>
            <a:lvl5pPr algn="l">
              <a:defRPr sz="1425" b="0">
                <a:solidFill>
                  <a:srgbClr val="586A7B"/>
                </a:solidFill>
              </a:defRPr>
            </a:lvl5pPr>
            <a:lvl6pPr algn="l">
              <a:defRPr sz="1425" b="0">
                <a:solidFill>
                  <a:srgbClr val="586A7B"/>
                </a:solidFill>
              </a:defRPr>
            </a:lvl6pPr>
            <a:lvl7pPr algn="l">
              <a:defRPr sz="1425" b="0">
                <a:solidFill>
                  <a:srgbClr val="586A7B"/>
                </a:solidFill>
              </a:defRPr>
            </a:lvl7pPr>
            <a:lvl8pPr algn="l">
              <a:defRPr sz="1425" b="0">
                <a:solidFill>
                  <a:srgbClr val="586A7B"/>
                </a:solidFill>
              </a:defRPr>
            </a:lvl8pPr>
            <a:lvl9pPr algn="l">
              <a:defRPr sz="1425" b="0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86A7B"/>
                </a:solidFill>
              </a:defRPr>
            </a:pPr>
            <a:r>
              <a:rPr sz="1425" b="0">
                <a:solidFill>
                  <a:srgbClr val="586A7B"/>
                </a:solidFill>
              </a:rPr>
              <a:t>The difference is not causal evidence. Orbit and payload distributions vary, and successful launches include heavy payloads.</a:t>
            </a:r>
          </a:p>
        </p:txBody>
      </p:sp>
    </p:spTree>
    <p:extLst>
      <p:ext uri="{BB962C8B-B14F-4D97-AF65-F5344CB8AC3E}">
        <p14:creationId xmlns:p14="http://schemas.microsoft.com/office/powerpoint/2010/main" val="8797739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83EFC-7D78-4D8B-9F9B-445D6383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1490D-8340-4F42-BA1B-0325250F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7A8"/>
                </a:solidFill>
              </a:defRPr>
            </a:defPPr>
            <a:lvl1pPr algn="l">
              <a:defRPr sz="975" b="1">
                <a:solidFill>
                  <a:srgbClr val="1677A8"/>
                </a:solidFill>
              </a:defRPr>
            </a:lvl1pPr>
            <a:lvl2pPr algn="l">
              <a:defRPr sz="975" b="1">
                <a:solidFill>
                  <a:srgbClr val="1677A8"/>
                </a:solidFill>
              </a:defRPr>
            </a:lvl2pPr>
            <a:lvl3pPr algn="l">
              <a:defRPr sz="975" b="1">
                <a:solidFill>
                  <a:srgbClr val="1677A8"/>
                </a:solidFill>
              </a:defRPr>
            </a:lvl3pPr>
            <a:lvl4pPr algn="l">
              <a:defRPr sz="975" b="1">
                <a:solidFill>
                  <a:srgbClr val="1677A8"/>
                </a:solidFill>
              </a:defRPr>
            </a:lvl4pPr>
            <a:lvl5pPr algn="l">
              <a:defRPr sz="975" b="1">
                <a:solidFill>
                  <a:srgbClr val="1677A8"/>
                </a:solidFill>
              </a:defRPr>
            </a:lvl5pPr>
            <a:lvl6pPr algn="l">
              <a:defRPr sz="975" b="1">
                <a:solidFill>
                  <a:srgbClr val="1677A8"/>
                </a:solidFill>
              </a:defRPr>
            </a:lvl6pPr>
            <a:lvl7pPr algn="l">
              <a:defRPr sz="975" b="1">
                <a:solidFill>
                  <a:srgbClr val="1677A8"/>
                </a:solidFill>
              </a:defRPr>
            </a:lvl7pPr>
            <a:lvl8pPr algn="l">
              <a:defRPr sz="975" b="1">
                <a:solidFill>
                  <a:srgbClr val="1677A8"/>
                </a:solidFill>
              </a:defRPr>
            </a:lvl8pPr>
            <a:lvl9pPr algn="l">
              <a:defRPr sz="9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77A8"/>
                </a:solidFill>
              </a:defRPr>
            </a:pPr>
            <a:r>
              <a:rPr sz="975" b="1">
                <a:solidFill>
                  <a:srgbClr val="1677A8"/>
                </a:solidFill>
              </a:rPr>
              <a:t>EDA WITH 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391B1-C890-4E9D-8A8D-85CCC704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Temporal SQL analysis tracks volume and landing success by year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1689E-A46F-43BC-B803-BD31E6E0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367F3-DD8B-4F05-8731-56279B21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677A8"/>
                </a:solidFill>
              </a:defRPr>
            </a:defPPr>
            <a:lvl1pPr algn="l">
              <a:defRPr sz="750" b="1">
                <a:solidFill>
                  <a:srgbClr val="1677A8"/>
                </a:solidFill>
              </a:defRPr>
            </a:lvl1pPr>
            <a:lvl2pPr algn="l">
              <a:defRPr sz="750" b="1">
                <a:solidFill>
                  <a:srgbClr val="1677A8"/>
                </a:solidFill>
              </a:defRPr>
            </a:lvl2pPr>
            <a:lvl3pPr algn="l">
              <a:defRPr sz="750" b="1">
                <a:solidFill>
                  <a:srgbClr val="1677A8"/>
                </a:solidFill>
              </a:defRPr>
            </a:lvl3pPr>
            <a:lvl4pPr algn="l">
              <a:defRPr sz="750" b="1">
                <a:solidFill>
                  <a:srgbClr val="1677A8"/>
                </a:solidFill>
              </a:defRPr>
            </a:lvl4pPr>
            <a:lvl5pPr algn="l">
              <a:defRPr sz="750" b="1">
                <a:solidFill>
                  <a:srgbClr val="1677A8"/>
                </a:solidFill>
              </a:defRPr>
            </a:lvl5pPr>
            <a:lvl6pPr algn="l">
              <a:defRPr sz="750" b="1">
                <a:solidFill>
                  <a:srgbClr val="1677A8"/>
                </a:solidFill>
              </a:defRPr>
            </a:lvl6pPr>
            <a:lvl7pPr algn="l">
              <a:defRPr sz="750" b="1">
                <a:solidFill>
                  <a:srgbClr val="1677A8"/>
                </a:solidFill>
              </a:defRPr>
            </a:lvl7pPr>
            <a:lvl8pPr algn="l">
              <a:defRPr sz="750" b="1">
                <a:solidFill>
                  <a:srgbClr val="1677A8"/>
                </a:solidFill>
              </a:defRPr>
            </a:lvl8pPr>
            <a:lvl9pPr algn="l">
              <a:defRPr sz="7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77A8"/>
                </a:solidFill>
              </a:defRPr>
            </a:pPr>
            <a:r>
              <a:rPr sz="750" b="1">
                <a:solidFill>
                  <a:srgbClr val="1677A8"/>
                </a:solidFill>
              </a:rPr>
              <a:t>GitHub: github.com/joaoltrevisan/spacex-falcon9-capstone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9420A-B719-46D7-83F2-A5B1FAB6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86A7B"/>
                </a:solidFill>
              </a:defRPr>
            </a:defPPr>
            <a:lvl1pPr algn="r">
              <a:defRPr sz="900" b="1">
                <a:solidFill>
                  <a:srgbClr val="586A7B"/>
                </a:solidFill>
              </a:defRPr>
            </a:lvl1pPr>
            <a:lvl2pPr algn="r">
              <a:defRPr sz="900" b="1">
                <a:solidFill>
                  <a:srgbClr val="586A7B"/>
                </a:solidFill>
              </a:defRPr>
            </a:lvl2pPr>
            <a:lvl3pPr algn="r">
              <a:defRPr sz="900" b="1">
                <a:solidFill>
                  <a:srgbClr val="586A7B"/>
                </a:solidFill>
              </a:defRPr>
            </a:lvl3pPr>
            <a:lvl4pPr algn="r">
              <a:defRPr sz="900" b="1">
                <a:solidFill>
                  <a:srgbClr val="586A7B"/>
                </a:solidFill>
              </a:defRPr>
            </a:lvl4pPr>
            <a:lvl5pPr algn="r">
              <a:defRPr sz="900" b="1">
                <a:solidFill>
                  <a:srgbClr val="586A7B"/>
                </a:solidFill>
              </a:defRPr>
            </a:lvl5pPr>
            <a:lvl6pPr algn="r">
              <a:defRPr sz="900" b="1">
                <a:solidFill>
                  <a:srgbClr val="586A7B"/>
                </a:solidFill>
              </a:defRPr>
            </a:lvl6pPr>
            <a:lvl7pPr algn="r">
              <a:defRPr sz="900" b="1">
                <a:solidFill>
                  <a:srgbClr val="586A7B"/>
                </a:solidFill>
              </a:defRPr>
            </a:lvl7pPr>
            <a:lvl8pPr algn="r">
              <a:defRPr sz="900" b="1">
                <a:solidFill>
                  <a:srgbClr val="586A7B"/>
                </a:solidFill>
              </a:defRPr>
            </a:lvl8pPr>
            <a:lvl9pPr algn="r">
              <a:defRPr sz="900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586A7B"/>
                </a:solidFill>
              </a:defRPr>
            </a:pPr>
            <a:r>
              <a:rPr sz="900" b="1">
                <a:solidFill>
                  <a:srgbClr val="586A7B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A370C-089B-4440-B487-4D9D7539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5263A"/>
                </a:solidFill>
              </a:defRPr>
            </a:defPPr>
            <a:lvl1pPr algn="l">
              <a:defRPr sz="1575" b="0">
                <a:solidFill>
                  <a:srgbClr val="15263A"/>
                </a:solidFill>
              </a:defRPr>
            </a:lvl1pPr>
            <a:lvl2pPr algn="l">
              <a:defRPr sz="1575" b="0">
                <a:solidFill>
                  <a:srgbClr val="15263A"/>
                </a:solidFill>
              </a:defRPr>
            </a:lvl2pPr>
            <a:lvl3pPr algn="l">
              <a:defRPr sz="1575" b="0">
                <a:solidFill>
                  <a:srgbClr val="15263A"/>
                </a:solidFill>
              </a:defRPr>
            </a:lvl3pPr>
            <a:lvl4pPr algn="l">
              <a:defRPr sz="1575" b="0">
                <a:solidFill>
                  <a:srgbClr val="15263A"/>
                </a:solidFill>
              </a:defRPr>
            </a:lvl4pPr>
            <a:lvl5pPr algn="l">
              <a:defRPr sz="1575" b="0">
                <a:solidFill>
                  <a:srgbClr val="15263A"/>
                </a:solidFill>
              </a:defRPr>
            </a:lvl5pPr>
            <a:lvl6pPr algn="l">
              <a:defRPr sz="1575" b="0">
                <a:solidFill>
                  <a:srgbClr val="15263A"/>
                </a:solidFill>
              </a:defRPr>
            </a:lvl6pPr>
            <a:lvl7pPr algn="l">
              <a:defRPr sz="1575" b="0">
                <a:solidFill>
                  <a:srgbClr val="15263A"/>
                </a:solidFill>
              </a:defRPr>
            </a:lvl7pPr>
            <a:lvl8pPr algn="l">
              <a:defRPr sz="1575" b="0">
                <a:solidFill>
                  <a:srgbClr val="15263A"/>
                </a:solidFill>
              </a:defRPr>
            </a:lvl8pPr>
            <a:lvl9pPr algn="l">
              <a:defRPr sz="1575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5263A"/>
                </a:solidFill>
              </a:defRPr>
            </a:pPr>
            <a:r>
              <a:rPr sz="1575" b="0">
                <a:solidFill>
                  <a:srgbClr val="15263A"/>
                </a:solidFill>
              </a:rPr>
              <a:t>The query extracts the UTC year from each launch date, then reports launch count, successful launches and the observed success rate.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28987-61D0-4D60-927C-325980EEE5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de9b5c64d42d6"/>
          <a:stretch xmlns:a="http://schemas.openxmlformats.org/drawingml/2006/main"/>
        </p:blipFill>
        <p:spPr>
          <a:xfrm xmlns:a="http://schemas.openxmlformats.org/drawingml/2006/main">
            <a:off x="1689472" y="2238375"/>
            <a:ext cx="4660157" cy="3476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20976-D154-4979-BA17-66F472F4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66975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1">
                <a:solidFill>
                  <a:srgbClr val="15263A"/>
                </a:solidFill>
              </a:defRPr>
            </a:defPPr>
            <a:lvl1pPr algn="l">
              <a:defRPr sz="1575" b="1">
                <a:solidFill>
                  <a:srgbClr val="15263A"/>
                </a:solidFill>
              </a:defRPr>
            </a:lvl1pPr>
            <a:lvl2pPr algn="l">
              <a:defRPr sz="1575" b="1">
                <a:solidFill>
                  <a:srgbClr val="15263A"/>
                </a:solidFill>
              </a:defRPr>
            </a:lvl2pPr>
            <a:lvl3pPr algn="l">
              <a:defRPr sz="1575" b="1">
                <a:solidFill>
                  <a:srgbClr val="15263A"/>
                </a:solidFill>
              </a:defRPr>
            </a:lvl3pPr>
            <a:lvl4pPr algn="l">
              <a:defRPr sz="1575" b="1">
                <a:solidFill>
                  <a:srgbClr val="15263A"/>
                </a:solidFill>
              </a:defRPr>
            </a:lvl4pPr>
            <a:lvl5pPr algn="l">
              <a:defRPr sz="1575" b="1">
                <a:solidFill>
                  <a:srgbClr val="15263A"/>
                </a:solidFill>
              </a:defRPr>
            </a:lvl5pPr>
            <a:lvl6pPr algn="l">
              <a:defRPr sz="1575" b="1">
                <a:solidFill>
                  <a:srgbClr val="15263A"/>
                </a:solidFill>
              </a:defRPr>
            </a:lvl6pPr>
            <a:lvl7pPr algn="l">
              <a:defRPr sz="1575" b="1">
                <a:solidFill>
                  <a:srgbClr val="15263A"/>
                </a:solidFill>
              </a:defRPr>
            </a:lvl7pPr>
            <a:lvl8pPr algn="l">
              <a:defRPr sz="1575" b="1">
                <a:solidFill>
                  <a:srgbClr val="15263A"/>
                </a:solidFill>
              </a:defRPr>
            </a:lvl8pPr>
            <a:lvl9pPr algn="l">
              <a:defRPr sz="157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5263A"/>
                </a:solidFill>
              </a:defRPr>
            </a:pPr>
            <a:r>
              <a:rPr sz="1575" b="1">
                <a:solidFill>
                  <a:srgbClr val="15263A"/>
                </a:solidFill>
              </a:rPr>
              <a:t>The time pattern shows a marked increase after the early Falcon 9 years.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4A1FA-99F4-4BD6-AEE2-409E0F3A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638550"/>
            <a:ext cx="319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>
                <a:solidFill>
                  <a:srgbClr val="1677A8"/>
                </a:solidFill>
              </a:defRPr>
            </a:defPPr>
            <a:lvl1pPr algn="l">
              <a:defRPr sz="1275" b="1">
                <a:solidFill>
                  <a:srgbClr val="1677A8"/>
                </a:solidFill>
              </a:defRPr>
            </a:lvl1pPr>
            <a:lvl2pPr algn="l">
              <a:defRPr sz="1275" b="1">
                <a:solidFill>
                  <a:srgbClr val="1677A8"/>
                </a:solidFill>
              </a:defRPr>
            </a:lvl2pPr>
            <a:lvl3pPr algn="l">
              <a:defRPr sz="1275" b="1">
                <a:solidFill>
                  <a:srgbClr val="1677A8"/>
                </a:solidFill>
              </a:defRPr>
            </a:lvl3pPr>
            <a:lvl4pPr algn="l">
              <a:defRPr sz="1275" b="1">
                <a:solidFill>
                  <a:srgbClr val="1677A8"/>
                </a:solidFill>
              </a:defRPr>
            </a:lvl4pPr>
            <a:lvl5pPr algn="l">
              <a:defRPr sz="1275" b="1">
                <a:solidFill>
                  <a:srgbClr val="1677A8"/>
                </a:solidFill>
              </a:defRPr>
            </a:lvl5pPr>
            <a:lvl6pPr algn="l">
              <a:defRPr sz="1275" b="1">
                <a:solidFill>
                  <a:srgbClr val="1677A8"/>
                </a:solidFill>
              </a:defRPr>
            </a:lvl6pPr>
            <a:lvl7pPr algn="l">
              <a:defRPr sz="1275" b="1">
                <a:solidFill>
                  <a:srgbClr val="1677A8"/>
                </a:solidFill>
              </a:defRPr>
            </a:lvl7pPr>
            <a:lvl8pPr algn="l">
              <a:defRPr sz="1275" b="1">
                <a:solidFill>
                  <a:srgbClr val="1677A8"/>
                </a:solidFill>
              </a:defRPr>
            </a:lvl8pPr>
            <a:lvl9pPr algn="l">
              <a:defRPr sz="12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677A8"/>
                </a:solidFill>
              </a:defRPr>
            </a:pPr>
            <a:r>
              <a:rPr sz="1275" b="1">
                <a:solidFill>
                  <a:srgbClr val="1677A8"/>
                </a:solidFill>
              </a:rPr>
              <a:t>SQL result: outputs/sql/year_success.csv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96951-F5F5-40E3-A8AA-41B6FE49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448175"/>
            <a:ext cx="323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586A7B"/>
                </a:solidFill>
              </a:defRPr>
            </a:defPPr>
            <a:lvl1pPr algn="l">
              <a:defRPr sz="1350" b="0">
                <a:solidFill>
                  <a:srgbClr val="586A7B"/>
                </a:solidFill>
              </a:defRPr>
            </a:lvl1pPr>
            <a:lvl2pPr algn="l">
              <a:defRPr sz="1350" b="0">
                <a:solidFill>
                  <a:srgbClr val="586A7B"/>
                </a:solidFill>
              </a:defRPr>
            </a:lvl2pPr>
            <a:lvl3pPr algn="l">
              <a:defRPr sz="1350" b="0">
                <a:solidFill>
                  <a:srgbClr val="586A7B"/>
                </a:solidFill>
              </a:defRPr>
            </a:lvl3pPr>
            <a:lvl4pPr algn="l">
              <a:defRPr sz="1350" b="0">
                <a:solidFill>
                  <a:srgbClr val="586A7B"/>
                </a:solidFill>
              </a:defRPr>
            </a:lvl4pPr>
            <a:lvl5pPr algn="l">
              <a:defRPr sz="1350" b="0">
                <a:solidFill>
                  <a:srgbClr val="586A7B"/>
                </a:solidFill>
              </a:defRPr>
            </a:lvl5pPr>
            <a:lvl6pPr algn="l">
              <a:defRPr sz="1350" b="0">
                <a:solidFill>
                  <a:srgbClr val="586A7B"/>
                </a:solidFill>
              </a:defRPr>
            </a:lvl6pPr>
            <a:lvl7pPr algn="l">
              <a:defRPr sz="1350" b="0">
                <a:solidFill>
                  <a:srgbClr val="586A7B"/>
                </a:solidFill>
              </a:defRPr>
            </a:lvl7pPr>
            <a:lvl8pPr algn="l">
              <a:defRPr sz="1350" b="0">
                <a:solidFill>
                  <a:srgbClr val="586A7B"/>
                </a:solidFill>
              </a:defRPr>
            </a:lvl8pPr>
            <a:lvl9pPr algn="l">
              <a:defRPr sz="1350" b="0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6A7B"/>
                </a:solidFill>
              </a:defRPr>
            </a:pPr>
            <a:r>
              <a:rPr sz="1350" b="0">
                <a:solidFill>
                  <a:srgbClr val="586A7B"/>
                </a:solidFill>
              </a:rPr>
              <a:t>Interpret with the yearly launch counts: small denominators make annual rates volatile.</a:t>
            </a:r>
          </a:p>
        </p:txBody>
      </p:sp>
    </p:spTree>
    <p:extLst>
      <p:ext uri="{BB962C8B-B14F-4D97-AF65-F5344CB8AC3E}">
        <p14:creationId xmlns:p14="http://schemas.microsoft.com/office/powerpoint/2010/main" val="5689097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FE1BD-5E9F-48AE-A295-40BBAEFB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86F47-1423-49BF-972D-679B90AEA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7A8"/>
                </a:solidFill>
              </a:defRPr>
            </a:defPPr>
            <a:lvl1pPr algn="l">
              <a:defRPr sz="975" b="1">
                <a:solidFill>
                  <a:srgbClr val="1677A8"/>
                </a:solidFill>
              </a:defRPr>
            </a:lvl1pPr>
            <a:lvl2pPr algn="l">
              <a:defRPr sz="975" b="1">
                <a:solidFill>
                  <a:srgbClr val="1677A8"/>
                </a:solidFill>
              </a:defRPr>
            </a:lvl2pPr>
            <a:lvl3pPr algn="l">
              <a:defRPr sz="975" b="1">
                <a:solidFill>
                  <a:srgbClr val="1677A8"/>
                </a:solidFill>
              </a:defRPr>
            </a:lvl3pPr>
            <a:lvl4pPr algn="l">
              <a:defRPr sz="975" b="1">
                <a:solidFill>
                  <a:srgbClr val="1677A8"/>
                </a:solidFill>
              </a:defRPr>
            </a:lvl4pPr>
            <a:lvl5pPr algn="l">
              <a:defRPr sz="975" b="1">
                <a:solidFill>
                  <a:srgbClr val="1677A8"/>
                </a:solidFill>
              </a:defRPr>
            </a:lvl5pPr>
            <a:lvl6pPr algn="l">
              <a:defRPr sz="975" b="1">
                <a:solidFill>
                  <a:srgbClr val="1677A8"/>
                </a:solidFill>
              </a:defRPr>
            </a:lvl6pPr>
            <a:lvl7pPr algn="l">
              <a:defRPr sz="975" b="1">
                <a:solidFill>
                  <a:srgbClr val="1677A8"/>
                </a:solidFill>
              </a:defRPr>
            </a:lvl7pPr>
            <a:lvl8pPr algn="l">
              <a:defRPr sz="975" b="1">
                <a:solidFill>
                  <a:srgbClr val="1677A8"/>
                </a:solidFill>
              </a:defRPr>
            </a:lvl8pPr>
            <a:lvl9pPr algn="l">
              <a:defRPr sz="9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77A8"/>
                </a:solidFill>
              </a:defRPr>
            </a:pPr>
            <a:r>
              <a:rPr sz="975" b="1">
                <a:solidFill>
                  <a:srgbClr val="1677A8"/>
                </a:solidFill>
              </a:rPr>
              <a:t>INTERACTIVE VISUAL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B15F6-9F6A-42D7-A362-3F8949FE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Folium maps the three sampled launch sites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8AA998-F3AA-484C-986F-4B394AB2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B2278-489D-47DB-8CF1-CCDFE782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677A8"/>
                </a:solidFill>
              </a:defRPr>
            </a:defPPr>
            <a:lvl1pPr algn="l">
              <a:defRPr sz="750" b="1">
                <a:solidFill>
                  <a:srgbClr val="1677A8"/>
                </a:solidFill>
              </a:defRPr>
            </a:lvl1pPr>
            <a:lvl2pPr algn="l">
              <a:defRPr sz="750" b="1">
                <a:solidFill>
                  <a:srgbClr val="1677A8"/>
                </a:solidFill>
              </a:defRPr>
            </a:lvl2pPr>
            <a:lvl3pPr algn="l">
              <a:defRPr sz="750" b="1">
                <a:solidFill>
                  <a:srgbClr val="1677A8"/>
                </a:solidFill>
              </a:defRPr>
            </a:lvl3pPr>
            <a:lvl4pPr algn="l">
              <a:defRPr sz="750" b="1">
                <a:solidFill>
                  <a:srgbClr val="1677A8"/>
                </a:solidFill>
              </a:defRPr>
            </a:lvl4pPr>
            <a:lvl5pPr algn="l">
              <a:defRPr sz="750" b="1">
                <a:solidFill>
                  <a:srgbClr val="1677A8"/>
                </a:solidFill>
              </a:defRPr>
            </a:lvl5pPr>
            <a:lvl6pPr algn="l">
              <a:defRPr sz="750" b="1">
                <a:solidFill>
                  <a:srgbClr val="1677A8"/>
                </a:solidFill>
              </a:defRPr>
            </a:lvl6pPr>
            <a:lvl7pPr algn="l">
              <a:defRPr sz="750" b="1">
                <a:solidFill>
                  <a:srgbClr val="1677A8"/>
                </a:solidFill>
              </a:defRPr>
            </a:lvl7pPr>
            <a:lvl8pPr algn="l">
              <a:defRPr sz="750" b="1">
                <a:solidFill>
                  <a:srgbClr val="1677A8"/>
                </a:solidFill>
              </a:defRPr>
            </a:lvl8pPr>
            <a:lvl9pPr algn="l">
              <a:defRPr sz="7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77A8"/>
                </a:solidFill>
              </a:defRPr>
            </a:pPr>
            <a:r>
              <a:rPr sz="750" b="1">
                <a:solidFill>
                  <a:srgbClr val="1677A8"/>
                </a:solidFill>
              </a:rPr>
              <a:t>GitHub: github.com/joaoltrevisan/spacex-falcon9-capstone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C841B-AACA-4168-8099-B017F19F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86A7B"/>
                </a:solidFill>
              </a:defRPr>
            </a:defPPr>
            <a:lvl1pPr algn="r">
              <a:defRPr sz="900" b="1">
                <a:solidFill>
                  <a:srgbClr val="586A7B"/>
                </a:solidFill>
              </a:defRPr>
            </a:lvl1pPr>
            <a:lvl2pPr algn="r">
              <a:defRPr sz="900" b="1">
                <a:solidFill>
                  <a:srgbClr val="586A7B"/>
                </a:solidFill>
              </a:defRPr>
            </a:lvl2pPr>
            <a:lvl3pPr algn="r">
              <a:defRPr sz="900" b="1">
                <a:solidFill>
                  <a:srgbClr val="586A7B"/>
                </a:solidFill>
              </a:defRPr>
            </a:lvl3pPr>
            <a:lvl4pPr algn="r">
              <a:defRPr sz="900" b="1">
                <a:solidFill>
                  <a:srgbClr val="586A7B"/>
                </a:solidFill>
              </a:defRPr>
            </a:lvl4pPr>
            <a:lvl5pPr algn="r">
              <a:defRPr sz="900" b="1">
                <a:solidFill>
                  <a:srgbClr val="586A7B"/>
                </a:solidFill>
              </a:defRPr>
            </a:lvl5pPr>
            <a:lvl6pPr algn="r">
              <a:defRPr sz="900" b="1">
                <a:solidFill>
                  <a:srgbClr val="586A7B"/>
                </a:solidFill>
              </a:defRPr>
            </a:lvl6pPr>
            <a:lvl7pPr algn="r">
              <a:defRPr sz="900" b="1">
                <a:solidFill>
                  <a:srgbClr val="586A7B"/>
                </a:solidFill>
              </a:defRPr>
            </a:lvl7pPr>
            <a:lvl8pPr algn="r">
              <a:defRPr sz="900" b="1">
                <a:solidFill>
                  <a:srgbClr val="586A7B"/>
                </a:solidFill>
              </a:defRPr>
            </a:lvl8pPr>
            <a:lvl9pPr algn="r">
              <a:defRPr sz="900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586A7B"/>
                </a:solidFill>
              </a:defRPr>
            </a:pPr>
            <a:r>
              <a:rPr sz="900" b="1">
                <a:solidFill>
                  <a:srgbClr val="586A7B"/>
                </a:solidFill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58DAF-FCE7-42DA-9C4C-01102D51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5263A"/>
                </a:solidFill>
              </a:defRPr>
            </a:defPPr>
            <a:lvl1pPr algn="l">
              <a:defRPr sz="1575" b="0">
                <a:solidFill>
                  <a:srgbClr val="15263A"/>
                </a:solidFill>
              </a:defRPr>
            </a:lvl1pPr>
            <a:lvl2pPr algn="l">
              <a:defRPr sz="1575" b="0">
                <a:solidFill>
                  <a:srgbClr val="15263A"/>
                </a:solidFill>
              </a:defRPr>
            </a:lvl2pPr>
            <a:lvl3pPr algn="l">
              <a:defRPr sz="1575" b="0">
                <a:solidFill>
                  <a:srgbClr val="15263A"/>
                </a:solidFill>
              </a:defRPr>
            </a:lvl3pPr>
            <a:lvl4pPr algn="l">
              <a:defRPr sz="1575" b="0">
                <a:solidFill>
                  <a:srgbClr val="15263A"/>
                </a:solidFill>
              </a:defRPr>
            </a:lvl4pPr>
            <a:lvl5pPr algn="l">
              <a:defRPr sz="1575" b="0">
                <a:solidFill>
                  <a:srgbClr val="15263A"/>
                </a:solidFill>
              </a:defRPr>
            </a:lvl5pPr>
            <a:lvl6pPr algn="l">
              <a:defRPr sz="1575" b="0">
                <a:solidFill>
                  <a:srgbClr val="15263A"/>
                </a:solidFill>
              </a:defRPr>
            </a:lvl6pPr>
            <a:lvl7pPr algn="l">
              <a:defRPr sz="1575" b="0">
                <a:solidFill>
                  <a:srgbClr val="15263A"/>
                </a:solidFill>
              </a:defRPr>
            </a:lvl7pPr>
            <a:lvl8pPr algn="l">
              <a:defRPr sz="1575" b="0">
                <a:solidFill>
                  <a:srgbClr val="15263A"/>
                </a:solidFill>
              </a:defRPr>
            </a:lvl8pPr>
            <a:lvl9pPr algn="l">
              <a:defRPr sz="1575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5263A"/>
                </a:solidFill>
              </a:defRPr>
            </a:pPr>
            <a:r>
              <a:rPr sz="1575" b="0">
                <a:solidFill>
                  <a:srgbClr val="15263A"/>
                </a:solidFill>
              </a:rPr>
              <a:t>The project generates an interactive HTML map with one marker per launch site. Marker popups report launch counts and observed landing rates.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C8399-7885-4A65-B027-36C3ED623BCE}"/>
              </a:ext>
            </a:extLst>
          </p:cNvPr>
          <p:cNvGraphicFramePr/>
          <p:nvPr/>
        </p:nvGraphicFramePr>
        <p:xfrm>
          <a:off xmlns:a="http://schemas.openxmlformats.org/drawingml/2006/main" x="685800" y="2438400"/>
          <a:ext xmlns:a="http://schemas.openxmlformats.org/drawingml/2006/main" cx="7810500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810000"/>
                <a:gridCol w="1952625"/>
                <a:gridCol w="2047875"/>
              </a:tblGrid>
              <a:tr h="61912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Site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082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Sample launches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082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Observed success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08253E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CCAFS SLC 40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55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60.0%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KSC LC 39A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22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77.3%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VAFB SLC 4E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13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76.9%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A0593-409A-42E0-84DC-014B49B8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677A8"/>
                </a:solidFill>
              </a:defRPr>
            </a:defPPr>
            <a:lvl1pPr algn="l">
              <a:defRPr sz="1200" b="1">
                <a:solidFill>
                  <a:srgbClr val="1677A8"/>
                </a:solidFill>
              </a:defRPr>
            </a:lvl1pPr>
            <a:lvl2pPr algn="l">
              <a:defRPr sz="1200" b="1">
                <a:solidFill>
                  <a:srgbClr val="1677A8"/>
                </a:solidFill>
              </a:defRPr>
            </a:lvl2pPr>
            <a:lvl3pPr algn="l">
              <a:defRPr sz="1200" b="1">
                <a:solidFill>
                  <a:srgbClr val="1677A8"/>
                </a:solidFill>
              </a:defRPr>
            </a:lvl3pPr>
            <a:lvl4pPr algn="l">
              <a:defRPr sz="1200" b="1">
                <a:solidFill>
                  <a:srgbClr val="1677A8"/>
                </a:solidFill>
              </a:defRPr>
            </a:lvl4pPr>
            <a:lvl5pPr algn="l">
              <a:defRPr sz="1200" b="1">
                <a:solidFill>
                  <a:srgbClr val="1677A8"/>
                </a:solidFill>
              </a:defRPr>
            </a:lvl5pPr>
            <a:lvl6pPr algn="l">
              <a:defRPr sz="1200" b="1">
                <a:solidFill>
                  <a:srgbClr val="1677A8"/>
                </a:solidFill>
              </a:defRPr>
            </a:lvl6pPr>
            <a:lvl7pPr algn="l">
              <a:defRPr sz="1200" b="1">
                <a:solidFill>
                  <a:srgbClr val="1677A8"/>
                </a:solidFill>
              </a:defRPr>
            </a:lvl7pPr>
            <a:lvl8pPr algn="l">
              <a:defRPr sz="1200" b="1">
                <a:solidFill>
                  <a:srgbClr val="1677A8"/>
                </a:solidFill>
              </a:defRPr>
            </a:lvl8pPr>
            <a:lvl9pPr algn="l">
              <a:defRPr sz="120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677A8"/>
                </a:solidFill>
              </a:defRPr>
            </a:pPr>
            <a:r>
              <a:rPr sz="1200" b="1">
                <a:solidFill>
                  <a:srgbClr val="1677A8"/>
                </a:solidFill>
              </a:rPr>
              <a:t>Interactive artifact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E7CDB3-FA5D-45FD-848A-F92707CD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>
                <a:solidFill>
                  <a:srgbClr val="15263A"/>
                </a:solidFill>
              </a:defRPr>
            </a:defPPr>
            <a:lvl1pPr algn="l">
              <a:defRPr sz="1500" b="1">
                <a:solidFill>
                  <a:srgbClr val="15263A"/>
                </a:solidFill>
              </a:defRPr>
            </a:lvl1pPr>
            <a:lvl2pPr algn="l">
              <a:defRPr sz="1500" b="1">
                <a:solidFill>
                  <a:srgbClr val="15263A"/>
                </a:solidFill>
              </a:defRPr>
            </a:lvl2pPr>
            <a:lvl3pPr algn="l">
              <a:defRPr sz="1500" b="1">
                <a:solidFill>
                  <a:srgbClr val="15263A"/>
                </a:solidFill>
              </a:defRPr>
            </a:lvl3pPr>
            <a:lvl4pPr algn="l">
              <a:defRPr sz="1500" b="1">
                <a:solidFill>
                  <a:srgbClr val="15263A"/>
                </a:solidFill>
              </a:defRPr>
            </a:lvl4pPr>
            <a:lvl5pPr algn="l">
              <a:defRPr sz="1500" b="1">
                <a:solidFill>
                  <a:srgbClr val="15263A"/>
                </a:solidFill>
              </a:defRPr>
            </a:lvl5pPr>
            <a:lvl6pPr algn="l">
              <a:defRPr sz="1500" b="1">
                <a:solidFill>
                  <a:srgbClr val="15263A"/>
                </a:solidFill>
              </a:defRPr>
            </a:lvl6pPr>
            <a:lvl7pPr algn="l">
              <a:defRPr sz="1500" b="1">
                <a:solidFill>
                  <a:srgbClr val="15263A"/>
                </a:solidFill>
              </a:defRPr>
            </a:lvl7pPr>
            <a:lvl8pPr algn="l">
              <a:defRPr sz="1500" b="1">
                <a:solidFill>
                  <a:srgbClr val="15263A"/>
                </a:solidFill>
              </a:defRPr>
            </a:lvl8pPr>
            <a:lvl9pPr algn="l">
              <a:defRPr sz="1500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15263A"/>
                </a:solidFill>
              </a:defRPr>
            </a:pPr>
            <a:r>
              <a:rPr sz="1500" b="1">
                <a:solidFill>
                  <a:srgbClr val="15263A"/>
                </a:solidFill>
              </a:rPr>
              <a:t>outputs/launch_sites_folium.html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7074C-7899-4F2A-8F02-C1F3E493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576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586A7B"/>
                </a:solidFill>
              </a:defRPr>
            </a:defPPr>
            <a:lvl1pPr algn="l">
              <a:defRPr sz="1275" b="0">
                <a:solidFill>
                  <a:srgbClr val="586A7B"/>
                </a:solidFill>
              </a:defRPr>
            </a:lvl1pPr>
            <a:lvl2pPr algn="l">
              <a:defRPr sz="1275" b="0">
                <a:solidFill>
                  <a:srgbClr val="586A7B"/>
                </a:solidFill>
              </a:defRPr>
            </a:lvl2pPr>
            <a:lvl3pPr algn="l">
              <a:defRPr sz="1275" b="0">
                <a:solidFill>
                  <a:srgbClr val="586A7B"/>
                </a:solidFill>
              </a:defRPr>
            </a:lvl3pPr>
            <a:lvl4pPr algn="l">
              <a:defRPr sz="1275" b="0">
                <a:solidFill>
                  <a:srgbClr val="586A7B"/>
                </a:solidFill>
              </a:defRPr>
            </a:lvl4pPr>
            <a:lvl5pPr algn="l">
              <a:defRPr sz="1275" b="0">
                <a:solidFill>
                  <a:srgbClr val="586A7B"/>
                </a:solidFill>
              </a:defRPr>
            </a:lvl5pPr>
            <a:lvl6pPr algn="l">
              <a:defRPr sz="1275" b="0">
                <a:solidFill>
                  <a:srgbClr val="586A7B"/>
                </a:solidFill>
              </a:defRPr>
            </a:lvl6pPr>
            <a:lvl7pPr algn="l">
              <a:defRPr sz="1275" b="0">
                <a:solidFill>
                  <a:srgbClr val="586A7B"/>
                </a:solidFill>
              </a:defRPr>
            </a:lvl7pPr>
            <a:lvl8pPr algn="l">
              <a:defRPr sz="1275" b="0">
                <a:solidFill>
                  <a:srgbClr val="586A7B"/>
                </a:solidFill>
              </a:defRPr>
            </a:lvl8pPr>
            <a:lvl9pPr algn="l">
              <a:defRPr sz="1275" b="0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A7B"/>
                </a:solidFill>
              </a:defRPr>
            </a:pPr>
            <a:r>
              <a:rPr sz="1275" b="0">
                <a:solidFill>
                  <a:srgbClr val="586A7B"/>
                </a:solidFill>
              </a:rPr>
              <a:t>Open the HTML file in a browser to zoom and inspect site markers.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CC483-F8F2-47C9-862C-4E90979A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47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15263A"/>
                </a:solidFill>
              </a:defRPr>
            </a:defPPr>
            <a:lvl1pPr algn="l">
              <a:defRPr sz="1425" b="1">
                <a:solidFill>
                  <a:srgbClr val="15263A"/>
                </a:solidFill>
              </a:defRPr>
            </a:lvl1pPr>
            <a:lvl2pPr algn="l">
              <a:defRPr sz="1425" b="1">
                <a:solidFill>
                  <a:srgbClr val="15263A"/>
                </a:solidFill>
              </a:defRPr>
            </a:lvl2pPr>
            <a:lvl3pPr algn="l">
              <a:defRPr sz="1425" b="1">
                <a:solidFill>
                  <a:srgbClr val="15263A"/>
                </a:solidFill>
              </a:defRPr>
            </a:lvl3pPr>
            <a:lvl4pPr algn="l">
              <a:defRPr sz="1425" b="1">
                <a:solidFill>
                  <a:srgbClr val="15263A"/>
                </a:solidFill>
              </a:defRPr>
            </a:lvl4pPr>
            <a:lvl5pPr algn="l">
              <a:defRPr sz="1425" b="1">
                <a:solidFill>
                  <a:srgbClr val="15263A"/>
                </a:solidFill>
              </a:defRPr>
            </a:lvl5pPr>
            <a:lvl6pPr algn="l">
              <a:defRPr sz="1425" b="1">
                <a:solidFill>
                  <a:srgbClr val="15263A"/>
                </a:solidFill>
              </a:defRPr>
            </a:lvl6pPr>
            <a:lvl7pPr algn="l">
              <a:defRPr sz="1425" b="1">
                <a:solidFill>
                  <a:srgbClr val="15263A"/>
                </a:solidFill>
              </a:defRPr>
            </a:lvl7pPr>
            <a:lvl8pPr algn="l">
              <a:defRPr sz="1425" b="1">
                <a:solidFill>
                  <a:srgbClr val="15263A"/>
                </a:solidFill>
              </a:defRPr>
            </a:lvl8pPr>
            <a:lvl9pPr algn="l">
              <a:defRPr sz="14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5263A"/>
                </a:solidFill>
              </a:defRPr>
            </a:pPr>
            <a:r>
              <a:rPr sz="1425" b="1">
                <a:solidFill>
                  <a:srgbClr val="15263A"/>
                </a:solidFill>
              </a:rPr>
              <a:t>Proximity analysis: KSC LC 39A and CCAFS SLC 40 are about 5.6 km apart; VAFB SLC 4E is about 3,720 km from the nearest Florida site.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3AD8F-A051-44EA-BE13-EEE7D809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86A7B"/>
                </a:solidFill>
              </a:defRPr>
            </a:defPPr>
            <a:lvl1pPr algn="l">
              <a:defRPr sz="1200" b="0">
                <a:solidFill>
                  <a:srgbClr val="586A7B"/>
                </a:solidFill>
              </a:defRPr>
            </a:lvl1pPr>
            <a:lvl2pPr algn="l">
              <a:defRPr sz="1200" b="0">
                <a:solidFill>
                  <a:srgbClr val="586A7B"/>
                </a:solidFill>
              </a:defRPr>
            </a:lvl2pPr>
            <a:lvl3pPr algn="l">
              <a:defRPr sz="1200" b="0">
                <a:solidFill>
                  <a:srgbClr val="586A7B"/>
                </a:solidFill>
              </a:defRPr>
            </a:lvl3pPr>
            <a:lvl4pPr algn="l">
              <a:defRPr sz="1200" b="0">
                <a:solidFill>
                  <a:srgbClr val="586A7B"/>
                </a:solidFill>
              </a:defRPr>
            </a:lvl4pPr>
            <a:lvl5pPr algn="l">
              <a:defRPr sz="1200" b="0">
                <a:solidFill>
                  <a:srgbClr val="586A7B"/>
                </a:solidFill>
              </a:defRPr>
            </a:lvl5pPr>
            <a:lvl6pPr algn="l">
              <a:defRPr sz="1200" b="0">
                <a:solidFill>
                  <a:srgbClr val="586A7B"/>
                </a:solidFill>
              </a:defRPr>
            </a:lvl6pPr>
            <a:lvl7pPr algn="l">
              <a:defRPr sz="1200" b="0">
                <a:solidFill>
                  <a:srgbClr val="586A7B"/>
                </a:solidFill>
              </a:defRPr>
            </a:lvl7pPr>
            <a:lvl8pPr algn="l">
              <a:defRPr sz="1200" b="0">
                <a:solidFill>
                  <a:srgbClr val="586A7B"/>
                </a:solidFill>
              </a:defRPr>
            </a:lvl8pPr>
            <a:lvl9pPr algn="l">
              <a:defRPr sz="1200" b="0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86A7B"/>
                </a:solidFill>
              </a:defRPr>
            </a:pPr>
            <a:r>
              <a:rPr sz="1200" b="0">
                <a:solidFill>
                  <a:srgbClr val="586A7B"/>
                </a:solidFill>
              </a:rPr>
              <a:t>Each popup reports site, launch records, successful launches, rate and nearest sampled site distance.</a:t>
            </a:r>
          </a:p>
        </p:txBody>
      </p:sp>
    </p:spTree>
    <p:extLst>
      <p:ext uri="{BB962C8B-B14F-4D97-AF65-F5344CB8AC3E}">
        <p14:creationId xmlns:p14="http://schemas.microsoft.com/office/powerpoint/2010/main" val="14957518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C58127-86BC-4C10-BB52-8FDE9662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6E2A4-85B0-4A3B-8448-CE925181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7A8"/>
                </a:solidFill>
              </a:defRPr>
            </a:defPPr>
            <a:lvl1pPr algn="l">
              <a:defRPr sz="975" b="1">
                <a:solidFill>
                  <a:srgbClr val="1677A8"/>
                </a:solidFill>
              </a:defRPr>
            </a:lvl1pPr>
            <a:lvl2pPr algn="l">
              <a:defRPr sz="975" b="1">
                <a:solidFill>
                  <a:srgbClr val="1677A8"/>
                </a:solidFill>
              </a:defRPr>
            </a:lvl2pPr>
            <a:lvl3pPr algn="l">
              <a:defRPr sz="975" b="1">
                <a:solidFill>
                  <a:srgbClr val="1677A8"/>
                </a:solidFill>
              </a:defRPr>
            </a:lvl3pPr>
            <a:lvl4pPr algn="l">
              <a:defRPr sz="975" b="1">
                <a:solidFill>
                  <a:srgbClr val="1677A8"/>
                </a:solidFill>
              </a:defRPr>
            </a:lvl4pPr>
            <a:lvl5pPr algn="l">
              <a:defRPr sz="975" b="1">
                <a:solidFill>
                  <a:srgbClr val="1677A8"/>
                </a:solidFill>
              </a:defRPr>
            </a:lvl5pPr>
            <a:lvl6pPr algn="l">
              <a:defRPr sz="975" b="1">
                <a:solidFill>
                  <a:srgbClr val="1677A8"/>
                </a:solidFill>
              </a:defRPr>
            </a:lvl6pPr>
            <a:lvl7pPr algn="l">
              <a:defRPr sz="975" b="1">
                <a:solidFill>
                  <a:srgbClr val="1677A8"/>
                </a:solidFill>
              </a:defRPr>
            </a:lvl7pPr>
            <a:lvl8pPr algn="l">
              <a:defRPr sz="975" b="1">
                <a:solidFill>
                  <a:srgbClr val="1677A8"/>
                </a:solidFill>
              </a:defRPr>
            </a:lvl8pPr>
            <a:lvl9pPr algn="l">
              <a:defRPr sz="9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77A8"/>
                </a:solidFill>
              </a:defRPr>
            </a:pPr>
            <a:r>
              <a:rPr sz="975" b="1">
                <a:solidFill>
                  <a:srgbClr val="1677A8"/>
                </a:solidFill>
              </a:rPr>
              <a:t>INTERACTIVE VISUAL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52D9D-CA4F-47CD-8E1C-D21774C1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Dash exposes the sample through interactive filters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52FDF-2AC2-4F9E-87BC-A95EB637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8CA39-5CF4-4096-913A-7CEF08A5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677A8"/>
                </a:solidFill>
              </a:defRPr>
            </a:defPPr>
            <a:lvl1pPr algn="l">
              <a:defRPr sz="750" b="1">
                <a:solidFill>
                  <a:srgbClr val="1677A8"/>
                </a:solidFill>
              </a:defRPr>
            </a:lvl1pPr>
            <a:lvl2pPr algn="l">
              <a:defRPr sz="750" b="1">
                <a:solidFill>
                  <a:srgbClr val="1677A8"/>
                </a:solidFill>
              </a:defRPr>
            </a:lvl2pPr>
            <a:lvl3pPr algn="l">
              <a:defRPr sz="750" b="1">
                <a:solidFill>
                  <a:srgbClr val="1677A8"/>
                </a:solidFill>
              </a:defRPr>
            </a:lvl3pPr>
            <a:lvl4pPr algn="l">
              <a:defRPr sz="750" b="1">
                <a:solidFill>
                  <a:srgbClr val="1677A8"/>
                </a:solidFill>
              </a:defRPr>
            </a:lvl4pPr>
            <a:lvl5pPr algn="l">
              <a:defRPr sz="750" b="1">
                <a:solidFill>
                  <a:srgbClr val="1677A8"/>
                </a:solidFill>
              </a:defRPr>
            </a:lvl5pPr>
            <a:lvl6pPr algn="l">
              <a:defRPr sz="750" b="1">
                <a:solidFill>
                  <a:srgbClr val="1677A8"/>
                </a:solidFill>
              </a:defRPr>
            </a:lvl6pPr>
            <a:lvl7pPr algn="l">
              <a:defRPr sz="750" b="1">
                <a:solidFill>
                  <a:srgbClr val="1677A8"/>
                </a:solidFill>
              </a:defRPr>
            </a:lvl7pPr>
            <a:lvl8pPr algn="l">
              <a:defRPr sz="750" b="1">
                <a:solidFill>
                  <a:srgbClr val="1677A8"/>
                </a:solidFill>
              </a:defRPr>
            </a:lvl8pPr>
            <a:lvl9pPr algn="l">
              <a:defRPr sz="7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77A8"/>
                </a:solidFill>
              </a:defRPr>
            </a:pPr>
            <a:r>
              <a:rPr sz="750" b="1">
                <a:solidFill>
                  <a:srgbClr val="1677A8"/>
                </a:solidFill>
              </a:rPr>
              <a:t>GitHub: github.com/joaoltrevisan/spacex-falcon9-capstone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A1FAD-3990-4558-8697-C42F01E4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86A7B"/>
                </a:solidFill>
              </a:defRPr>
            </a:defPPr>
            <a:lvl1pPr algn="r">
              <a:defRPr sz="900" b="1">
                <a:solidFill>
                  <a:srgbClr val="586A7B"/>
                </a:solidFill>
              </a:defRPr>
            </a:lvl1pPr>
            <a:lvl2pPr algn="r">
              <a:defRPr sz="900" b="1">
                <a:solidFill>
                  <a:srgbClr val="586A7B"/>
                </a:solidFill>
              </a:defRPr>
            </a:lvl2pPr>
            <a:lvl3pPr algn="r">
              <a:defRPr sz="900" b="1">
                <a:solidFill>
                  <a:srgbClr val="586A7B"/>
                </a:solidFill>
              </a:defRPr>
            </a:lvl3pPr>
            <a:lvl4pPr algn="r">
              <a:defRPr sz="900" b="1">
                <a:solidFill>
                  <a:srgbClr val="586A7B"/>
                </a:solidFill>
              </a:defRPr>
            </a:lvl4pPr>
            <a:lvl5pPr algn="r">
              <a:defRPr sz="900" b="1">
                <a:solidFill>
                  <a:srgbClr val="586A7B"/>
                </a:solidFill>
              </a:defRPr>
            </a:lvl5pPr>
            <a:lvl6pPr algn="r">
              <a:defRPr sz="900" b="1">
                <a:solidFill>
                  <a:srgbClr val="586A7B"/>
                </a:solidFill>
              </a:defRPr>
            </a:lvl6pPr>
            <a:lvl7pPr algn="r">
              <a:defRPr sz="900" b="1">
                <a:solidFill>
                  <a:srgbClr val="586A7B"/>
                </a:solidFill>
              </a:defRPr>
            </a:lvl7pPr>
            <a:lvl8pPr algn="r">
              <a:defRPr sz="900" b="1">
                <a:solidFill>
                  <a:srgbClr val="586A7B"/>
                </a:solidFill>
              </a:defRPr>
            </a:lvl8pPr>
            <a:lvl9pPr algn="r">
              <a:defRPr sz="900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586A7B"/>
                </a:solidFill>
              </a:defRPr>
            </a:pPr>
            <a:r>
              <a:rPr sz="900" b="1">
                <a:solidFill>
                  <a:srgbClr val="586A7B"/>
                </a:solidFill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51369-7A66-4CB4-9084-89DA0EF7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15263A"/>
                </a:solidFill>
              </a:defRPr>
            </a:defPPr>
            <a:lvl1pPr algn="l">
              <a:defRPr sz="1650" b="0">
                <a:solidFill>
                  <a:srgbClr val="15263A"/>
                </a:solidFill>
              </a:defRPr>
            </a:lvl1pPr>
            <a:lvl2pPr algn="l">
              <a:defRPr sz="1650" b="0">
                <a:solidFill>
                  <a:srgbClr val="15263A"/>
                </a:solidFill>
              </a:defRPr>
            </a:lvl2pPr>
            <a:lvl3pPr algn="l">
              <a:defRPr sz="1650" b="0">
                <a:solidFill>
                  <a:srgbClr val="15263A"/>
                </a:solidFill>
              </a:defRPr>
            </a:lvl3pPr>
            <a:lvl4pPr algn="l">
              <a:defRPr sz="1650" b="0">
                <a:solidFill>
                  <a:srgbClr val="15263A"/>
                </a:solidFill>
              </a:defRPr>
            </a:lvl4pPr>
            <a:lvl5pPr algn="l">
              <a:defRPr sz="1650" b="0">
                <a:solidFill>
                  <a:srgbClr val="15263A"/>
                </a:solidFill>
              </a:defRPr>
            </a:lvl5pPr>
            <a:lvl6pPr algn="l">
              <a:defRPr sz="1650" b="0">
                <a:solidFill>
                  <a:srgbClr val="15263A"/>
                </a:solidFill>
              </a:defRPr>
            </a:lvl6pPr>
            <a:lvl7pPr algn="l">
              <a:defRPr sz="1650" b="0">
                <a:solidFill>
                  <a:srgbClr val="15263A"/>
                </a:solidFill>
              </a:defRPr>
            </a:lvl7pPr>
            <a:lvl8pPr algn="l">
              <a:defRPr sz="1650" b="0">
                <a:solidFill>
                  <a:srgbClr val="15263A"/>
                </a:solidFill>
              </a:defRPr>
            </a:lvl8pPr>
            <a:lvl9pPr algn="l">
              <a:defRPr sz="165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5263A"/>
                </a:solidFill>
              </a:defRPr>
            </a:pPr>
            <a:r>
              <a:rPr sz="1650" b="0">
                <a:solidFill>
                  <a:srgbClr val="15263A"/>
                </a:solidFill>
              </a:rPr>
              <a:t>The Plotly Dash app contains launch-site and orbit filters with two linked views.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DAAF5E-7F9C-47DC-952F-4BCF0557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77A8"/>
                </a:solidFill>
              </a:defRPr>
            </a:defPPr>
            <a:lvl1pPr algn="l">
              <a:defRPr sz="1350" b="1">
                <a:solidFill>
                  <a:srgbClr val="1677A8"/>
                </a:solidFill>
              </a:defRPr>
            </a:lvl1pPr>
            <a:lvl2pPr algn="l">
              <a:defRPr sz="1350" b="1">
                <a:solidFill>
                  <a:srgbClr val="1677A8"/>
                </a:solidFill>
              </a:defRPr>
            </a:lvl2pPr>
            <a:lvl3pPr algn="l">
              <a:defRPr sz="1350" b="1">
                <a:solidFill>
                  <a:srgbClr val="1677A8"/>
                </a:solidFill>
              </a:defRPr>
            </a:lvl3pPr>
            <a:lvl4pPr algn="l">
              <a:defRPr sz="1350" b="1">
                <a:solidFill>
                  <a:srgbClr val="1677A8"/>
                </a:solidFill>
              </a:defRPr>
            </a:lvl4pPr>
            <a:lvl5pPr algn="l">
              <a:defRPr sz="1350" b="1">
                <a:solidFill>
                  <a:srgbClr val="1677A8"/>
                </a:solidFill>
              </a:defRPr>
            </a:lvl5pPr>
            <a:lvl6pPr algn="l">
              <a:defRPr sz="1350" b="1">
                <a:solidFill>
                  <a:srgbClr val="1677A8"/>
                </a:solidFill>
              </a:defRPr>
            </a:lvl6pPr>
            <a:lvl7pPr algn="l">
              <a:defRPr sz="1350" b="1">
                <a:solidFill>
                  <a:srgbClr val="1677A8"/>
                </a:solidFill>
              </a:defRPr>
            </a:lvl7pPr>
            <a:lvl8pPr algn="l">
              <a:defRPr sz="1350" b="1">
                <a:solidFill>
                  <a:srgbClr val="1677A8"/>
                </a:solidFill>
              </a:defRPr>
            </a:lvl8pPr>
            <a:lvl9pPr algn="l">
              <a:defRPr sz="13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677A8"/>
                </a:solidFill>
              </a:defRPr>
            </a:pPr>
            <a:r>
              <a:rPr sz="1350" b="1">
                <a:solidFill>
                  <a:srgbClr val="1677A8"/>
                </a:solidFill>
              </a:rPr>
              <a:t>Filter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BF2436-13B5-463C-A72C-C88E19CD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2200275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594E8-376F-485C-A17C-3251DB81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15265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Launch-site and orbit dropdowns restrict the displayed sample.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E2689A-D0E6-43EE-8151-126C746B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77A8"/>
                </a:solidFill>
              </a:defRPr>
            </a:defPPr>
            <a:lvl1pPr algn="l">
              <a:defRPr sz="1350" b="1">
                <a:solidFill>
                  <a:srgbClr val="1677A8"/>
                </a:solidFill>
              </a:defRPr>
            </a:lvl1pPr>
            <a:lvl2pPr algn="l">
              <a:defRPr sz="1350" b="1">
                <a:solidFill>
                  <a:srgbClr val="1677A8"/>
                </a:solidFill>
              </a:defRPr>
            </a:lvl2pPr>
            <a:lvl3pPr algn="l">
              <a:defRPr sz="1350" b="1">
                <a:solidFill>
                  <a:srgbClr val="1677A8"/>
                </a:solidFill>
              </a:defRPr>
            </a:lvl3pPr>
            <a:lvl4pPr algn="l">
              <a:defRPr sz="1350" b="1">
                <a:solidFill>
                  <a:srgbClr val="1677A8"/>
                </a:solidFill>
              </a:defRPr>
            </a:lvl4pPr>
            <a:lvl5pPr algn="l">
              <a:defRPr sz="1350" b="1">
                <a:solidFill>
                  <a:srgbClr val="1677A8"/>
                </a:solidFill>
              </a:defRPr>
            </a:lvl5pPr>
            <a:lvl6pPr algn="l">
              <a:defRPr sz="1350" b="1">
                <a:solidFill>
                  <a:srgbClr val="1677A8"/>
                </a:solidFill>
              </a:defRPr>
            </a:lvl6pPr>
            <a:lvl7pPr algn="l">
              <a:defRPr sz="1350" b="1">
                <a:solidFill>
                  <a:srgbClr val="1677A8"/>
                </a:solidFill>
              </a:defRPr>
            </a:lvl7pPr>
            <a:lvl8pPr algn="l">
              <a:defRPr sz="1350" b="1">
                <a:solidFill>
                  <a:srgbClr val="1677A8"/>
                </a:solidFill>
              </a:defRPr>
            </a:lvl8pPr>
            <a:lvl9pPr algn="l">
              <a:defRPr sz="13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677A8"/>
                </a:solidFill>
              </a:defRPr>
            </a:pPr>
            <a:r>
              <a:rPr sz="1350" b="1">
                <a:solidFill>
                  <a:srgbClr val="1677A8"/>
                </a:solidFill>
              </a:rPr>
              <a:t>View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42D580-AABC-4609-8C15-52ABCC78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067050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04730-60CE-4718-85CB-CFB09841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01942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Pie chart shows the share of successful and failed launches in the filtered sample.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B17A5-ACF2-4DA3-B21C-61743522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77A8"/>
                </a:solidFill>
              </a:defRPr>
            </a:defPPr>
            <a:lvl1pPr algn="l">
              <a:defRPr sz="1350" b="1">
                <a:solidFill>
                  <a:srgbClr val="1677A8"/>
                </a:solidFill>
              </a:defRPr>
            </a:lvl1pPr>
            <a:lvl2pPr algn="l">
              <a:defRPr sz="1350" b="1">
                <a:solidFill>
                  <a:srgbClr val="1677A8"/>
                </a:solidFill>
              </a:defRPr>
            </a:lvl2pPr>
            <a:lvl3pPr algn="l">
              <a:defRPr sz="1350" b="1">
                <a:solidFill>
                  <a:srgbClr val="1677A8"/>
                </a:solidFill>
              </a:defRPr>
            </a:lvl3pPr>
            <a:lvl4pPr algn="l">
              <a:defRPr sz="1350" b="1">
                <a:solidFill>
                  <a:srgbClr val="1677A8"/>
                </a:solidFill>
              </a:defRPr>
            </a:lvl4pPr>
            <a:lvl5pPr algn="l">
              <a:defRPr sz="1350" b="1">
                <a:solidFill>
                  <a:srgbClr val="1677A8"/>
                </a:solidFill>
              </a:defRPr>
            </a:lvl5pPr>
            <a:lvl6pPr algn="l">
              <a:defRPr sz="1350" b="1">
                <a:solidFill>
                  <a:srgbClr val="1677A8"/>
                </a:solidFill>
              </a:defRPr>
            </a:lvl6pPr>
            <a:lvl7pPr algn="l">
              <a:defRPr sz="1350" b="1">
                <a:solidFill>
                  <a:srgbClr val="1677A8"/>
                </a:solidFill>
              </a:defRPr>
            </a:lvl7pPr>
            <a:lvl8pPr algn="l">
              <a:defRPr sz="1350" b="1">
                <a:solidFill>
                  <a:srgbClr val="1677A8"/>
                </a:solidFill>
              </a:defRPr>
            </a:lvl8pPr>
            <a:lvl9pPr algn="l">
              <a:defRPr sz="13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677A8"/>
                </a:solidFill>
              </a:defRPr>
            </a:pPr>
            <a:r>
              <a:rPr sz="1350" b="1">
                <a:solidFill>
                  <a:srgbClr val="1677A8"/>
                </a:solidFill>
              </a:rPr>
              <a:t>View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B65827-EADC-46A0-9589-6B0AA7EC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933825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2AD45-7A6C-4F80-AB01-C9F502F0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886200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Scatter plot compares payload mass with binary landing outcome; hover reveals flight, site and orbit.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8DBB44-D825-41F6-8A6A-72945644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677A8"/>
                </a:solidFill>
              </a:defRPr>
            </a:defPPr>
            <a:lvl1pPr algn="l">
              <a:defRPr sz="1350" b="1">
                <a:solidFill>
                  <a:srgbClr val="1677A8"/>
                </a:solidFill>
              </a:defRPr>
            </a:lvl1pPr>
            <a:lvl2pPr algn="l">
              <a:defRPr sz="1350" b="1">
                <a:solidFill>
                  <a:srgbClr val="1677A8"/>
                </a:solidFill>
              </a:defRPr>
            </a:lvl2pPr>
            <a:lvl3pPr algn="l">
              <a:defRPr sz="1350" b="1">
                <a:solidFill>
                  <a:srgbClr val="1677A8"/>
                </a:solidFill>
              </a:defRPr>
            </a:lvl3pPr>
            <a:lvl4pPr algn="l">
              <a:defRPr sz="1350" b="1">
                <a:solidFill>
                  <a:srgbClr val="1677A8"/>
                </a:solidFill>
              </a:defRPr>
            </a:lvl4pPr>
            <a:lvl5pPr algn="l">
              <a:defRPr sz="1350" b="1">
                <a:solidFill>
                  <a:srgbClr val="1677A8"/>
                </a:solidFill>
              </a:defRPr>
            </a:lvl5pPr>
            <a:lvl6pPr algn="l">
              <a:defRPr sz="1350" b="1">
                <a:solidFill>
                  <a:srgbClr val="1677A8"/>
                </a:solidFill>
              </a:defRPr>
            </a:lvl6pPr>
            <a:lvl7pPr algn="l">
              <a:defRPr sz="1350" b="1">
                <a:solidFill>
                  <a:srgbClr val="1677A8"/>
                </a:solidFill>
              </a:defRPr>
            </a:lvl7pPr>
            <a:lvl8pPr algn="l">
              <a:defRPr sz="1350" b="1">
                <a:solidFill>
                  <a:srgbClr val="1677A8"/>
                </a:solidFill>
              </a:defRPr>
            </a:lvl8pPr>
            <a:lvl9pPr algn="l">
              <a:defRPr sz="13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677A8"/>
                </a:solidFill>
              </a:defRPr>
            </a:pPr>
            <a:r>
              <a:rPr sz="1350" b="1">
                <a:solidFill>
                  <a:srgbClr val="1677A8"/>
                </a:solidFill>
              </a:rPr>
              <a:t>Run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9A0DE6-8163-47F4-A4D4-39094724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800600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D5603F-FEDD-423D-B4E3-DD6B0642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752975"/>
            <a:ext cx="809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python src/dash_app.py, then open http://127.0.0.1:8050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4DEA90-D156-4E07-A49F-77105E79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86A7B"/>
                </a:solidFill>
              </a:defRPr>
            </a:defPPr>
            <a:lvl1pPr algn="l">
              <a:defRPr sz="1200" b="0">
                <a:solidFill>
                  <a:srgbClr val="586A7B"/>
                </a:solidFill>
              </a:defRPr>
            </a:lvl1pPr>
            <a:lvl2pPr algn="l">
              <a:defRPr sz="1200" b="0">
                <a:solidFill>
                  <a:srgbClr val="586A7B"/>
                </a:solidFill>
              </a:defRPr>
            </a:lvl2pPr>
            <a:lvl3pPr algn="l">
              <a:defRPr sz="1200" b="0">
                <a:solidFill>
                  <a:srgbClr val="586A7B"/>
                </a:solidFill>
              </a:defRPr>
            </a:lvl3pPr>
            <a:lvl4pPr algn="l">
              <a:defRPr sz="1200" b="0">
                <a:solidFill>
                  <a:srgbClr val="586A7B"/>
                </a:solidFill>
              </a:defRPr>
            </a:lvl4pPr>
            <a:lvl5pPr algn="l">
              <a:defRPr sz="1200" b="0">
                <a:solidFill>
                  <a:srgbClr val="586A7B"/>
                </a:solidFill>
              </a:defRPr>
            </a:lvl5pPr>
            <a:lvl6pPr algn="l">
              <a:defRPr sz="1200" b="0">
                <a:solidFill>
                  <a:srgbClr val="586A7B"/>
                </a:solidFill>
              </a:defRPr>
            </a:lvl6pPr>
            <a:lvl7pPr algn="l">
              <a:defRPr sz="1200" b="0">
                <a:solidFill>
                  <a:srgbClr val="586A7B"/>
                </a:solidFill>
              </a:defRPr>
            </a:lvl7pPr>
            <a:lvl8pPr algn="l">
              <a:defRPr sz="1200" b="0">
                <a:solidFill>
                  <a:srgbClr val="586A7B"/>
                </a:solidFill>
              </a:defRPr>
            </a:lvl8pPr>
            <a:lvl9pPr algn="l">
              <a:defRPr sz="1200" b="0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86A7B"/>
                </a:solidFill>
              </a:defRPr>
            </a:pPr>
            <a:r>
              <a:rPr sz="1200" b="0">
                <a:solidFill>
                  <a:srgbClr val="586A7B"/>
                </a:solidFill>
              </a:rPr>
              <a:t>The app layout, route, and filtered callback were exercised with the Flask test client.</a:t>
            </a:r>
          </a:p>
        </p:txBody>
      </p:sp>
    </p:spTree>
    <p:extLst>
      <p:ext uri="{BB962C8B-B14F-4D97-AF65-F5344CB8AC3E}">
        <p14:creationId xmlns:p14="http://schemas.microsoft.com/office/powerpoint/2010/main" val="153366765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225BBF-6823-4B4A-B90D-B99C4D1C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55A747-C7DE-4AF6-AD7D-7EDD76D5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7A8"/>
                </a:solidFill>
              </a:defRPr>
            </a:defPPr>
            <a:lvl1pPr algn="l">
              <a:defRPr sz="975" b="1">
                <a:solidFill>
                  <a:srgbClr val="1677A8"/>
                </a:solidFill>
              </a:defRPr>
            </a:lvl1pPr>
            <a:lvl2pPr algn="l">
              <a:defRPr sz="975" b="1">
                <a:solidFill>
                  <a:srgbClr val="1677A8"/>
                </a:solidFill>
              </a:defRPr>
            </a:lvl2pPr>
            <a:lvl3pPr algn="l">
              <a:defRPr sz="975" b="1">
                <a:solidFill>
                  <a:srgbClr val="1677A8"/>
                </a:solidFill>
              </a:defRPr>
            </a:lvl3pPr>
            <a:lvl4pPr algn="l">
              <a:defRPr sz="975" b="1">
                <a:solidFill>
                  <a:srgbClr val="1677A8"/>
                </a:solidFill>
              </a:defRPr>
            </a:lvl4pPr>
            <a:lvl5pPr algn="l">
              <a:defRPr sz="975" b="1">
                <a:solidFill>
                  <a:srgbClr val="1677A8"/>
                </a:solidFill>
              </a:defRPr>
            </a:lvl5pPr>
            <a:lvl6pPr algn="l">
              <a:defRPr sz="975" b="1">
                <a:solidFill>
                  <a:srgbClr val="1677A8"/>
                </a:solidFill>
              </a:defRPr>
            </a:lvl6pPr>
            <a:lvl7pPr algn="l">
              <a:defRPr sz="975" b="1">
                <a:solidFill>
                  <a:srgbClr val="1677A8"/>
                </a:solidFill>
              </a:defRPr>
            </a:lvl7pPr>
            <a:lvl8pPr algn="l">
              <a:defRPr sz="975" b="1">
                <a:solidFill>
                  <a:srgbClr val="1677A8"/>
                </a:solidFill>
              </a:defRPr>
            </a:lvl8pPr>
            <a:lvl9pPr algn="l">
              <a:defRPr sz="9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77A8"/>
                </a:solidFill>
              </a:defRPr>
            </a:pPr>
            <a:r>
              <a:rPr sz="975" b="1">
                <a:solidFill>
                  <a:srgbClr val="1677A8"/>
                </a:solidFill>
              </a:rPr>
              <a:t>PREDICTIVE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999C5-2748-424E-9AF7-79849435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Decision tree ranked first in training cross-validation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7F1FA-771F-48B7-9868-9412B888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1200A-B890-4A32-8C2E-2DF4C2E5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677A8"/>
                </a:solidFill>
              </a:defRPr>
            </a:defPPr>
            <a:lvl1pPr algn="l">
              <a:defRPr sz="750" b="1">
                <a:solidFill>
                  <a:srgbClr val="1677A8"/>
                </a:solidFill>
              </a:defRPr>
            </a:lvl1pPr>
            <a:lvl2pPr algn="l">
              <a:defRPr sz="750" b="1">
                <a:solidFill>
                  <a:srgbClr val="1677A8"/>
                </a:solidFill>
              </a:defRPr>
            </a:lvl2pPr>
            <a:lvl3pPr algn="l">
              <a:defRPr sz="750" b="1">
                <a:solidFill>
                  <a:srgbClr val="1677A8"/>
                </a:solidFill>
              </a:defRPr>
            </a:lvl3pPr>
            <a:lvl4pPr algn="l">
              <a:defRPr sz="750" b="1">
                <a:solidFill>
                  <a:srgbClr val="1677A8"/>
                </a:solidFill>
              </a:defRPr>
            </a:lvl4pPr>
            <a:lvl5pPr algn="l">
              <a:defRPr sz="750" b="1">
                <a:solidFill>
                  <a:srgbClr val="1677A8"/>
                </a:solidFill>
              </a:defRPr>
            </a:lvl5pPr>
            <a:lvl6pPr algn="l">
              <a:defRPr sz="750" b="1">
                <a:solidFill>
                  <a:srgbClr val="1677A8"/>
                </a:solidFill>
              </a:defRPr>
            </a:lvl6pPr>
            <a:lvl7pPr algn="l">
              <a:defRPr sz="750" b="1">
                <a:solidFill>
                  <a:srgbClr val="1677A8"/>
                </a:solidFill>
              </a:defRPr>
            </a:lvl7pPr>
            <a:lvl8pPr algn="l">
              <a:defRPr sz="750" b="1">
                <a:solidFill>
                  <a:srgbClr val="1677A8"/>
                </a:solidFill>
              </a:defRPr>
            </a:lvl8pPr>
            <a:lvl9pPr algn="l">
              <a:defRPr sz="7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77A8"/>
                </a:solidFill>
              </a:defRPr>
            </a:pPr>
            <a:r>
              <a:rPr sz="750" b="1">
                <a:solidFill>
                  <a:srgbClr val="1677A8"/>
                </a:solidFill>
              </a:rPr>
              <a:t>GitHub: github.com/joaoltrevisan/spacex-falcon9-capstone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92801-0DF4-4CBF-90DF-78FCF144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86A7B"/>
                </a:solidFill>
              </a:defRPr>
            </a:defPPr>
            <a:lvl1pPr algn="r">
              <a:defRPr sz="900" b="1">
                <a:solidFill>
                  <a:srgbClr val="586A7B"/>
                </a:solidFill>
              </a:defRPr>
            </a:lvl1pPr>
            <a:lvl2pPr algn="r">
              <a:defRPr sz="900" b="1">
                <a:solidFill>
                  <a:srgbClr val="586A7B"/>
                </a:solidFill>
              </a:defRPr>
            </a:lvl2pPr>
            <a:lvl3pPr algn="r">
              <a:defRPr sz="900" b="1">
                <a:solidFill>
                  <a:srgbClr val="586A7B"/>
                </a:solidFill>
              </a:defRPr>
            </a:lvl3pPr>
            <a:lvl4pPr algn="r">
              <a:defRPr sz="900" b="1">
                <a:solidFill>
                  <a:srgbClr val="586A7B"/>
                </a:solidFill>
              </a:defRPr>
            </a:lvl4pPr>
            <a:lvl5pPr algn="r">
              <a:defRPr sz="900" b="1">
                <a:solidFill>
                  <a:srgbClr val="586A7B"/>
                </a:solidFill>
              </a:defRPr>
            </a:lvl5pPr>
            <a:lvl6pPr algn="r">
              <a:defRPr sz="900" b="1">
                <a:solidFill>
                  <a:srgbClr val="586A7B"/>
                </a:solidFill>
              </a:defRPr>
            </a:lvl6pPr>
            <a:lvl7pPr algn="r">
              <a:defRPr sz="900" b="1">
                <a:solidFill>
                  <a:srgbClr val="586A7B"/>
                </a:solidFill>
              </a:defRPr>
            </a:lvl7pPr>
            <a:lvl8pPr algn="r">
              <a:defRPr sz="900" b="1">
                <a:solidFill>
                  <a:srgbClr val="586A7B"/>
                </a:solidFill>
              </a:defRPr>
            </a:lvl8pPr>
            <a:lvl9pPr algn="r">
              <a:defRPr sz="900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586A7B"/>
                </a:solidFill>
              </a:defRPr>
            </a:pPr>
            <a:r>
              <a:rPr sz="900" b="1">
                <a:solidFill>
                  <a:srgbClr val="586A7B"/>
                </a:solidFill>
              </a:rPr>
              <a:t>20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23DE2-374E-4CF6-AEFE-6A23E1F3FF0F}"/>
              </a:ext>
            </a:extLst>
          </p:cNvPr>
          <p:cNvGraphicFramePr/>
          <p:nvPr/>
        </p:nvGraphicFramePr>
        <p:xfrm>
          <a:off xmlns:a="http://schemas.openxmlformats.org/drawingml/2006/main" x="523875" y="1619250"/>
          <a:ext xmlns:a="http://schemas.openxmlformats.org/drawingml/2006/main" cx="1114425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71750"/>
                <a:gridCol w="1714500"/>
                <a:gridCol w="1714500"/>
                <a:gridCol w="1714500"/>
                <a:gridCol w="1714500"/>
                <a:gridCol w="1714500"/>
              </a:tblGrid>
              <a:tr h="6858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082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CV accuracy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082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Test accuracy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082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082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082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08253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Logistic regression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83.7%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77.8%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78.6%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91.7%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84.6%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SVM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82.3%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77.8%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78.6%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91.7%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84.6%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KNN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69.4%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66.7%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66.7%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100.0%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80.0%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Decision tree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87.7%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83.3%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84.6%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91.7%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88.0%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DC692-8E85-4DF2-AA51-15672354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15263A"/>
                </a:solidFill>
              </a:defRPr>
            </a:defPPr>
            <a:lvl1pPr algn="l">
              <a:defRPr sz="1425" b="0">
                <a:solidFill>
                  <a:srgbClr val="15263A"/>
                </a:solidFill>
              </a:defRPr>
            </a:lvl1pPr>
            <a:lvl2pPr algn="l">
              <a:defRPr sz="1425" b="0">
                <a:solidFill>
                  <a:srgbClr val="15263A"/>
                </a:solidFill>
              </a:defRPr>
            </a:lvl2pPr>
            <a:lvl3pPr algn="l">
              <a:defRPr sz="1425" b="0">
                <a:solidFill>
                  <a:srgbClr val="15263A"/>
                </a:solidFill>
              </a:defRPr>
            </a:lvl3pPr>
            <a:lvl4pPr algn="l">
              <a:defRPr sz="1425" b="0">
                <a:solidFill>
                  <a:srgbClr val="15263A"/>
                </a:solidFill>
              </a:defRPr>
            </a:lvl4pPr>
            <a:lvl5pPr algn="l">
              <a:defRPr sz="1425" b="0">
                <a:solidFill>
                  <a:srgbClr val="15263A"/>
                </a:solidFill>
              </a:defRPr>
            </a:lvl5pPr>
            <a:lvl6pPr algn="l">
              <a:defRPr sz="1425" b="0">
                <a:solidFill>
                  <a:srgbClr val="15263A"/>
                </a:solidFill>
              </a:defRPr>
            </a:lvl6pPr>
            <a:lvl7pPr algn="l">
              <a:defRPr sz="1425" b="0">
                <a:solidFill>
                  <a:srgbClr val="15263A"/>
                </a:solidFill>
              </a:defRPr>
            </a:lvl7pPr>
            <a:lvl8pPr algn="l">
              <a:defRPr sz="1425" b="0">
                <a:solidFill>
                  <a:srgbClr val="15263A"/>
                </a:solidFill>
              </a:defRPr>
            </a:lvl8pPr>
            <a:lvl9pPr algn="l">
              <a:defRPr sz="1425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15263A"/>
                </a:solidFill>
              </a:defRPr>
            </a:pPr>
            <a:r>
              <a:rPr sz="1425" b="0">
                <a:solidFill>
                  <a:srgbClr val="15263A"/>
                </a:solidFill>
              </a:rPr>
              <a:t>CV selects the tree. Its holdout result is 15 / 18 correct, with 12 / 12 successes detected and 4 / 6 failures detected.</a:t>
            </a:r>
          </a:p>
        </p:txBody>
      </p:sp>
    </p:spTree>
    <p:extLst>
      <p:ext uri="{BB962C8B-B14F-4D97-AF65-F5344CB8AC3E}">
        <p14:creationId xmlns:p14="http://schemas.microsoft.com/office/powerpoint/2010/main" val="17930334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74FA11-AC24-43EC-808F-138B270F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E5D8E8-1521-484C-8995-9ADC47B3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7A8"/>
                </a:solidFill>
              </a:defRPr>
            </a:defPPr>
            <a:lvl1pPr algn="l">
              <a:defRPr sz="975" b="1">
                <a:solidFill>
                  <a:srgbClr val="1677A8"/>
                </a:solidFill>
              </a:defRPr>
            </a:lvl1pPr>
            <a:lvl2pPr algn="l">
              <a:defRPr sz="975" b="1">
                <a:solidFill>
                  <a:srgbClr val="1677A8"/>
                </a:solidFill>
              </a:defRPr>
            </a:lvl2pPr>
            <a:lvl3pPr algn="l">
              <a:defRPr sz="975" b="1">
                <a:solidFill>
                  <a:srgbClr val="1677A8"/>
                </a:solidFill>
              </a:defRPr>
            </a:lvl3pPr>
            <a:lvl4pPr algn="l">
              <a:defRPr sz="975" b="1">
                <a:solidFill>
                  <a:srgbClr val="1677A8"/>
                </a:solidFill>
              </a:defRPr>
            </a:lvl4pPr>
            <a:lvl5pPr algn="l">
              <a:defRPr sz="975" b="1">
                <a:solidFill>
                  <a:srgbClr val="1677A8"/>
                </a:solidFill>
              </a:defRPr>
            </a:lvl5pPr>
            <a:lvl6pPr algn="l">
              <a:defRPr sz="975" b="1">
                <a:solidFill>
                  <a:srgbClr val="1677A8"/>
                </a:solidFill>
              </a:defRPr>
            </a:lvl6pPr>
            <a:lvl7pPr algn="l">
              <a:defRPr sz="975" b="1">
                <a:solidFill>
                  <a:srgbClr val="1677A8"/>
                </a:solidFill>
              </a:defRPr>
            </a:lvl7pPr>
            <a:lvl8pPr algn="l">
              <a:defRPr sz="975" b="1">
                <a:solidFill>
                  <a:srgbClr val="1677A8"/>
                </a:solidFill>
              </a:defRPr>
            </a:lvl8pPr>
            <a:lvl9pPr algn="l">
              <a:defRPr sz="9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77A8"/>
                </a:solidFill>
              </a:defRPr>
            </a:pPr>
            <a:r>
              <a:rPr sz="975" b="1">
                <a:solidFill>
                  <a:srgbClr val="1677A8"/>
                </a:solidFill>
              </a:rPr>
              <a:t>PREDICTIVE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B0594-C2DC-4DE4-B251-26382D38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The holdout contains only six failed landings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92613-6175-463F-B380-5AF1278B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30C42-2DF0-48D4-BB86-6CC93FA0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677A8"/>
                </a:solidFill>
              </a:defRPr>
            </a:defPPr>
            <a:lvl1pPr algn="l">
              <a:defRPr sz="750" b="1">
                <a:solidFill>
                  <a:srgbClr val="1677A8"/>
                </a:solidFill>
              </a:defRPr>
            </a:lvl1pPr>
            <a:lvl2pPr algn="l">
              <a:defRPr sz="750" b="1">
                <a:solidFill>
                  <a:srgbClr val="1677A8"/>
                </a:solidFill>
              </a:defRPr>
            </a:lvl2pPr>
            <a:lvl3pPr algn="l">
              <a:defRPr sz="750" b="1">
                <a:solidFill>
                  <a:srgbClr val="1677A8"/>
                </a:solidFill>
              </a:defRPr>
            </a:lvl3pPr>
            <a:lvl4pPr algn="l">
              <a:defRPr sz="750" b="1">
                <a:solidFill>
                  <a:srgbClr val="1677A8"/>
                </a:solidFill>
              </a:defRPr>
            </a:lvl4pPr>
            <a:lvl5pPr algn="l">
              <a:defRPr sz="750" b="1">
                <a:solidFill>
                  <a:srgbClr val="1677A8"/>
                </a:solidFill>
              </a:defRPr>
            </a:lvl5pPr>
            <a:lvl6pPr algn="l">
              <a:defRPr sz="750" b="1">
                <a:solidFill>
                  <a:srgbClr val="1677A8"/>
                </a:solidFill>
              </a:defRPr>
            </a:lvl6pPr>
            <a:lvl7pPr algn="l">
              <a:defRPr sz="750" b="1">
                <a:solidFill>
                  <a:srgbClr val="1677A8"/>
                </a:solidFill>
              </a:defRPr>
            </a:lvl7pPr>
            <a:lvl8pPr algn="l">
              <a:defRPr sz="750" b="1">
                <a:solidFill>
                  <a:srgbClr val="1677A8"/>
                </a:solidFill>
              </a:defRPr>
            </a:lvl8pPr>
            <a:lvl9pPr algn="l">
              <a:defRPr sz="7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77A8"/>
                </a:solidFill>
              </a:defRPr>
            </a:pPr>
            <a:r>
              <a:rPr sz="750" b="1">
                <a:solidFill>
                  <a:srgbClr val="1677A8"/>
                </a:solidFill>
              </a:rPr>
              <a:t>GitHub: github.com/joaoltrevisan/spacex-falcon9-capstone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8DCF6-DB50-4ACF-A6FB-D8D1E2CB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86A7B"/>
                </a:solidFill>
              </a:defRPr>
            </a:defPPr>
            <a:lvl1pPr algn="r">
              <a:defRPr sz="900" b="1">
                <a:solidFill>
                  <a:srgbClr val="586A7B"/>
                </a:solidFill>
              </a:defRPr>
            </a:lvl1pPr>
            <a:lvl2pPr algn="r">
              <a:defRPr sz="900" b="1">
                <a:solidFill>
                  <a:srgbClr val="586A7B"/>
                </a:solidFill>
              </a:defRPr>
            </a:lvl2pPr>
            <a:lvl3pPr algn="r">
              <a:defRPr sz="900" b="1">
                <a:solidFill>
                  <a:srgbClr val="586A7B"/>
                </a:solidFill>
              </a:defRPr>
            </a:lvl3pPr>
            <a:lvl4pPr algn="r">
              <a:defRPr sz="900" b="1">
                <a:solidFill>
                  <a:srgbClr val="586A7B"/>
                </a:solidFill>
              </a:defRPr>
            </a:lvl4pPr>
            <a:lvl5pPr algn="r">
              <a:defRPr sz="900" b="1">
                <a:solidFill>
                  <a:srgbClr val="586A7B"/>
                </a:solidFill>
              </a:defRPr>
            </a:lvl5pPr>
            <a:lvl6pPr algn="r">
              <a:defRPr sz="900" b="1">
                <a:solidFill>
                  <a:srgbClr val="586A7B"/>
                </a:solidFill>
              </a:defRPr>
            </a:lvl6pPr>
            <a:lvl7pPr algn="r">
              <a:defRPr sz="900" b="1">
                <a:solidFill>
                  <a:srgbClr val="586A7B"/>
                </a:solidFill>
              </a:defRPr>
            </a:lvl7pPr>
            <a:lvl8pPr algn="r">
              <a:defRPr sz="900" b="1">
                <a:solidFill>
                  <a:srgbClr val="586A7B"/>
                </a:solidFill>
              </a:defRPr>
            </a:lvl8pPr>
            <a:lvl9pPr algn="r">
              <a:defRPr sz="900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586A7B"/>
                </a:solidFill>
              </a:defRPr>
            </a:pPr>
            <a:r>
              <a:rPr sz="900" b="1">
                <a:solidFill>
                  <a:srgbClr val="586A7B"/>
                </a:solidFill>
              </a:rPr>
              <a:t>21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5F593-F44B-4983-A647-C3FC472DD063}"/>
              </a:ext>
            </a:extLst>
          </p:cNvPr>
          <p:cNvGraphicFramePr/>
          <p:nvPr/>
        </p:nvGraphicFramePr>
        <p:xfrm>
          <a:off xmlns:a="http://schemas.openxmlformats.org/drawingml/2006/main" x="714375" y="1857375"/>
          <a:ext xmlns:a="http://schemas.openxmlformats.org/drawingml/2006/main" cx="6238875" cy="2476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52750"/>
                <a:gridCol w="1619250"/>
                <a:gridCol w="1666875"/>
              </a:tblGrid>
              <a:tr h="825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Actual \ Predicted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082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Failure (0)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082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Success (1)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T w="9525">
                      <a:solidFill>
                        <a:srgbClr val="D8E1E8"/>
                      </a:solidFill>
                      <a:prstDash val="solid"/>
                    </a:lnT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08253E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Failure (0)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2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Success (1)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8"/>
                      </a:solidFill>
                      <a:prstDash val="solid"/>
                    </a:lnL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263A"/>
                          </a:solidFill>
                        </a:rPr>
                        <a:t>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8"/>
                      </a:solidFill>
                      <a:prstDash val="solid"/>
                    </a:lnR>
                    <a:lnB w="9525">
                      <a:solidFill>
                        <a:srgbClr val="D8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708A2-1C8D-4760-9551-A08C4858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192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677A8"/>
                </a:solidFill>
              </a:defRPr>
            </a:defPPr>
            <a:lvl1pPr algn="l">
              <a:defRPr sz="1200" b="1">
                <a:solidFill>
                  <a:srgbClr val="1677A8"/>
                </a:solidFill>
              </a:defRPr>
            </a:lvl1pPr>
            <a:lvl2pPr algn="l">
              <a:defRPr sz="1200" b="1">
                <a:solidFill>
                  <a:srgbClr val="1677A8"/>
                </a:solidFill>
              </a:defRPr>
            </a:lvl2pPr>
            <a:lvl3pPr algn="l">
              <a:defRPr sz="1200" b="1">
                <a:solidFill>
                  <a:srgbClr val="1677A8"/>
                </a:solidFill>
              </a:defRPr>
            </a:lvl3pPr>
            <a:lvl4pPr algn="l">
              <a:defRPr sz="1200" b="1">
                <a:solidFill>
                  <a:srgbClr val="1677A8"/>
                </a:solidFill>
              </a:defRPr>
            </a:lvl4pPr>
            <a:lvl5pPr algn="l">
              <a:defRPr sz="1200" b="1">
                <a:solidFill>
                  <a:srgbClr val="1677A8"/>
                </a:solidFill>
              </a:defRPr>
            </a:lvl5pPr>
            <a:lvl6pPr algn="l">
              <a:defRPr sz="1200" b="1">
                <a:solidFill>
                  <a:srgbClr val="1677A8"/>
                </a:solidFill>
              </a:defRPr>
            </a:lvl6pPr>
            <a:lvl7pPr algn="l">
              <a:defRPr sz="1200" b="1">
                <a:solidFill>
                  <a:srgbClr val="1677A8"/>
                </a:solidFill>
              </a:defRPr>
            </a:lvl7pPr>
            <a:lvl8pPr algn="l">
              <a:defRPr sz="1200" b="1">
                <a:solidFill>
                  <a:srgbClr val="1677A8"/>
                </a:solidFill>
              </a:defRPr>
            </a:lvl8pPr>
            <a:lvl9pPr algn="l">
              <a:defRPr sz="120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677A8"/>
                </a:solidFill>
              </a:defRPr>
            </a:pPr>
            <a:r>
              <a:rPr sz="1200" b="1">
                <a:solidFill>
                  <a:srgbClr val="1677A8"/>
                </a:solidFill>
              </a:rPr>
              <a:t>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8BFD8-1B9E-4DB4-A352-416FD029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200275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800" b="1">
                <a:solidFill>
                  <a:srgbClr val="15263A"/>
                </a:solidFill>
              </a:defRPr>
            </a:defPPr>
            <a:lvl1pPr algn="l">
              <a:defRPr sz="1800" b="1">
                <a:solidFill>
                  <a:srgbClr val="15263A"/>
                </a:solidFill>
              </a:defRPr>
            </a:lvl1pPr>
            <a:lvl2pPr algn="l">
              <a:defRPr sz="1800" b="1">
                <a:solidFill>
                  <a:srgbClr val="15263A"/>
                </a:solidFill>
              </a:defRPr>
            </a:lvl2pPr>
            <a:lvl3pPr algn="l">
              <a:defRPr sz="1800" b="1">
                <a:solidFill>
                  <a:srgbClr val="15263A"/>
                </a:solidFill>
              </a:defRPr>
            </a:lvl3pPr>
            <a:lvl4pPr algn="l">
              <a:defRPr sz="1800" b="1">
                <a:solidFill>
                  <a:srgbClr val="15263A"/>
                </a:solidFill>
              </a:defRPr>
            </a:lvl4pPr>
            <a:lvl5pPr algn="l">
              <a:defRPr sz="1800" b="1">
                <a:solidFill>
                  <a:srgbClr val="15263A"/>
                </a:solidFill>
              </a:defRPr>
            </a:lvl5pPr>
            <a:lvl6pPr algn="l">
              <a:defRPr sz="1800" b="1">
                <a:solidFill>
                  <a:srgbClr val="15263A"/>
                </a:solidFill>
              </a:defRPr>
            </a:lvl6pPr>
            <a:lvl7pPr algn="l">
              <a:defRPr sz="1800" b="1">
                <a:solidFill>
                  <a:srgbClr val="15263A"/>
                </a:solidFill>
              </a:defRPr>
            </a:lvl7pPr>
            <a:lvl8pPr algn="l">
              <a:defRPr sz="1800" b="1">
                <a:solidFill>
                  <a:srgbClr val="15263A"/>
                </a:solidFill>
              </a:defRPr>
            </a:lvl8pPr>
            <a:lvl9pPr algn="l">
              <a:defRPr sz="1800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63A"/>
                </a:solidFill>
              </a:defRPr>
            </a:pPr>
            <a:r>
              <a:rPr sz="1800" b="1">
                <a:solidFill>
                  <a:srgbClr val="15263A"/>
                </a:solidFill>
              </a:rPr>
              <a:t>Decision tree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5263A"/>
                </a:solidFill>
              </a:defRPr>
            </a:pPr>
            <a:r>
              <a:rPr sz="1800" b="1">
                <a:solidFill>
                  <a:srgbClr val="15263A"/>
                </a:solidFill>
              </a:rPr>
              <a:t>Gini, max depth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830E1-6EC2-4F77-A148-13ADD397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76600"/>
            <a:ext cx="314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Recall: 91.7%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Precision: 84.6%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F1: 88.0%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48A88-4E8F-4B58-B6DB-C0DE4A82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53000"/>
            <a:ext cx="1038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586A7B"/>
                </a:solidFill>
              </a:defRPr>
            </a:defPPr>
            <a:lvl1pPr algn="l">
              <a:defRPr sz="1575" b="0">
                <a:solidFill>
                  <a:srgbClr val="586A7B"/>
                </a:solidFill>
              </a:defRPr>
            </a:lvl1pPr>
            <a:lvl2pPr algn="l">
              <a:defRPr sz="1575" b="0">
                <a:solidFill>
                  <a:srgbClr val="586A7B"/>
                </a:solidFill>
              </a:defRPr>
            </a:lvl2pPr>
            <a:lvl3pPr algn="l">
              <a:defRPr sz="1575" b="0">
                <a:solidFill>
                  <a:srgbClr val="586A7B"/>
                </a:solidFill>
              </a:defRPr>
            </a:lvl3pPr>
            <a:lvl4pPr algn="l">
              <a:defRPr sz="1575" b="0">
                <a:solidFill>
                  <a:srgbClr val="586A7B"/>
                </a:solidFill>
              </a:defRPr>
            </a:lvl4pPr>
            <a:lvl5pPr algn="l">
              <a:defRPr sz="1575" b="0">
                <a:solidFill>
                  <a:srgbClr val="586A7B"/>
                </a:solidFill>
              </a:defRPr>
            </a:lvl5pPr>
            <a:lvl6pPr algn="l">
              <a:defRPr sz="1575" b="0">
                <a:solidFill>
                  <a:srgbClr val="586A7B"/>
                </a:solidFill>
              </a:defRPr>
            </a:lvl6pPr>
            <a:lvl7pPr algn="l">
              <a:defRPr sz="1575" b="0">
                <a:solidFill>
                  <a:srgbClr val="586A7B"/>
                </a:solidFill>
              </a:defRPr>
            </a:lvl7pPr>
            <a:lvl8pPr algn="l">
              <a:defRPr sz="1575" b="0">
                <a:solidFill>
                  <a:srgbClr val="586A7B"/>
                </a:solidFill>
              </a:defRPr>
            </a:lvl8pPr>
            <a:lvl9pPr algn="l">
              <a:defRPr sz="1575" b="0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586A7B"/>
                </a:solidFill>
              </a:defRPr>
            </a:pPr>
            <a:r>
              <a:rPr sz="1575" b="0">
                <a:solidFill>
                  <a:srgbClr val="586A7B"/>
                </a:solidFill>
              </a:rPr>
              <a:t>One additional error among six failures changes failure-class metrics sharply. Treat the model as a learning exercise, not a launch decision system.</a:t>
            </a:r>
          </a:p>
        </p:txBody>
      </p:sp>
    </p:spTree>
    <p:extLst>
      <p:ext uri="{BB962C8B-B14F-4D97-AF65-F5344CB8AC3E}">
        <p14:creationId xmlns:p14="http://schemas.microsoft.com/office/powerpoint/2010/main" val="8295111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3CC80-F9A1-4186-AE27-3C52AB96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FB786-10B1-4731-8814-EE1AE7FF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7A8"/>
                </a:solidFill>
              </a:defRPr>
            </a:defPPr>
            <a:lvl1pPr algn="l">
              <a:defRPr sz="975" b="1">
                <a:solidFill>
                  <a:srgbClr val="1677A8"/>
                </a:solidFill>
              </a:defRPr>
            </a:lvl1pPr>
            <a:lvl2pPr algn="l">
              <a:defRPr sz="975" b="1">
                <a:solidFill>
                  <a:srgbClr val="1677A8"/>
                </a:solidFill>
              </a:defRPr>
            </a:lvl2pPr>
            <a:lvl3pPr algn="l">
              <a:defRPr sz="975" b="1">
                <a:solidFill>
                  <a:srgbClr val="1677A8"/>
                </a:solidFill>
              </a:defRPr>
            </a:lvl3pPr>
            <a:lvl4pPr algn="l">
              <a:defRPr sz="975" b="1">
                <a:solidFill>
                  <a:srgbClr val="1677A8"/>
                </a:solidFill>
              </a:defRPr>
            </a:lvl4pPr>
            <a:lvl5pPr algn="l">
              <a:defRPr sz="975" b="1">
                <a:solidFill>
                  <a:srgbClr val="1677A8"/>
                </a:solidFill>
              </a:defRPr>
            </a:lvl5pPr>
            <a:lvl6pPr algn="l">
              <a:defRPr sz="975" b="1">
                <a:solidFill>
                  <a:srgbClr val="1677A8"/>
                </a:solidFill>
              </a:defRPr>
            </a:lvl6pPr>
            <a:lvl7pPr algn="l">
              <a:defRPr sz="975" b="1">
                <a:solidFill>
                  <a:srgbClr val="1677A8"/>
                </a:solidFill>
              </a:defRPr>
            </a:lvl7pPr>
            <a:lvl8pPr algn="l">
              <a:defRPr sz="975" b="1">
                <a:solidFill>
                  <a:srgbClr val="1677A8"/>
                </a:solidFill>
              </a:defRPr>
            </a:lvl8pPr>
            <a:lvl9pPr algn="l">
              <a:defRPr sz="9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77A8"/>
                </a:solidFill>
              </a:defRPr>
            </a:pPr>
            <a:r>
              <a:rPr sz="975" b="1">
                <a:solidFill>
                  <a:srgbClr val="1677A8"/>
                </a:solidFill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6E8B33-75A5-4AA6-A4FB-6880D47B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Conclusion: mission context matters alongside payload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4A558-E163-44AF-916A-9CD805B4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0EF2D-2052-4FC2-B13A-2EF50CC0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677A8"/>
                </a:solidFill>
              </a:defRPr>
            </a:defPPr>
            <a:lvl1pPr algn="l">
              <a:defRPr sz="750" b="1">
                <a:solidFill>
                  <a:srgbClr val="1677A8"/>
                </a:solidFill>
              </a:defRPr>
            </a:lvl1pPr>
            <a:lvl2pPr algn="l">
              <a:defRPr sz="750" b="1">
                <a:solidFill>
                  <a:srgbClr val="1677A8"/>
                </a:solidFill>
              </a:defRPr>
            </a:lvl2pPr>
            <a:lvl3pPr algn="l">
              <a:defRPr sz="750" b="1">
                <a:solidFill>
                  <a:srgbClr val="1677A8"/>
                </a:solidFill>
              </a:defRPr>
            </a:lvl3pPr>
            <a:lvl4pPr algn="l">
              <a:defRPr sz="750" b="1">
                <a:solidFill>
                  <a:srgbClr val="1677A8"/>
                </a:solidFill>
              </a:defRPr>
            </a:lvl4pPr>
            <a:lvl5pPr algn="l">
              <a:defRPr sz="750" b="1">
                <a:solidFill>
                  <a:srgbClr val="1677A8"/>
                </a:solidFill>
              </a:defRPr>
            </a:lvl5pPr>
            <a:lvl6pPr algn="l">
              <a:defRPr sz="750" b="1">
                <a:solidFill>
                  <a:srgbClr val="1677A8"/>
                </a:solidFill>
              </a:defRPr>
            </a:lvl6pPr>
            <a:lvl7pPr algn="l">
              <a:defRPr sz="750" b="1">
                <a:solidFill>
                  <a:srgbClr val="1677A8"/>
                </a:solidFill>
              </a:defRPr>
            </a:lvl7pPr>
            <a:lvl8pPr algn="l">
              <a:defRPr sz="750" b="1">
                <a:solidFill>
                  <a:srgbClr val="1677A8"/>
                </a:solidFill>
              </a:defRPr>
            </a:lvl8pPr>
            <a:lvl9pPr algn="l">
              <a:defRPr sz="7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77A8"/>
                </a:solidFill>
              </a:defRPr>
            </a:pPr>
            <a:r>
              <a:rPr sz="750" b="1">
                <a:solidFill>
                  <a:srgbClr val="1677A8"/>
                </a:solidFill>
              </a:rPr>
              <a:t>GitHub: github.com/joaoltrevisan/spacex-falcon9-capstone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D5C79-E434-4A02-9FF5-9C8ADF90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86A7B"/>
                </a:solidFill>
              </a:defRPr>
            </a:defPPr>
            <a:lvl1pPr algn="r">
              <a:defRPr sz="900" b="1">
                <a:solidFill>
                  <a:srgbClr val="586A7B"/>
                </a:solidFill>
              </a:defRPr>
            </a:lvl1pPr>
            <a:lvl2pPr algn="r">
              <a:defRPr sz="900" b="1">
                <a:solidFill>
                  <a:srgbClr val="586A7B"/>
                </a:solidFill>
              </a:defRPr>
            </a:lvl2pPr>
            <a:lvl3pPr algn="r">
              <a:defRPr sz="900" b="1">
                <a:solidFill>
                  <a:srgbClr val="586A7B"/>
                </a:solidFill>
              </a:defRPr>
            </a:lvl3pPr>
            <a:lvl4pPr algn="r">
              <a:defRPr sz="900" b="1">
                <a:solidFill>
                  <a:srgbClr val="586A7B"/>
                </a:solidFill>
              </a:defRPr>
            </a:lvl4pPr>
            <a:lvl5pPr algn="r">
              <a:defRPr sz="900" b="1">
                <a:solidFill>
                  <a:srgbClr val="586A7B"/>
                </a:solidFill>
              </a:defRPr>
            </a:lvl5pPr>
            <a:lvl6pPr algn="r">
              <a:defRPr sz="900" b="1">
                <a:solidFill>
                  <a:srgbClr val="586A7B"/>
                </a:solidFill>
              </a:defRPr>
            </a:lvl6pPr>
            <a:lvl7pPr algn="r">
              <a:defRPr sz="900" b="1">
                <a:solidFill>
                  <a:srgbClr val="586A7B"/>
                </a:solidFill>
              </a:defRPr>
            </a:lvl7pPr>
            <a:lvl8pPr algn="r">
              <a:defRPr sz="900" b="1">
                <a:solidFill>
                  <a:srgbClr val="586A7B"/>
                </a:solidFill>
              </a:defRPr>
            </a:lvl8pPr>
            <a:lvl9pPr algn="r">
              <a:defRPr sz="900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586A7B"/>
                </a:solidFill>
              </a:defRPr>
            </a:pPr>
            <a:r>
              <a:rPr sz="900" b="1">
                <a:solidFill>
                  <a:srgbClr val="586A7B"/>
                </a:solidFill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26E62-13C6-4E42-9651-2B1EC09E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677A8"/>
                </a:solidFill>
              </a:defRPr>
            </a:defPPr>
            <a:lvl1pPr algn="l">
              <a:defRPr sz="1200" b="1">
                <a:solidFill>
                  <a:srgbClr val="1677A8"/>
                </a:solidFill>
              </a:defRPr>
            </a:lvl1pPr>
            <a:lvl2pPr algn="l">
              <a:defRPr sz="1200" b="1">
                <a:solidFill>
                  <a:srgbClr val="1677A8"/>
                </a:solidFill>
              </a:defRPr>
            </a:lvl2pPr>
            <a:lvl3pPr algn="l">
              <a:defRPr sz="1200" b="1">
                <a:solidFill>
                  <a:srgbClr val="1677A8"/>
                </a:solidFill>
              </a:defRPr>
            </a:lvl3pPr>
            <a:lvl4pPr algn="l">
              <a:defRPr sz="1200" b="1">
                <a:solidFill>
                  <a:srgbClr val="1677A8"/>
                </a:solidFill>
              </a:defRPr>
            </a:lvl4pPr>
            <a:lvl5pPr algn="l">
              <a:defRPr sz="1200" b="1">
                <a:solidFill>
                  <a:srgbClr val="1677A8"/>
                </a:solidFill>
              </a:defRPr>
            </a:lvl5pPr>
            <a:lvl6pPr algn="l">
              <a:defRPr sz="1200" b="1">
                <a:solidFill>
                  <a:srgbClr val="1677A8"/>
                </a:solidFill>
              </a:defRPr>
            </a:lvl6pPr>
            <a:lvl7pPr algn="l">
              <a:defRPr sz="1200" b="1">
                <a:solidFill>
                  <a:srgbClr val="1677A8"/>
                </a:solidFill>
              </a:defRPr>
            </a:lvl7pPr>
            <a:lvl8pPr algn="l">
              <a:defRPr sz="1200" b="1">
                <a:solidFill>
                  <a:srgbClr val="1677A8"/>
                </a:solidFill>
              </a:defRPr>
            </a:lvl8pPr>
            <a:lvl9pPr algn="l">
              <a:defRPr sz="120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677A8"/>
                </a:solidFill>
              </a:defRPr>
            </a:pPr>
            <a:r>
              <a:rPr sz="1200" b="1">
                <a:solidFill>
                  <a:srgbClr val="1677A8"/>
                </a:solidFill>
              </a:rPr>
              <a:t>What the sample supports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0EB52-C3D7-43DF-8B3F-52826BCD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4810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5263A"/>
                </a:solidFill>
              </a:defRPr>
            </a:defPPr>
            <a:lvl1pPr algn="l">
              <a:defRPr sz="1575" b="0">
                <a:solidFill>
                  <a:srgbClr val="15263A"/>
                </a:solidFill>
              </a:defRPr>
            </a:lvl1pPr>
            <a:lvl2pPr algn="l">
              <a:defRPr sz="1575" b="0">
                <a:solidFill>
                  <a:srgbClr val="15263A"/>
                </a:solidFill>
              </a:defRPr>
            </a:lvl2pPr>
            <a:lvl3pPr algn="l">
              <a:defRPr sz="1575" b="0">
                <a:solidFill>
                  <a:srgbClr val="15263A"/>
                </a:solidFill>
              </a:defRPr>
            </a:lvl3pPr>
            <a:lvl4pPr algn="l">
              <a:defRPr sz="1575" b="0">
                <a:solidFill>
                  <a:srgbClr val="15263A"/>
                </a:solidFill>
              </a:defRPr>
            </a:lvl4pPr>
            <a:lvl5pPr algn="l">
              <a:defRPr sz="1575" b="0">
                <a:solidFill>
                  <a:srgbClr val="15263A"/>
                </a:solidFill>
              </a:defRPr>
            </a:lvl5pPr>
            <a:lvl6pPr algn="l">
              <a:defRPr sz="1575" b="0">
                <a:solidFill>
                  <a:srgbClr val="15263A"/>
                </a:solidFill>
              </a:defRPr>
            </a:lvl6pPr>
            <a:lvl7pPr algn="l">
              <a:defRPr sz="1575" b="0">
                <a:solidFill>
                  <a:srgbClr val="15263A"/>
                </a:solidFill>
              </a:defRPr>
            </a:lvl7pPr>
            <a:lvl8pPr algn="l">
              <a:defRPr sz="1575" b="0">
                <a:solidFill>
                  <a:srgbClr val="15263A"/>
                </a:solidFill>
              </a:defRPr>
            </a:lvl8pPr>
            <a:lvl9pPr algn="l">
              <a:defRPr sz="1575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5263A"/>
                </a:solidFill>
              </a:defRPr>
            </a:pPr>
            <a:r>
              <a:rPr sz="1575" b="0">
                <a:solidFill>
                  <a:srgbClr val="15263A"/>
                </a:solidFill>
              </a:rPr>
              <a:t>Landing success becomes more common in later years in this dataset. Site and orbit rates differ, but their group sizes and mission mix also differ.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A53AE-0533-4AB4-8CB0-6ACEA2EB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335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677A8"/>
                </a:solidFill>
              </a:defRPr>
            </a:defPPr>
            <a:lvl1pPr algn="l">
              <a:defRPr sz="1200" b="1">
                <a:solidFill>
                  <a:srgbClr val="1677A8"/>
                </a:solidFill>
              </a:defRPr>
            </a:lvl1pPr>
            <a:lvl2pPr algn="l">
              <a:defRPr sz="1200" b="1">
                <a:solidFill>
                  <a:srgbClr val="1677A8"/>
                </a:solidFill>
              </a:defRPr>
            </a:lvl2pPr>
            <a:lvl3pPr algn="l">
              <a:defRPr sz="1200" b="1">
                <a:solidFill>
                  <a:srgbClr val="1677A8"/>
                </a:solidFill>
              </a:defRPr>
            </a:lvl3pPr>
            <a:lvl4pPr algn="l">
              <a:defRPr sz="1200" b="1">
                <a:solidFill>
                  <a:srgbClr val="1677A8"/>
                </a:solidFill>
              </a:defRPr>
            </a:lvl4pPr>
            <a:lvl5pPr algn="l">
              <a:defRPr sz="1200" b="1">
                <a:solidFill>
                  <a:srgbClr val="1677A8"/>
                </a:solidFill>
              </a:defRPr>
            </a:lvl5pPr>
            <a:lvl6pPr algn="l">
              <a:defRPr sz="1200" b="1">
                <a:solidFill>
                  <a:srgbClr val="1677A8"/>
                </a:solidFill>
              </a:defRPr>
            </a:lvl6pPr>
            <a:lvl7pPr algn="l">
              <a:defRPr sz="1200" b="1">
                <a:solidFill>
                  <a:srgbClr val="1677A8"/>
                </a:solidFill>
              </a:defRPr>
            </a:lvl7pPr>
            <a:lvl8pPr algn="l">
              <a:defRPr sz="1200" b="1">
                <a:solidFill>
                  <a:srgbClr val="1677A8"/>
                </a:solidFill>
              </a:defRPr>
            </a:lvl8pPr>
            <a:lvl9pPr algn="l">
              <a:defRPr sz="120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677A8"/>
                </a:solidFill>
              </a:defRPr>
            </a:pPr>
            <a:r>
              <a:rPr sz="1200" b="1">
                <a:solidFill>
                  <a:srgbClr val="1677A8"/>
                </a:solidFill>
              </a:rPr>
              <a:t>Model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302B97-E3A6-4C5B-8471-C621FA4C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33575"/>
            <a:ext cx="4619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75" b="0">
                <a:solidFill>
                  <a:srgbClr val="15263A"/>
                </a:solidFill>
              </a:defRPr>
            </a:defPPr>
            <a:lvl1pPr algn="l">
              <a:defRPr sz="1575" b="0">
                <a:solidFill>
                  <a:srgbClr val="15263A"/>
                </a:solidFill>
              </a:defRPr>
            </a:lvl1pPr>
            <a:lvl2pPr algn="l">
              <a:defRPr sz="1575" b="0">
                <a:solidFill>
                  <a:srgbClr val="15263A"/>
                </a:solidFill>
              </a:defRPr>
            </a:lvl2pPr>
            <a:lvl3pPr algn="l">
              <a:defRPr sz="1575" b="0">
                <a:solidFill>
                  <a:srgbClr val="15263A"/>
                </a:solidFill>
              </a:defRPr>
            </a:lvl3pPr>
            <a:lvl4pPr algn="l">
              <a:defRPr sz="1575" b="0">
                <a:solidFill>
                  <a:srgbClr val="15263A"/>
                </a:solidFill>
              </a:defRPr>
            </a:lvl4pPr>
            <a:lvl5pPr algn="l">
              <a:defRPr sz="1575" b="0">
                <a:solidFill>
                  <a:srgbClr val="15263A"/>
                </a:solidFill>
              </a:defRPr>
            </a:lvl5pPr>
            <a:lvl6pPr algn="l">
              <a:defRPr sz="1575" b="0">
                <a:solidFill>
                  <a:srgbClr val="15263A"/>
                </a:solidFill>
              </a:defRPr>
            </a:lvl6pPr>
            <a:lvl7pPr algn="l">
              <a:defRPr sz="1575" b="0">
                <a:solidFill>
                  <a:srgbClr val="15263A"/>
                </a:solidFill>
              </a:defRPr>
            </a:lvl7pPr>
            <a:lvl8pPr algn="l">
              <a:defRPr sz="1575" b="0">
                <a:solidFill>
                  <a:srgbClr val="15263A"/>
                </a:solidFill>
              </a:defRPr>
            </a:lvl8pPr>
            <a:lvl9pPr algn="l">
              <a:defRPr sz="1575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15263A"/>
                </a:solidFill>
              </a:defRPr>
            </a:pPr>
            <a:r>
              <a:rPr sz="1575" b="0">
                <a:solidFill>
                  <a:srgbClr val="15263A"/>
                </a:solidFill>
              </a:rPr>
              <a:t>A tuned decision tree led the four-model comparison on five-fold CV accuracy and the 18-row holdout.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C2E83-121B-4CB6-80D6-95DE5BEF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CDAA1-A4B3-4286-9B34-BD9CA0DD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2714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36B3F"/>
                </a:solidFill>
              </a:defRPr>
            </a:defPPr>
            <a:lvl1pPr algn="l">
              <a:defRPr sz="1200" b="1">
                <a:solidFill>
                  <a:srgbClr val="F36B3F"/>
                </a:solidFill>
              </a:defRPr>
            </a:lvl1pPr>
            <a:lvl2pPr algn="l">
              <a:defRPr sz="1200" b="1">
                <a:solidFill>
                  <a:srgbClr val="F36B3F"/>
                </a:solidFill>
              </a:defRPr>
            </a:lvl2pPr>
            <a:lvl3pPr algn="l">
              <a:defRPr sz="1200" b="1">
                <a:solidFill>
                  <a:srgbClr val="F36B3F"/>
                </a:solidFill>
              </a:defRPr>
            </a:lvl3pPr>
            <a:lvl4pPr algn="l">
              <a:defRPr sz="1200" b="1">
                <a:solidFill>
                  <a:srgbClr val="F36B3F"/>
                </a:solidFill>
              </a:defRPr>
            </a:lvl4pPr>
            <a:lvl5pPr algn="l">
              <a:defRPr sz="1200" b="1">
                <a:solidFill>
                  <a:srgbClr val="F36B3F"/>
                </a:solidFill>
              </a:defRPr>
            </a:lvl5pPr>
            <a:lvl6pPr algn="l">
              <a:defRPr sz="1200" b="1">
                <a:solidFill>
                  <a:srgbClr val="F36B3F"/>
                </a:solidFill>
              </a:defRPr>
            </a:lvl6pPr>
            <a:lvl7pPr algn="l">
              <a:defRPr sz="1200" b="1">
                <a:solidFill>
                  <a:srgbClr val="F36B3F"/>
                </a:solidFill>
              </a:defRPr>
            </a:lvl7pPr>
            <a:lvl8pPr algn="l">
              <a:defRPr sz="1200" b="1">
                <a:solidFill>
                  <a:srgbClr val="F36B3F"/>
                </a:solidFill>
              </a:defRPr>
            </a:lvl8pPr>
            <a:lvl9pPr algn="l">
              <a:defRPr sz="1200" b="1">
                <a:solidFill>
                  <a:srgbClr val="F36B3F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F36B3F"/>
                </a:solidFill>
              </a:defRPr>
            </a:pPr>
            <a:r>
              <a:rPr sz="1200" b="1">
                <a:solidFill>
                  <a:srgbClr val="F36B3F"/>
                </a:solidFill>
              </a:rPr>
              <a:t>Innovative insight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4A30D-1FAD-4826-BBD6-F4C8DBCF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103346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>
                <a:solidFill>
                  <a:srgbClr val="15263A"/>
                </a:solidFill>
              </a:defRPr>
            </a:defPPr>
            <a:lvl1pPr algn="l">
              <a:defRPr sz="1725" b="1">
                <a:solidFill>
                  <a:srgbClr val="15263A"/>
                </a:solidFill>
              </a:defRPr>
            </a:lvl1pPr>
            <a:lvl2pPr algn="l">
              <a:defRPr sz="1725" b="1">
                <a:solidFill>
                  <a:srgbClr val="15263A"/>
                </a:solidFill>
              </a:defRPr>
            </a:lvl2pPr>
            <a:lvl3pPr algn="l">
              <a:defRPr sz="1725" b="1">
                <a:solidFill>
                  <a:srgbClr val="15263A"/>
                </a:solidFill>
              </a:defRPr>
            </a:lvl3pPr>
            <a:lvl4pPr algn="l">
              <a:defRPr sz="1725" b="1">
                <a:solidFill>
                  <a:srgbClr val="15263A"/>
                </a:solidFill>
              </a:defRPr>
            </a:lvl4pPr>
            <a:lvl5pPr algn="l">
              <a:defRPr sz="1725" b="1">
                <a:solidFill>
                  <a:srgbClr val="15263A"/>
                </a:solidFill>
              </a:defRPr>
            </a:lvl5pPr>
            <a:lvl6pPr algn="l">
              <a:defRPr sz="1725" b="1">
                <a:solidFill>
                  <a:srgbClr val="15263A"/>
                </a:solidFill>
              </a:defRPr>
            </a:lvl6pPr>
            <a:lvl7pPr algn="l">
              <a:defRPr sz="1725" b="1">
                <a:solidFill>
                  <a:srgbClr val="15263A"/>
                </a:solidFill>
              </a:defRPr>
            </a:lvl7pPr>
            <a:lvl8pPr algn="l">
              <a:defRPr sz="1725" b="1">
                <a:solidFill>
                  <a:srgbClr val="15263A"/>
                </a:solidFill>
              </a:defRPr>
            </a:lvl8pPr>
            <a:lvl9pPr algn="l">
              <a:defRPr sz="17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15263A"/>
                </a:solidFill>
              </a:defRPr>
            </a:pPr>
            <a:r>
              <a:rPr sz="1725" b="1">
                <a:solidFill>
                  <a:srgbClr val="15263A"/>
                </a:solidFill>
              </a:rPr>
              <a:t>The apparent payload pattern reverses a simple “lighter is easier” story: average payload was higher among successes, while success still varied by orbit and launch site. Mission context and vehicle maturity deserve joint analysis.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F906CB-4351-4220-BEC0-97B608A3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287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86A7B"/>
                </a:solidFill>
              </a:defRPr>
            </a:defPPr>
            <a:lvl1pPr algn="l">
              <a:defRPr sz="1275" b="0">
                <a:solidFill>
                  <a:srgbClr val="586A7B"/>
                </a:solidFill>
              </a:defRPr>
            </a:lvl1pPr>
            <a:lvl2pPr algn="l">
              <a:defRPr sz="1275" b="0">
                <a:solidFill>
                  <a:srgbClr val="586A7B"/>
                </a:solidFill>
              </a:defRPr>
            </a:lvl2pPr>
            <a:lvl3pPr algn="l">
              <a:defRPr sz="1275" b="0">
                <a:solidFill>
                  <a:srgbClr val="586A7B"/>
                </a:solidFill>
              </a:defRPr>
            </a:lvl3pPr>
            <a:lvl4pPr algn="l">
              <a:defRPr sz="1275" b="0">
                <a:solidFill>
                  <a:srgbClr val="586A7B"/>
                </a:solidFill>
              </a:defRPr>
            </a:lvl4pPr>
            <a:lvl5pPr algn="l">
              <a:defRPr sz="1275" b="0">
                <a:solidFill>
                  <a:srgbClr val="586A7B"/>
                </a:solidFill>
              </a:defRPr>
            </a:lvl5pPr>
            <a:lvl6pPr algn="l">
              <a:defRPr sz="1275" b="0">
                <a:solidFill>
                  <a:srgbClr val="586A7B"/>
                </a:solidFill>
              </a:defRPr>
            </a:lvl6pPr>
            <a:lvl7pPr algn="l">
              <a:defRPr sz="1275" b="0">
                <a:solidFill>
                  <a:srgbClr val="586A7B"/>
                </a:solidFill>
              </a:defRPr>
            </a:lvl7pPr>
            <a:lvl8pPr algn="l">
              <a:defRPr sz="1275" b="0">
                <a:solidFill>
                  <a:srgbClr val="586A7B"/>
                </a:solidFill>
              </a:defRPr>
            </a:lvl8pPr>
            <a:lvl9pPr algn="l">
              <a:defRPr sz="1275" b="0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6A7B"/>
                </a:solidFill>
              </a:defRPr>
            </a:pPr>
            <a:r>
              <a:rPr sz="1275" b="0">
                <a:solidFill>
                  <a:srgbClr val="586A7B"/>
                </a:solidFill>
              </a:rPr>
              <a:t>Next analysis: validate on a larger, time-aware sample and measure uncertainty within site-orbit groups.</a:t>
            </a:r>
          </a:p>
        </p:txBody>
      </p:sp>
    </p:spTree>
    <p:extLst>
      <p:ext uri="{BB962C8B-B14F-4D97-AF65-F5344CB8AC3E}">
        <p14:creationId xmlns:p14="http://schemas.microsoft.com/office/powerpoint/2010/main" val="207941740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E44BA-504E-4552-B20A-D185020D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0D591-AFD4-4D0C-87AB-E31F7C57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1677A8"/>
                </a:solidFill>
              </a:defRPr>
            </a:defPPr>
            <a:lvl1pPr algn="l">
              <a:defRPr sz="975" b="1">
                <a:solidFill>
                  <a:srgbClr val="1677A8"/>
                </a:solidFill>
              </a:defRPr>
            </a:lvl1pPr>
            <a:lvl2pPr algn="l">
              <a:defRPr sz="975" b="1">
                <a:solidFill>
                  <a:srgbClr val="1677A8"/>
                </a:solidFill>
              </a:defRPr>
            </a:lvl2pPr>
            <a:lvl3pPr algn="l">
              <a:defRPr sz="975" b="1">
                <a:solidFill>
                  <a:srgbClr val="1677A8"/>
                </a:solidFill>
              </a:defRPr>
            </a:lvl3pPr>
            <a:lvl4pPr algn="l">
              <a:defRPr sz="975" b="1">
                <a:solidFill>
                  <a:srgbClr val="1677A8"/>
                </a:solidFill>
              </a:defRPr>
            </a:lvl4pPr>
            <a:lvl5pPr algn="l">
              <a:defRPr sz="975" b="1">
                <a:solidFill>
                  <a:srgbClr val="1677A8"/>
                </a:solidFill>
              </a:defRPr>
            </a:lvl5pPr>
            <a:lvl6pPr algn="l">
              <a:defRPr sz="975" b="1">
                <a:solidFill>
                  <a:srgbClr val="1677A8"/>
                </a:solidFill>
              </a:defRPr>
            </a:lvl6pPr>
            <a:lvl7pPr algn="l">
              <a:defRPr sz="975" b="1">
                <a:solidFill>
                  <a:srgbClr val="1677A8"/>
                </a:solidFill>
              </a:defRPr>
            </a:lvl7pPr>
            <a:lvl8pPr algn="l">
              <a:defRPr sz="975" b="1">
                <a:solidFill>
                  <a:srgbClr val="1677A8"/>
                </a:solidFill>
              </a:defRPr>
            </a:lvl8pPr>
            <a:lvl9pPr algn="l">
              <a:defRPr sz="9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677A8"/>
                </a:solidFill>
              </a:defRPr>
            </a:pPr>
            <a:r>
              <a:rPr sz="975" b="1">
                <a:solidFill>
                  <a:srgbClr val="1677A8"/>
                </a:solidFill>
              </a:rPr>
              <a:t>PROJECT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52106-0B17-4F1B-80F8-7DE545DD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934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325" b="1">
                <a:solidFill>
                  <a:srgbClr val="15263A"/>
                </a:solidFill>
              </a:defRPr>
            </a:defPPr>
            <a:lvl1pPr algn="l">
              <a:defRPr sz="2325" b="1">
                <a:solidFill>
                  <a:srgbClr val="15263A"/>
                </a:solidFill>
              </a:defRPr>
            </a:lvl1pPr>
            <a:lvl2pPr algn="l">
              <a:defRPr sz="2325" b="1">
                <a:solidFill>
                  <a:srgbClr val="15263A"/>
                </a:solidFill>
              </a:defRPr>
            </a:lvl2pPr>
            <a:lvl3pPr algn="l">
              <a:defRPr sz="2325" b="1">
                <a:solidFill>
                  <a:srgbClr val="15263A"/>
                </a:solidFill>
              </a:defRPr>
            </a:lvl3pPr>
            <a:lvl4pPr algn="l">
              <a:defRPr sz="2325" b="1">
                <a:solidFill>
                  <a:srgbClr val="15263A"/>
                </a:solidFill>
              </a:defRPr>
            </a:lvl4pPr>
            <a:lvl5pPr algn="l">
              <a:defRPr sz="2325" b="1">
                <a:solidFill>
                  <a:srgbClr val="15263A"/>
                </a:solidFill>
              </a:defRPr>
            </a:lvl5pPr>
            <a:lvl6pPr algn="l">
              <a:defRPr sz="2325" b="1">
                <a:solidFill>
                  <a:srgbClr val="15263A"/>
                </a:solidFill>
              </a:defRPr>
            </a:lvl6pPr>
            <a:lvl7pPr algn="l">
              <a:defRPr sz="2325" b="1">
                <a:solidFill>
                  <a:srgbClr val="15263A"/>
                </a:solidFill>
              </a:defRPr>
            </a:lvl7pPr>
            <a:lvl8pPr algn="l">
              <a:defRPr sz="2325" b="1">
                <a:solidFill>
                  <a:srgbClr val="15263A"/>
                </a:solidFill>
              </a:defRPr>
            </a:lvl8pPr>
            <a:lvl9pPr algn="l">
              <a:defRPr sz="2325" b="1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15263A"/>
                </a:solidFill>
              </a:defRPr>
            </a:pPr>
            <a:r>
              <a:rPr sz="2325" b="1">
                <a:solidFill>
                  <a:srgbClr val="15263A"/>
                </a:solidFill>
              </a:rPr>
              <a:t>Reproducibility and submission files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BEF98-B205-43FB-B578-60C3D24E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6A609A-914B-4006-8B30-4361192C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750" b="1">
                <a:solidFill>
                  <a:srgbClr val="1677A8"/>
                </a:solidFill>
              </a:defRPr>
            </a:defPPr>
            <a:lvl1pPr algn="l">
              <a:defRPr sz="750" b="1">
                <a:solidFill>
                  <a:srgbClr val="1677A8"/>
                </a:solidFill>
              </a:defRPr>
            </a:lvl1pPr>
            <a:lvl2pPr algn="l">
              <a:defRPr sz="750" b="1">
                <a:solidFill>
                  <a:srgbClr val="1677A8"/>
                </a:solidFill>
              </a:defRPr>
            </a:lvl2pPr>
            <a:lvl3pPr algn="l">
              <a:defRPr sz="750" b="1">
                <a:solidFill>
                  <a:srgbClr val="1677A8"/>
                </a:solidFill>
              </a:defRPr>
            </a:lvl3pPr>
            <a:lvl4pPr algn="l">
              <a:defRPr sz="750" b="1">
                <a:solidFill>
                  <a:srgbClr val="1677A8"/>
                </a:solidFill>
              </a:defRPr>
            </a:lvl4pPr>
            <a:lvl5pPr algn="l">
              <a:defRPr sz="750" b="1">
                <a:solidFill>
                  <a:srgbClr val="1677A8"/>
                </a:solidFill>
              </a:defRPr>
            </a:lvl5pPr>
            <a:lvl6pPr algn="l">
              <a:defRPr sz="750" b="1">
                <a:solidFill>
                  <a:srgbClr val="1677A8"/>
                </a:solidFill>
              </a:defRPr>
            </a:lvl6pPr>
            <a:lvl7pPr algn="l">
              <a:defRPr sz="750" b="1">
                <a:solidFill>
                  <a:srgbClr val="1677A8"/>
                </a:solidFill>
              </a:defRPr>
            </a:lvl7pPr>
            <a:lvl8pPr algn="l">
              <a:defRPr sz="750" b="1">
                <a:solidFill>
                  <a:srgbClr val="1677A8"/>
                </a:solidFill>
              </a:defRPr>
            </a:lvl8pPr>
            <a:lvl9pPr algn="l">
              <a:defRPr sz="75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1677A8"/>
                </a:solidFill>
              </a:defRPr>
            </a:pPr>
            <a:r>
              <a:rPr sz="750" b="1">
                <a:solidFill>
                  <a:srgbClr val="1677A8"/>
                </a:solidFill>
              </a:rPr>
              <a:t>GitHub: github.com/joaoltrevisan/spacex-falcon9-capstone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E08D8F-EE91-4234-B947-4B4C5B06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4842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00" b="1">
                <a:solidFill>
                  <a:srgbClr val="586A7B"/>
                </a:solidFill>
              </a:defRPr>
            </a:defPPr>
            <a:lvl1pPr algn="r">
              <a:defRPr sz="900" b="1">
                <a:solidFill>
                  <a:srgbClr val="586A7B"/>
                </a:solidFill>
              </a:defRPr>
            </a:lvl1pPr>
            <a:lvl2pPr algn="r">
              <a:defRPr sz="900" b="1">
                <a:solidFill>
                  <a:srgbClr val="586A7B"/>
                </a:solidFill>
              </a:defRPr>
            </a:lvl2pPr>
            <a:lvl3pPr algn="r">
              <a:defRPr sz="900" b="1">
                <a:solidFill>
                  <a:srgbClr val="586A7B"/>
                </a:solidFill>
              </a:defRPr>
            </a:lvl3pPr>
            <a:lvl4pPr algn="r">
              <a:defRPr sz="900" b="1">
                <a:solidFill>
                  <a:srgbClr val="586A7B"/>
                </a:solidFill>
              </a:defRPr>
            </a:lvl4pPr>
            <a:lvl5pPr algn="r">
              <a:defRPr sz="900" b="1">
                <a:solidFill>
                  <a:srgbClr val="586A7B"/>
                </a:solidFill>
              </a:defRPr>
            </a:lvl5pPr>
            <a:lvl6pPr algn="r">
              <a:defRPr sz="900" b="1">
                <a:solidFill>
                  <a:srgbClr val="586A7B"/>
                </a:solidFill>
              </a:defRPr>
            </a:lvl6pPr>
            <a:lvl7pPr algn="r">
              <a:defRPr sz="900" b="1">
                <a:solidFill>
                  <a:srgbClr val="586A7B"/>
                </a:solidFill>
              </a:defRPr>
            </a:lvl7pPr>
            <a:lvl8pPr algn="r">
              <a:defRPr sz="900" b="1">
                <a:solidFill>
                  <a:srgbClr val="586A7B"/>
                </a:solidFill>
              </a:defRPr>
            </a:lvl8pPr>
            <a:lvl9pPr algn="r">
              <a:defRPr sz="900" b="1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586A7B"/>
                </a:solidFill>
              </a:defRPr>
            </a:pPr>
            <a:r>
              <a:rPr sz="900" b="1">
                <a:solidFill>
                  <a:srgbClr val="586A7B"/>
                </a:solidFill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EE565-0D71-4E56-8921-55FC2CEE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62C9B-392C-4111-9B34-1EFF0E3A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90675"/>
            <a:ext cx="10125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Seven notebooks document collection, wrangling, EDA, SQL, Folium, Dash, and modeling.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341193-1F34-4C7A-B183-231CBA9C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D8545-7DAB-4904-9E37-E05D94D0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52675"/>
            <a:ext cx="10125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Python scripts, SQL queries, source datasets, output tables, visualizations, and the interactive map are organized in the project folder.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DC6AE-F326-4A1D-82CD-9B0B2065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B5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9D9956-C4C3-4665-97DF-1633BAB9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14675"/>
            <a:ext cx="101250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0">
                <a:solidFill>
                  <a:srgbClr val="15263A"/>
                </a:solidFill>
              </a:defRPr>
            </a:defPPr>
            <a:lvl1pPr algn="l">
              <a:defRPr sz="1500" b="0">
                <a:solidFill>
                  <a:srgbClr val="15263A"/>
                </a:solidFill>
              </a:defRPr>
            </a:lvl1pPr>
            <a:lvl2pPr algn="l">
              <a:defRPr sz="1500" b="0">
                <a:solidFill>
                  <a:srgbClr val="15263A"/>
                </a:solidFill>
              </a:defRPr>
            </a:lvl2pPr>
            <a:lvl3pPr algn="l">
              <a:defRPr sz="1500" b="0">
                <a:solidFill>
                  <a:srgbClr val="15263A"/>
                </a:solidFill>
              </a:defRPr>
            </a:lvl3pPr>
            <a:lvl4pPr algn="l">
              <a:defRPr sz="1500" b="0">
                <a:solidFill>
                  <a:srgbClr val="15263A"/>
                </a:solidFill>
              </a:defRPr>
            </a:lvl4pPr>
            <a:lvl5pPr algn="l">
              <a:defRPr sz="1500" b="0">
                <a:solidFill>
                  <a:srgbClr val="15263A"/>
                </a:solidFill>
              </a:defRPr>
            </a:lvl5pPr>
            <a:lvl6pPr algn="l">
              <a:defRPr sz="1500" b="0">
                <a:solidFill>
                  <a:srgbClr val="15263A"/>
                </a:solidFill>
              </a:defRPr>
            </a:lvl6pPr>
            <a:lvl7pPr algn="l">
              <a:defRPr sz="1500" b="0">
                <a:solidFill>
                  <a:srgbClr val="15263A"/>
                </a:solidFill>
              </a:defRPr>
            </a:lvl7pPr>
            <a:lvl8pPr algn="l">
              <a:defRPr sz="1500" b="0">
                <a:solidFill>
                  <a:srgbClr val="15263A"/>
                </a:solidFill>
              </a:defRPr>
            </a:lvl8pPr>
            <a:lvl9pPr algn="l">
              <a:defRPr sz="150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15263A"/>
                </a:solidFill>
              </a:defRPr>
            </a:pPr>
            <a:r>
              <a:rPr sz="1500" b="0">
                <a:solidFill>
                  <a:srgbClr val="15263A"/>
                </a:solidFill>
              </a:rPr>
              <a:t>The presentation PDF is the file to upload to the Mark question.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E89F1-38B0-4988-B25B-355AECA4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1677A8"/>
                </a:solidFill>
              </a:defRPr>
            </a:defPPr>
            <a:lvl1pPr algn="l">
              <a:defRPr sz="1200" b="1">
                <a:solidFill>
                  <a:srgbClr val="1677A8"/>
                </a:solidFill>
              </a:defRPr>
            </a:lvl1pPr>
            <a:lvl2pPr algn="l">
              <a:defRPr sz="1200" b="1">
                <a:solidFill>
                  <a:srgbClr val="1677A8"/>
                </a:solidFill>
              </a:defRPr>
            </a:lvl2pPr>
            <a:lvl3pPr algn="l">
              <a:defRPr sz="1200" b="1">
                <a:solidFill>
                  <a:srgbClr val="1677A8"/>
                </a:solidFill>
              </a:defRPr>
            </a:lvl3pPr>
            <a:lvl4pPr algn="l">
              <a:defRPr sz="1200" b="1">
                <a:solidFill>
                  <a:srgbClr val="1677A8"/>
                </a:solidFill>
              </a:defRPr>
            </a:lvl4pPr>
            <a:lvl5pPr algn="l">
              <a:defRPr sz="1200" b="1">
                <a:solidFill>
                  <a:srgbClr val="1677A8"/>
                </a:solidFill>
              </a:defRPr>
            </a:lvl5pPr>
            <a:lvl6pPr algn="l">
              <a:defRPr sz="1200" b="1">
                <a:solidFill>
                  <a:srgbClr val="1677A8"/>
                </a:solidFill>
              </a:defRPr>
            </a:lvl6pPr>
            <a:lvl7pPr algn="l">
              <a:defRPr sz="1200" b="1">
                <a:solidFill>
                  <a:srgbClr val="1677A8"/>
                </a:solidFill>
              </a:defRPr>
            </a:lvl7pPr>
            <a:lvl8pPr algn="l">
              <a:defRPr sz="1200" b="1">
                <a:solidFill>
                  <a:srgbClr val="1677A8"/>
                </a:solidFill>
              </a:defRPr>
            </a:lvl8pPr>
            <a:lvl9pPr algn="l">
              <a:defRPr sz="1200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677A8"/>
                </a:solidFill>
              </a:defRPr>
            </a:pPr>
            <a:r>
              <a:rPr sz="1200" b="1">
                <a:solidFill>
                  <a:srgbClr val="1677A8"/>
                </a:solidFill>
              </a:rPr>
              <a:t>Repository URL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4DF18C-3DE2-47B0-8DC5-0E113E33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677A8"/>
                </a:solidFill>
              </a:defRPr>
            </a:defPPr>
            <a:lvl1pPr algn="l">
              <a:defRPr sz="1575" b="1">
                <a:solidFill>
                  <a:srgbClr val="1677A8"/>
                </a:solidFill>
              </a:defRPr>
            </a:lvl1pPr>
            <a:lvl2pPr algn="l">
              <a:defRPr sz="1575" b="1">
                <a:solidFill>
                  <a:srgbClr val="1677A8"/>
                </a:solidFill>
              </a:defRPr>
            </a:lvl2pPr>
            <a:lvl3pPr algn="l">
              <a:defRPr sz="1575" b="1">
                <a:solidFill>
                  <a:srgbClr val="1677A8"/>
                </a:solidFill>
              </a:defRPr>
            </a:lvl3pPr>
            <a:lvl4pPr algn="l">
              <a:defRPr sz="1575" b="1">
                <a:solidFill>
                  <a:srgbClr val="1677A8"/>
                </a:solidFill>
              </a:defRPr>
            </a:lvl4pPr>
            <a:lvl5pPr algn="l">
              <a:defRPr sz="1575" b="1">
                <a:solidFill>
                  <a:srgbClr val="1677A8"/>
                </a:solidFill>
              </a:defRPr>
            </a:lvl5pPr>
            <a:lvl6pPr algn="l">
              <a:defRPr sz="1575" b="1">
                <a:solidFill>
                  <a:srgbClr val="1677A8"/>
                </a:solidFill>
              </a:defRPr>
            </a:lvl6pPr>
            <a:lvl7pPr algn="l">
              <a:defRPr sz="1575" b="1">
                <a:solidFill>
                  <a:srgbClr val="1677A8"/>
                </a:solidFill>
              </a:defRPr>
            </a:lvl7pPr>
            <a:lvl8pPr algn="l">
              <a:defRPr sz="1575" b="1">
                <a:solidFill>
                  <a:srgbClr val="1677A8"/>
                </a:solidFill>
              </a:defRPr>
            </a:lvl8pPr>
            <a:lvl9pPr algn="l">
              <a:defRPr sz="1575" b="1">
                <a:solidFill>
                  <a:srgbClr val="1677A8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677A8"/>
                </a:solidFill>
              </a:defRPr>
            </a:pPr>
            <a:r>
              <a:rPr sz="1575" b="1">
                <a:solidFill>
                  <a:srgbClr val="1677A8"/>
                </a:solidFill>
              </a:rPr>
              <a:t>https://github.com/joaoltrevisan/spacex-falcon9-capstone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60F94B-87B8-49B9-892D-9C37BAD6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15263A"/>
                </a:solidFill>
              </a:defRPr>
            </a:defPPr>
            <a:lvl1pPr algn="l">
              <a:defRPr sz="1350" b="0">
                <a:solidFill>
                  <a:srgbClr val="15263A"/>
                </a:solidFill>
              </a:defRPr>
            </a:lvl1pPr>
            <a:lvl2pPr algn="l">
              <a:defRPr sz="1350" b="0">
                <a:solidFill>
                  <a:srgbClr val="15263A"/>
                </a:solidFill>
              </a:defRPr>
            </a:lvl2pPr>
            <a:lvl3pPr algn="l">
              <a:defRPr sz="1350" b="0">
                <a:solidFill>
                  <a:srgbClr val="15263A"/>
                </a:solidFill>
              </a:defRPr>
            </a:lvl3pPr>
            <a:lvl4pPr algn="l">
              <a:defRPr sz="1350" b="0">
                <a:solidFill>
                  <a:srgbClr val="15263A"/>
                </a:solidFill>
              </a:defRPr>
            </a:lvl4pPr>
            <a:lvl5pPr algn="l">
              <a:defRPr sz="1350" b="0">
                <a:solidFill>
                  <a:srgbClr val="15263A"/>
                </a:solidFill>
              </a:defRPr>
            </a:lvl5pPr>
            <a:lvl6pPr algn="l">
              <a:defRPr sz="1350" b="0">
                <a:solidFill>
                  <a:srgbClr val="15263A"/>
                </a:solidFill>
              </a:defRPr>
            </a:lvl6pPr>
            <a:lvl7pPr algn="l">
              <a:defRPr sz="1350" b="0">
                <a:solidFill>
                  <a:srgbClr val="15263A"/>
                </a:solidFill>
              </a:defRPr>
            </a:lvl7pPr>
            <a:lvl8pPr algn="l">
              <a:defRPr sz="1350" b="0">
                <a:solidFill>
                  <a:srgbClr val="15263A"/>
                </a:solidFill>
              </a:defRPr>
            </a:lvl8pPr>
            <a:lvl9pPr algn="l">
              <a:defRPr sz="1350" b="0">
                <a:solidFill>
                  <a:srgbClr val="15263A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15263A"/>
                </a:solidFill>
              </a:defRPr>
            </a:pPr>
            <a:r>
              <a:rPr sz="1350" b="0">
                <a:solidFill>
                  <a:srgbClr val="15263A"/>
                </a:solidFill>
              </a:rPr>
              <a:t>The repository contains the completed notebooks, source code, data, SQL outputs, and presentation.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027AC-5DFD-4696-8AD9-4E369A70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86A7B"/>
                </a:solidFill>
              </a:defRPr>
            </a:defPPr>
            <a:lvl1pPr algn="l">
              <a:defRPr sz="1125" b="0">
                <a:solidFill>
                  <a:srgbClr val="586A7B"/>
                </a:solidFill>
              </a:defRPr>
            </a:lvl1pPr>
            <a:lvl2pPr algn="l">
              <a:defRPr sz="1125" b="0">
                <a:solidFill>
                  <a:srgbClr val="586A7B"/>
                </a:solidFill>
              </a:defRPr>
            </a:lvl2pPr>
            <a:lvl3pPr algn="l">
              <a:defRPr sz="1125" b="0">
                <a:solidFill>
                  <a:srgbClr val="586A7B"/>
                </a:solidFill>
              </a:defRPr>
            </a:lvl3pPr>
            <a:lvl4pPr algn="l">
              <a:defRPr sz="1125" b="0">
                <a:solidFill>
                  <a:srgbClr val="586A7B"/>
                </a:solidFill>
              </a:defRPr>
            </a:lvl4pPr>
            <a:lvl5pPr algn="l">
              <a:defRPr sz="1125" b="0">
                <a:solidFill>
                  <a:srgbClr val="586A7B"/>
                </a:solidFill>
              </a:defRPr>
            </a:lvl5pPr>
            <a:lvl6pPr algn="l">
              <a:defRPr sz="1125" b="0">
                <a:solidFill>
                  <a:srgbClr val="586A7B"/>
                </a:solidFill>
              </a:defRPr>
            </a:lvl6pPr>
            <a:lvl7pPr algn="l">
              <a:defRPr sz="1125" b="0">
                <a:solidFill>
                  <a:srgbClr val="586A7B"/>
                </a:solidFill>
              </a:defRPr>
            </a:lvl7pPr>
            <a:lvl8pPr algn="l">
              <a:defRPr sz="1125" b="0">
                <a:solidFill>
                  <a:srgbClr val="586A7B"/>
                </a:solidFill>
              </a:defRPr>
            </a:lvl8pPr>
            <a:lvl9pPr algn="l">
              <a:defRPr sz="1125" b="0">
                <a:solidFill>
                  <a:srgbClr val="586A7B"/>
                </a:solidFill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86A7B"/>
                </a:solidFill>
              </a:defRPr>
            </a:pPr>
            <a:r>
              <a:rPr sz="1125" b="0">
                <a:solidFill>
                  <a:srgbClr val="586A7B"/>
                </a:solidFill>
              </a:rPr>
              <a:t>Sources: IBM Skills Network course datasets; SpaceX API archive; Wikipedia revision 987426997 (2020-11-06).</a:t>
            </a:r>
          </a:p>
        </p:txBody>
      </p:sp>
    </p:spTree>
    <p:extLst>
      <p:ext uri="{BB962C8B-B14F-4D97-AF65-F5344CB8AC3E}">
        <p14:creationId xmlns:p14="http://schemas.microsoft.com/office/powerpoint/2010/main" val="19977268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2026-10-23T00:31:12.0180000Z</dcterms:created>
  <dcterms:modified xsi:type="dcterms:W3CDTF">2026-10-23T00:31:12.0180000Z</dcterms:modified>
</coreProperties>
</file>